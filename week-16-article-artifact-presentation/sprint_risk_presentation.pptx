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ROC-AUC</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Late closure RF</c:v>
                  </c:pt>
                  <c:pt idx="1">
                    <c:v>Full spillover XGB</c:v>
                  </c:pt>
                  <c:pt idx="2">
                    <c:v>Nonempty spillover XGB</c:v>
                  </c:pt>
                </c:lvl>
              </c:multiLvlStrCache>
            </c:multiLvlStrRef>
          </c:cat>
          <c:val>
            <c:numRef>
              <c:f>Sheet1!$B$2:$B$4</c:f>
              <c:numCache>
                <c:formatCode>General</c:formatCode>
                <c:ptCount val="3"/>
                <c:pt idx="0">
                  <c:v>0.705</c:v>
                </c:pt>
                <c:pt idx="1">
                  <c:v>0.988</c:v>
                </c:pt>
                <c:pt idx="2">
                  <c:v>0.862</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ROC-AUC</c:v>
                </c:pt>
              </c:strCache>
            </c:strRef>
          </c:tx>
          <c:spPr>
            <a:solidFill>
              <a:srgbClr val="C050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Always positive</c:v>
                  </c:pt>
                  <c:pt idx="1">
                    <c:v>Scope-only LR</c:v>
                  </c:pt>
                  <c:pt idx="2">
                    <c:v>Random Forest</c:v>
                  </c:pt>
                </c:lvl>
              </c:multiLvlStrCache>
            </c:multiLvlStrRef>
          </c:cat>
          <c:val>
            <c:numRef>
              <c:f>Sheet1!$B$2:$B$4</c:f>
              <c:numCache>
                <c:formatCode>General</c:formatCode>
                <c:ptCount val="3"/>
                <c:pt idx="0">
                  <c:v>0.5</c:v>
                </c:pt>
                <c:pt idx="1">
                  <c:v>0.885</c:v>
                </c:pt>
                <c:pt idx="2">
                  <c:v>0.852</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1325880"/>
            <a:ext cx="10424160" cy="594360"/>
          </a:xfrm>
          <a:prstGeom prst="rect">
            <a:avLst/>
          </a:prstGeom>
          <a:noFill/>
          <a:ln/>
        </p:spPr>
        <p:txBody>
          <a:bodyPr wrap="square" lIns="0" tIns="0" rIns="0" bIns="0" rtlCol="0" anchor="ctr"/>
          <a:lstStyle/>
          <a:p>
            <a:pPr algn="ctr" indent="0" marL="0">
              <a:buNone/>
            </a:pPr>
            <a:r>
              <a:rPr lang="en-US" sz="3200" b="1" dirty="0">
                <a:solidFill>
                  <a:srgbClr val="6B1230"/>
                </a:solidFill>
              </a:rPr>
              <a:t>Late Sprint Closure and Unfinished Scope in Scrum</a:t>
            </a:r>
            <a:endParaRPr lang="en-US" sz="3200" dirty="0"/>
          </a:p>
        </p:txBody>
      </p:sp>
      <p:sp>
        <p:nvSpPr>
          <p:cNvPr id="3" name="Text 1"/>
          <p:cNvSpPr/>
          <p:nvPr/>
        </p:nvSpPr>
        <p:spPr>
          <a:xfrm>
            <a:off x="1188720" y="2057400"/>
            <a:ext cx="9692640" cy="320040"/>
          </a:xfrm>
          <a:prstGeom prst="rect">
            <a:avLst/>
          </a:prstGeom>
          <a:noFill/>
          <a:ln/>
        </p:spPr>
        <p:txBody>
          <a:bodyPr wrap="square" lIns="0" tIns="0" rIns="0" bIns="0" rtlCol="0" anchor="ctr"/>
          <a:lstStyle/>
          <a:p>
            <a:pPr algn="ctr" indent="0" marL="0">
              <a:buNone/>
            </a:pPr>
            <a:r>
              <a:rPr lang="en-US" sz="1500" dirty="0">
                <a:solidFill>
                  <a:srgbClr val="1F2933"/>
                </a:solidFill>
              </a:rPr>
              <a:t>Evidence from reconstructed Jira histories</a:t>
            </a:r>
            <a:endParaRPr lang="en-US" sz="1500" dirty="0"/>
          </a:p>
        </p:txBody>
      </p:sp>
      <p:sp>
        <p:nvSpPr>
          <p:cNvPr id="4" name="Text 2"/>
          <p:cNvSpPr/>
          <p:nvPr/>
        </p:nvSpPr>
        <p:spPr>
          <a:xfrm>
            <a:off x="2834640" y="2743200"/>
            <a:ext cx="6492240" cy="320040"/>
          </a:xfrm>
          <a:prstGeom prst="rect">
            <a:avLst/>
          </a:prstGeom>
          <a:noFill/>
          <a:ln/>
        </p:spPr>
        <p:txBody>
          <a:bodyPr wrap="square" lIns="0" tIns="0" rIns="0" bIns="0" rtlCol="0" anchor="ctr"/>
          <a:lstStyle/>
          <a:p>
            <a:pPr algn="ctr" indent="0" marL="0">
              <a:buNone/>
            </a:pPr>
            <a:r>
              <a:rPr lang="en-US" sz="1300" dirty="0">
                <a:solidFill>
                  <a:srgbClr val="555555"/>
                </a:solidFill>
              </a:rPr>
              <a:t>Eight TAWOS projects | 2,602 modeled sprints</a:t>
            </a:r>
            <a:endParaRPr lang="en-US" sz="1300" dirty="0"/>
          </a:p>
        </p:txBody>
      </p:sp>
      <p:sp>
        <p:nvSpPr>
          <p:cNvPr id="5" name="Shape 3"/>
          <p:cNvSpPr/>
          <p:nvPr/>
        </p:nvSpPr>
        <p:spPr>
          <a:xfrm>
            <a:off x="3108960" y="3246120"/>
            <a:ext cx="5943600" cy="0"/>
          </a:xfrm>
          <a:prstGeom prst="line">
            <a:avLst/>
          </a:prstGeom>
          <a:noFill/>
          <a:ln w="25400">
            <a:solidFill>
              <a:srgbClr val="B08A00"/>
            </a:solidFill>
            <a:prstDash val="solid"/>
          </a:ln>
        </p:spPr>
        <p:txBody>
          <a:bodyPr/>
          <a:p/>
        </p:txBody>
      </p:sp>
      <p:sp>
        <p:nvSpPr>
          <p:cNvPr id="6" name="Text 4"/>
          <p:cNvSpPr/>
          <p:nvPr/>
        </p:nvSpPr>
        <p:spPr>
          <a:xfrm>
            <a:off x="2286000" y="3840480"/>
            <a:ext cx="7589520" cy="320040"/>
          </a:xfrm>
          <a:prstGeom prst="rect">
            <a:avLst/>
          </a:prstGeom>
          <a:noFill/>
          <a:ln/>
        </p:spPr>
        <p:txBody>
          <a:bodyPr wrap="square" lIns="0" tIns="0" rIns="0" bIns="0" rtlCol="0" anchor="ctr"/>
          <a:lstStyle/>
          <a:p>
            <a:pPr algn="ctr" indent="0" marL="0">
              <a:buNone/>
            </a:pPr>
            <a:r>
              <a:rPr lang="en-US" sz="1300" dirty="0">
                <a:solidFill>
                  <a:srgbClr val="1E2A36"/>
                </a:solidFill>
              </a:rPr>
              <a:t>Hani AbuSharkh | Maryam Hanif | Rafat Damseh</a:t>
            </a:r>
            <a:endParaRPr lang="en-US" sz="1300" dirty="0"/>
          </a:p>
        </p:txBody>
      </p:sp>
      <p:sp>
        <p:nvSpPr>
          <p:cNvPr id="7" name="Text 5"/>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8" name="Text 6"/>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The problem</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Risk is easiest to influence before the sprint is already in trouble.</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sp>
        <p:nvSpPr>
          <p:cNvPr id="5" name="Shape 3"/>
          <p:cNvSpPr/>
          <p:nvPr/>
        </p:nvSpPr>
        <p:spPr>
          <a:xfrm>
            <a:off x="685800" y="1417320"/>
            <a:ext cx="3383280" cy="3474720"/>
          </a:xfrm>
          <a:prstGeom prst="roundRect">
            <a:avLst>
              <a:gd name="adj" fmla="val 1622"/>
            </a:avLst>
          </a:prstGeom>
          <a:solidFill>
            <a:srgbClr val="F7F1E7"/>
          </a:solidFill>
          <a:ln w="10160">
            <a:solidFill>
              <a:srgbClr val="D9DEE5"/>
            </a:solidFill>
            <a:prstDash val="solid"/>
          </a:ln>
        </p:spPr>
        <p:txBody>
          <a:bodyPr/>
          <a:p/>
        </p:txBody>
      </p:sp>
      <p:sp>
        <p:nvSpPr>
          <p:cNvPr id="6" name="Text 4"/>
          <p:cNvSpPr/>
          <p:nvPr/>
        </p:nvSpPr>
        <p:spPr>
          <a:xfrm>
            <a:off x="822960" y="153619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Scrum reality</a:t>
            </a:r>
            <a:endParaRPr lang="en-US" sz="1200" dirty="0"/>
          </a:p>
        </p:txBody>
      </p:sp>
      <p:sp>
        <p:nvSpPr>
          <p:cNvPr id="7" name="Text 5"/>
          <p:cNvSpPr/>
          <p:nvPr/>
        </p:nvSpPr>
        <p:spPr>
          <a:xfrm>
            <a:off x="822960" y="1856232"/>
            <a:ext cx="3108960" cy="29443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Teams usually notice risk through burndown charts, blockers, and Daily Scrum discussions after work has started.</a:t>
            </a:r>
            <a:endParaRPr lang="en-US" sz="1000" dirty="0"/>
          </a:p>
        </p:txBody>
      </p:sp>
      <p:sp>
        <p:nvSpPr>
          <p:cNvPr id="8" name="Shape 6"/>
          <p:cNvSpPr/>
          <p:nvPr/>
        </p:nvSpPr>
        <p:spPr>
          <a:xfrm>
            <a:off x="4389120" y="1417320"/>
            <a:ext cx="3383280" cy="3474720"/>
          </a:xfrm>
          <a:prstGeom prst="roundRect">
            <a:avLst>
              <a:gd name="adj" fmla="val 1622"/>
            </a:avLst>
          </a:prstGeom>
          <a:solidFill>
            <a:srgbClr val="F4F5F7"/>
          </a:solidFill>
          <a:ln w="10160">
            <a:solidFill>
              <a:srgbClr val="D9DEE5"/>
            </a:solidFill>
            <a:prstDash val="solid"/>
          </a:ln>
        </p:spPr>
        <p:txBody>
          <a:bodyPr/>
          <a:p/>
        </p:txBody>
      </p:sp>
      <p:sp>
        <p:nvSpPr>
          <p:cNvPr id="9" name="Text 7"/>
          <p:cNvSpPr/>
          <p:nvPr/>
        </p:nvSpPr>
        <p:spPr>
          <a:xfrm>
            <a:off x="4526280" y="153619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Research question</a:t>
            </a:r>
            <a:endParaRPr lang="en-US" sz="1200" dirty="0"/>
          </a:p>
        </p:txBody>
      </p:sp>
      <p:sp>
        <p:nvSpPr>
          <p:cNvPr id="10" name="Text 8"/>
          <p:cNvSpPr/>
          <p:nvPr/>
        </p:nvSpPr>
        <p:spPr>
          <a:xfrm>
            <a:off x="4526280" y="1856232"/>
            <a:ext cx="3108960" cy="29443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Can reconstructed sprint-start Jira data rank these two outcomes before execution begins?</a:t>
            </a:r>
            <a:endParaRPr lang="en-US" sz="1000" dirty="0"/>
          </a:p>
        </p:txBody>
      </p:sp>
      <p:sp>
        <p:nvSpPr>
          <p:cNvPr id="11" name="Shape 9"/>
          <p:cNvSpPr/>
          <p:nvPr/>
        </p:nvSpPr>
        <p:spPr>
          <a:xfrm>
            <a:off x="8092440" y="1417320"/>
            <a:ext cx="3383280" cy="3474720"/>
          </a:xfrm>
          <a:prstGeom prst="roundRect">
            <a:avLst>
              <a:gd name="adj" fmla="val 1622"/>
            </a:avLst>
          </a:prstGeom>
          <a:solidFill>
            <a:srgbClr val="F7F1E7"/>
          </a:solidFill>
          <a:ln w="10160">
            <a:solidFill>
              <a:srgbClr val="D9DEE5"/>
            </a:solidFill>
            <a:prstDash val="solid"/>
          </a:ln>
        </p:spPr>
        <p:txBody>
          <a:bodyPr/>
          <a:p/>
        </p:txBody>
      </p:sp>
      <p:sp>
        <p:nvSpPr>
          <p:cNvPr id="12" name="Text 10"/>
          <p:cNvSpPr/>
          <p:nvPr/>
        </p:nvSpPr>
        <p:spPr>
          <a:xfrm>
            <a:off x="8229600" y="153619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Practical caution</a:t>
            </a:r>
            <a:endParaRPr lang="en-US" sz="1200" dirty="0"/>
          </a:p>
        </p:txBody>
      </p:sp>
      <p:sp>
        <p:nvSpPr>
          <p:cNvPr id="13" name="Text 11"/>
          <p:cNvSpPr/>
          <p:nvPr/>
        </p:nvSpPr>
        <p:spPr>
          <a:xfrm>
            <a:off x="8229600" y="1856232"/>
            <a:ext cx="3108960" cy="29443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The analysis is retrospective. Operational benefit would need a prospective evaluation with real teams.</a:t>
            </a:r>
            <a:endParaRPr lang="en-US" sz="1000" dirty="0"/>
          </a:p>
        </p:txBody>
      </p:sp>
      <p:sp>
        <p:nvSpPr>
          <p:cNvPr id="14" name="Text 12"/>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15" name="Text 13"/>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From repository history to a sprint-start snapshot</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Sprint and Story Points are rolled back to the state recorded at each sprint start.</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sp>
        <p:nvSpPr>
          <p:cNvPr id="5" name="Shape 3"/>
          <p:cNvSpPr/>
          <p:nvPr/>
        </p:nvSpPr>
        <p:spPr>
          <a:xfrm>
            <a:off x="548640" y="1554480"/>
            <a:ext cx="1874520" cy="2057400"/>
          </a:xfrm>
          <a:prstGeom prst="roundRect">
            <a:avLst>
              <a:gd name="adj" fmla="val 2927"/>
            </a:avLst>
          </a:prstGeom>
          <a:solidFill>
            <a:srgbClr val="F7F1E7"/>
          </a:solidFill>
          <a:ln w="10160">
            <a:solidFill>
              <a:srgbClr val="D9DEE5"/>
            </a:solidFill>
            <a:prstDash val="solid"/>
          </a:ln>
        </p:spPr>
        <p:txBody>
          <a:bodyPr/>
          <a:p/>
        </p:txBody>
      </p:sp>
      <p:sp>
        <p:nvSpPr>
          <p:cNvPr id="6" name="Text 4"/>
          <p:cNvSpPr/>
          <p:nvPr/>
        </p:nvSpPr>
        <p:spPr>
          <a:xfrm>
            <a:off x="685800" y="1673352"/>
            <a:ext cx="1600200" cy="256032"/>
          </a:xfrm>
          <a:prstGeom prst="rect">
            <a:avLst/>
          </a:prstGeom>
          <a:noFill/>
          <a:ln/>
        </p:spPr>
        <p:txBody>
          <a:bodyPr wrap="square" lIns="0" tIns="0" rIns="0" bIns="0" rtlCol="0" anchor="ctr"/>
          <a:lstStyle/>
          <a:p>
            <a:pPr indent="0" marL="0">
              <a:buNone/>
            </a:pPr>
            <a:r>
              <a:rPr lang="en-US" sz="1200" b="1" dirty="0">
                <a:solidFill>
                  <a:srgbClr val="6B1230"/>
                </a:solidFill>
              </a:rPr>
              <a:t>Raw TAWOS</a:t>
            </a:r>
            <a:endParaRPr lang="en-US" sz="1200" dirty="0"/>
          </a:p>
        </p:txBody>
      </p:sp>
      <p:sp>
        <p:nvSpPr>
          <p:cNvPr id="7" name="Text 5"/>
          <p:cNvSpPr/>
          <p:nvPr/>
        </p:nvSpPr>
        <p:spPr>
          <a:xfrm>
            <a:off x="685800" y="1993392"/>
            <a:ext cx="1600200" cy="152704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2,657 sprint rows</a:t>
            </a:r>
            <a:endParaRPr lang="en-US" sz="1000" dirty="0"/>
          </a:p>
        </p:txBody>
      </p:sp>
      <p:sp>
        <p:nvSpPr>
          <p:cNvPr id="8" name="Shape 6"/>
          <p:cNvSpPr/>
          <p:nvPr/>
        </p:nvSpPr>
        <p:spPr>
          <a:xfrm>
            <a:off x="2487168" y="2267712"/>
            <a:ext cx="292608" cy="384048"/>
          </a:xfrm>
          <a:prstGeom prst="chevron">
            <a:avLst/>
          </a:prstGeom>
          <a:solidFill>
            <a:srgbClr val="B08A00"/>
          </a:solidFill>
          <a:ln w="12700">
            <a:solidFill>
              <a:srgbClr val="B08A00"/>
            </a:solidFill>
            <a:prstDash val="solid"/>
          </a:ln>
        </p:spPr>
        <p:txBody>
          <a:bodyPr/>
          <a:p/>
        </p:txBody>
      </p:sp>
      <p:sp>
        <p:nvSpPr>
          <p:cNvPr id="9" name="Shape 7"/>
          <p:cNvSpPr/>
          <p:nvPr/>
        </p:nvSpPr>
        <p:spPr>
          <a:xfrm>
            <a:off x="2788920" y="1554480"/>
            <a:ext cx="1874520" cy="2057400"/>
          </a:xfrm>
          <a:prstGeom prst="roundRect">
            <a:avLst>
              <a:gd name="adj" fmla="val 2927"/>
            </a:avLst>
          </a:prstGeom>
          <a:solidFill>
            <a:srgbClr val="F4F5F7"/>
          </a:solidFill>
          <a:ln w="10160">
            <a:solidFill>
              <a:srgbClr val="D9DEE5"/>
            </a:solidFill>
            <a:prstDash val="solid"/>
          </a:ln>
        </p:spPr>
        <p:txBody>
          <a:bodyPr/>
          <a:p/>
        </p:txBody>
      </p:sp>
      <p:sp>
        <p:nvSpPr>
          <p:cNvPr id="10" name="Text 8"/>
          <p:cNvSpPr/>
          <p:nvPr/>
        </p:nvSpPr>
        <p:spPr>
          <a:xfrm>
            <a:off x="2926080" y="1673352"/>
            <a:ext cx="1600200" cy="256032"/>
          </a:xfrm>
          <a:prstGeom prst="rect">
            <a:avLst/>
          </a:prstGeom>
          <a:noFill/>
          <a:ln/>
        </p:spPr>
        <p:txBody>
          <a:bodyPr wrap="square" lIns="0" tIns="0" rIns="0" bIns="0" rtlCol="0" anchor="ctr"/>
          <a:lstStyle/>
          <a:p>
            <a:pPr indent="0" marL="0">
              <a:buNone/>
            </a:pPr>
            <a:r>
              <a:rPr lang="en-US" sz="1200" b="1" dirty="0">
                <a:solidFill>
                  <a:srgbClr val="6B1230"/>
                </a:solidFill>
              </a:rPr>
              <a:t>Observed outcomes</a:t>
            </a:r>
            <a:endParaRPr lang="en-US" sz="1200" dirty="0"/>
          </a:p>
        </p:txBody>
      </p:sp>
      <p:sp>
        <p:nvSpPr>
          <p:cNvPr id="11" name="Text 9"/>
          <p:cNvSpPr/>
          <p:nvPr/>
        </p:nvSpPr>
        <p:spPr>
          <a:xfrm>
            <a:off x="2926080" y="1993392"/>
            <a:ext cx="1600200" cy="152704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2,610 eligible CLOSED sprints</a:t>
            </a:r>
            <a:endParaRPr lang="en-US" sz="1000" dirty="0"/>
          </a:p>
        </p:txBody>
      </p:sp>
      <p:sp>
        <p:nvSpPr>
          <p:cNvPr id="12" name="Shape 10"/>
          <p:cNvSpPr/>
          <p:nvPr/>
        </p:nvSpPr>
        <p:spPr>
          <a:xfrm>
            <a:off x="4727448" y="2267712"/>
            <a:ext cx="292608" cy="384048"/>
          </a:xfrm>
          <a:prstGeom prst="chevron">
            <a:avLst/>
          </a:prstGeom>
          <a:solidFill>
            <a:srgbClr val="B08A00"/>
          </a:solidFill>
          <a:ln w="12700">
            <a:solidFill>
              <a:srgbClr val="B08A00"/>
            </a:solidFill>
            <a:prstDash val="solid"/>
          </a:ln>
        </p:spPr>
        <p:txBody>
          <a:bodyPr/>
          <a:p/>
        </p:txBody>
      </p:sp>
      <p:sp>
        <p:nvSpPr>
          <p:cNvPr id="13" name="Shape 11"/>
          <p:cNvSpPr/>
          <p:nvPr/>
        </p:nvSpPr>
        <p:spPr>
          <a:xfrm>
            <a:off x="5029200" y="1554480"/>
            <a:ext cx="1874520" cy="2057400"/>
          </a:xfrm>
          <a:prstGeom prst="roundRect">
            <a:avLst>
              <a:gd name="adj" fmla="val 2927"/>
            </a:avLst>
          </a:prstGeom>
          <a:solidFill>
            <a:srgbClr val="F7F1E7"/>
          </a:solidFill>
          <a:ln w="10160">
            <a:solidFill>
              <a:srgbClr val="D9DEE5"/>
            </a:solidFill>
            <a:prstDash val="solid"/>
          </a:ln>
        </p:spPr>
        <p:txBody>
          <a:bodyPr/>
          <a:p/>
        </p:txBody>
      </p:sp>
      <p:sp>
        <p:nvSpPr>
          <p:cNvPr id="14" name="Text 12"/>
          <p:cNvSpPr/>
          <p:nvPr/>
        </p:nvSpPr>
        <p:spPr>
          <a:xfrm>
            <a:off x="5166360" y="1673352"/>
            <a:ext cx="1600200" cy="256032"/>
          </a:xfrm>
          <a:prstGeom prst="rect">
            <a:avLst/>
          </a:prstGeom>
          <a:noFill/>
          <a:ln/>
        </p:spPr>
        <p:txBody>
          <a:bodyPr wrap="square" lIns="0" tIns="0" rIns="0" bIns="0" rtlCol="0" anchor="ctr"/>
          <a:lstStyle/>
          <a:p>
            <a:pPr indent="0" marL="0">
              <a:buNone/>
            </a:pPr>
            <a:r>
              <a:rPr lang="en-US" sz="1200" b="1" dirty="0">
                <a:solidFill>
                  <a:srgbClr val="6B1230"/>
                </a:solidFill>
              </a:rPr>
              <a:t>Cold-start rule</a:t>
            </a:r>
            <a:endParaRPr lang="en-US" sz="1200" dirty="0"/>
          </a:p>
        </p:txBody>
      </p:sp>
      <p:sp>
        <p:nvSpPr>
          <p:cNvPr id="15" name="Text 13"/>
          <p:cNvSpPr/>
          <p:nvPr/>
        </p:nvSpPr>
        <p:spPr>
          <a:xfrm>
            <a:off x="5166360" y="1993392"/>
            <a:ext cx="1600200" cy="152704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2,602 modeled sprints</a:t>
            </a:r>
            <a:endParaRPr lang="en-US" sz="1000" dirty="0"/>
          </a:p>
        </p:txBody>
      </p:sp>
      <p:sp>
        <p:nvSpPr>
          <p:cNvPr id="16" name="Shape 14"/>
          <p:cNvSpPr/>
          <p:nvPr/>
        </p:nvSpPr>
        <p:spPr>
          <a:xfrm>
            <a:off x="6967728" y="2267712"/>
            <a:ext cx="292608" cy="384048"/>
          </a:xfrm>
          <a:prstGeom prst="chevron">
            <a:avLst/>
          </a:prstGeom>
          <a:solidFill>
            <a:srgbClr val="B08A00"/>
          </a:solidFill>
          <a:ln w="12700">
            <a:solidFill>
              <a:srgbClr val="B08A00"/>
            </a:solidFill>
            <a:prstDash val="solid"/>
          </a:ln>
        </p:spPr>
        <p:txBody>
          <a:bodyPr/>
          <a:p/>
        </p:txBody>
      </p:sp>
      <p:sp>
        <p:nvSpPr>
          <p:cNvPr id="17" name="Shape 15"/>
          <p:cNvSpPr/>
          <p:nvPr/>
        </p:nvSpPr>
        <p:spPr>
          <a:xfrm>
            <a:off x="7269480" y="1554480"/>
            <a:ext cx="1874520" cy="2057400"/>
          </a:xfrm>
          <a:prstGeom prst="roundRect">
            <a:avLst>
              <a:gd name="adj" fmla="val 2927"/>
            </a:avLst>
          </a:prstGeom>
          <a:solidFill>
            <a:srgbClr val="F4F5F7"/>
          </a:solidFill>
          <a:ln w="10160">
            <a:solidFill>
              <a:srgbClr val="D9DEE5"/>
            </a:solidFill>
            <a:prstDash val="solid"/>
          </a:ln>
        </p:spPr>
        <p:txBody>
          <a:bodyPr/>
          <a:p/>
        </p:txBody>
      </p:sp>
      <p:sp>
        <p:nvSpPr>
          <p:cNvPr id="18" name="Text 16"/>
          <p:cNvSpPr/>
          <p:nvPr/>
        </p:nvSpPr>
        <p:spPr>
          <a:xfrm>
            <a:off x="7406640" y="1673352"/>
            <a:ext cx="1600200" cy="256032"/>
          </a:xfrm>
          <a:prstGeom prst="rect">
            <a:avLst/>
          </a:prstGeom>
          <a:noFill/>
          <a:ln/>
        </p:spPr>
        <p:txBody>
          <a:bodyPr wrap="square" lIns="0" tIns="0" rIns="0" bIns="0" rtlCol="0" anchor="ctr"/>
          <a:lstStyle/>
          <a:p>
            <a:pPr indent="0" marL="0">
              <a:buNone/>
            </a:pPr>
            <a:r>
              <a:rPr lang="en-US" sz="1200" b="1" dirty="0">
                <a:solidFill>
                  <a:srgbClr val="6B1230"/>
                </a:solidFill>
              </a:rPr>
              <a:t>Scope history</a:t>
            </a:r>
            <a:endParaRPr lang="en-US" sz="1200" dirty="0"/>
          </a:p>
        </p:txBody>
      </p:sp>
      <p:sp>
        <p:nvSpPr>
          <p:cNvPr id="19" name="Text 17"/>
          <p:cNvSpPr/>
          <p:nvPr/>
        </p:nvSpPr>
        <p:spPr>
          <a:xfrm>
            <a:off x="7406640" y="1993392"/>
            <a:ext cx="1600200" cy="152704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145,309 issues + 88,364 changes</a:t>
            </a:r>
            <a:endParaRPr lang="en-US" sz="1000" dirty="0"/>
          </a:p>
        </p:txBody>
      </p:sp>
      <p:sp>
        <p:nvSpPr>
          <p:cNvPr id="20" name="Shape 18"/>
          <p:cNvSpPr/>
          <p:nvPr/>
        </p:nvSpPr>
        <p:spPr>
          <a:xfrm>
            <a:off x="9208008" y="2267712"/>
            <a:ext cx="292608" cy="384048"/>
          </a:xfrm>
          <a:prstGeom prst="chevron">
            <a:avLst/>
          </a:prstGeom>
          <a:solidFill>
            <a:srgbClr val="B08A00"/>
          </a:solidFill>
          <a:ln w="12700">
            <a:solidFill>
              <a:srgbClr val="B08A00"/>
            </a:solidFill>
            <a:prstDash val="solid"/>
          </a:ln>
        </p:spPr>
        <p:txBody>
          <a:bodyPr/>
          <a:p/>
        </p:txBody>
      </p:sp>
      <p:sp>
        <p:nvSpPr>
          <p:cNvPr id="21" name="Shape 19"/>
          <p:cNvSpPr/>
          <p:nvPr/>
        </p:nvSpPr>
        <p:spPr>
          <a:xfrm>
            <a:off x="9509760" y="1554480"/>
            <a:ext cx="1874520" cy="2057400"/>
          </a:xfrm>
          <a:prstGeom prst="roundRect">
            <a:avLst>
              <a:gd name="adj" fmla="val 2927"/>
            </a:avLst>
          </a:prstGeom>
          <a:solidFill>
            <a:srgbClr val="F7F1E7"/>
          </a:solidFill>
          <a:ln w="10160">
            <a:solidFill>
              <a:srgbClr val="D9DEE5"/>
            </a:solidFill>
            <a:prstDash val="solid"/>
          </a:ln>
        </p:spPr>
        <p:txBody>
          <a:bodyPr/>
          <a:p/>
        </p:txBody>
      </p:sp>
      <p:sp>
        <p:nvSpPr>
          <p:cNvPr id="22" name="Text 20"/>
          <p:cNvSpPr/>
          <p:nvPr/>
        </p:nvSpPr>
        <p:spPr>
          <a:xfrm>
            <a:off x="9646920" y="1673352"/>
            <a:ext cx="1600200" cy="256032"/>
          </a:xfrm>
          <a:prstGeom prst="rect">
            <a:avLst/>
          </a:prstGeom>
          <a:noFill/>
          <a:ln/>
        </p:spPr>
        <p:txBody>
          <a:bodyPr wrap="square" lIns="0" tIns="0" rIns="0" bIns="0" rtlCol="0" anchor="ctr"/>
          <a:lstStyle/>
          <a:p>
            <a:pPr indent="0" marL="0">
              <a:buNone/>
            </a:pPr>
            <a:r>
              <a:rPr lang="en-US" sz="1200" b="1" dirty="0">
                <a:solidFill>
                  <a:srgbClr val="6B1230"/>
                </a:solidFill>
              </a:rPr>
              <a:t>Sprint-start scope</a:t>
            </a:r>
            <a:endParaRPr lang="en-US" sz="1200" dirty="0"/>
          </a:p>
        </p:txBody>
      </p:sp>
      <p:sp>
        <p:nvSpPr>
          <p:cNvPr id="23" name="Text 21"/>
          <p:cNvSpPr/>
          <p:nvPr/>
        </p:nvSpPr>
        <p:spPr>
          <a:xfrm>
            <a:off x="9646920" y="1993392"/>
            <a:ext cx="1600200" cy="152704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20,603 commitments</a:t>
            </a:r>
            <a:endParaRPr lang="en-US" sz="1000" dirty="0"/>
          </a:p>
        </p:txBody>
      </p:sp>
      <p:sp>
        <p:nvSpPr>
          <p:cNvPr id="24" name="Text 22"/>
          <p:cNvSpPr/>
          <p:nvPr/>
        </p:nvSpPr>
        <p:spPr>
          <a:xfrm>
            <a:off x="960120" y="4389120"/>
            <a:ext cx="10241280" cy="457200"/>
          </a:xfrm>
          <a:prstGeom prst="rect">
            <a:avLst/>
          </a:prstGeom>
          <a:noFill/>
          <a:ln/>
        </p:spPr>
        <p:txBody>
          <a:bodyPr wrap="square" lIns="0" tIns="0" rIns="0" bIns="0" rtlCol="0" anchor="ctr"/>
          <a:lstStyle/>
          <a:p>
            <a:pPr algn="ctr" indent="0" marL="0">
              <a:buNone/>
            </a:pPr>
            <a:r>
              <a:rPr lang="en-US" sz="1300" b="1" dirty="0">
                <a:solidFill>
                  <a:srgbClr val="1E2A36"/>
                </a:solidFill>
              </a:rPr>
              <a:t>Issues created after the start, or already resolved before it, are excluded from committed scope.</a:t>
            </a:r>
            <a:endParaRPr lang="en-US" sz="1300" dirty="0"/>
          </a:p>
        </p:txBody>
      </p:sp>
      <p:sp>
        <p:nvSpPr>
          <p:cNvPr id="25" name="Text 23"/>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26" name="Text 24"/>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Two different outcomes</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The two outcomes describe different repository events.</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sp>
        <p:nvSpPr>
          <p:cNvPr id="5" name="Shape 3"/>
          <p:cNvSpPr/>
          <p:nvPr/>
        </p:nvSpPr>
        <p:spPr>
          <a:xfrm>
            <a:off x="868680" y="1508760"/>
            <a:ext cx="4937760" cy="3474720"/>
          </a:xfrm>
          <a:prstGeom prst="roundRect">
            <a:avLst>
              <a:gd name="adj" fmla="val 1579"/>
            </a:avLst>
          </a:prstGeom>
          <a:solidFill>
            <a:srgbClr val="F4F5F7"/>
          </a:solidFill>
          <a:ln w="10160">
            <a:solidFill>
              <a:srgbClr val="D9DEE5"/>
            </a:solidFill>
            <a:prstDash val="solid"/>
          </a:ln>
        </p:spPr>
        <p:txBody>
          <a:bodyPr/>
          <a:p/>
        </p:txBody>
      </p:sp>
      <p:sp>
        <p:nvSpPr>
          <p:cNvPr id="6" name="Text 4"/>
          <p:cNvSpPr/>
          <p:nvPr/>
        </p:nvSpPr>
        <p:spPr>
          <a:xfrm>
            <a:off x="1005840" y="1627632"/>
            <a:ext cx="4663440" cy="256032"/>
          </a:xfrm>
          <a:prstGeom prst="rect">
            <a:avLst/>
          </a:prstGeom>
          <a:noFill/>
          <a:ln/>
        </p:spPr>
        <p:txBody>
          <a:bodyPr wrap="square" lIns="0" tIns="0" rIns="0" bIns="0" rtlCol="0" anchor="ctr"/>
          <a:lstStyle/>
          <a:p>
            <a:pPr indent="0" marL="0">
              <a:buNone/>
            </a:pPr>
            <a:r>
              <a:rPr lang="en-US" sz="1200" b="1" dirty="0">
                <a:solidFill>
                  <a:srgbClr val="6B1230"/>
                </a:solidFill>
              </a:rPr>
              <a:t>Late sprint closure</a:t>
            </a:r>
            <a:endParaRPr lang="en-US" sz="1200" dirty="0"/>
          </a:p>
        </p:txBody>
      </p:sp>
      <p:sp>
        <p:nvSpPr>
          <p:cNvPr id="7" name="Text 5"/>
          <p:cNvSpPr/>
          <p:nvPr/>
        </p:nvSpPr>
        <p:spPr>
          <a:xfrm>
            <a:off x="1005840" y="1947672"/>
            <a:ext cx="4663440" cy="29443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Jira records the sprint as completed more than one day after its planned end date. This is an administrative closure outcome, not a direct measure of when all work finished.</a:t>
            </a:r>
            <a:endParaRPr lang="en-US" sz="1000" dirty="0"/>
          </a:p>
        </p:txBody>
      </p:sp>
      <p:sp>
        <p:nvSpPr>
          <p:cNvPr id="8" name="Shape 6"/>
          <p:cNvSpPr/>
          <p:nvPr/>
        </p:nvSpPr>
        <p:spPr>
          <a:xfrm>
            <a:off x="6355080" y="1508760"/>
            <a:ext cx="4937760" cy="3474720"/>
          </a:xfrm>
          <a:prstGeom prst="roundRect">
            <a:avLst>
              <a:gd name="adj" fmla="val 1579"/>
            </a:avLst>
          </a:prstGeom>
          <a:solidFill>
            <a:srgbClr val="F7F1E7"/>
          </a:solidFill>
          <a:ln w="10160">
            <a:solidFill>
              <a:srgbClr val="D9DEE5"/>
            </a:solidFill>
            <a:prstDash val="solid"/>
          </a:ln>
        </p:spPr>
        <p:txBody>
          <a:bodyPr/>
          <a:p/>
        </p:txBody>
      </p:sp>
      <p:sp>
        <p:nvSpPr>
          <p:cNvPr id="9" name="Text 7"/>
          <p:cNvSpPr/>
          <p:nvPr/>
        </p:nvSpPr>
        <p:spPr>
          <a:xfrm>
            <a:off x="6492240" y="1627632"/>
            <a:ext cx="4663440" cy="256032"/>
          </a:xfrm>
          <a:prstGeom prst="rect">
            <a:avLst/>
          </a:prstGeom>
          <a:noFill/>
          <a:ln/>
        </p:spPr>
        <p:txBody>
          <a:bodyPr wrap="square" lIns="0" tIns="0" rIns="0" bIns="0" rtlCol="0" anchor="ctr"/>
          <a:lstStyle/>
          <a:p>
            <a:pPr indent="0" marL="0">
              <a:buNone/>
            </a:pPr>
            <a:r>
              <a:rPr lang="en-US" sz="1200" b="1" dirty="0">
                <a:solidFill>
                  <a:srgbClr val="6B1230"/>
                </a:solidFill>
              </a:rPr>
              <a:t>Scope spillover</a:t>
            </a:r>
            <a:endParaRPr lang="en-US" sz="1200" dirty="0"/>
          </a:p>
        </p:txBody>
      </p:sp>
      <p:sp>
        <p:nvSpPr>
          <p:cNvPr id="10" name="Text 8"/>
          <p:cNvSpPr/>
          <p:nvPr/>
        </p:nvSpPr>
        <p:spPr>
          <a:xfrm>
            <a:off x="6492240" y="1947672"/>
            <a:ext cx="4663440" cy="29443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At least one issue that belonged to the sprint at the start is not resolved by the planned end date. This is a narrow unfinished-scope outcome, not all forms of project risk.</a:t>
            </a:r>
            <a:endParaRPr lang="en-US" sz="1000" dirty="0"/>
          </a:p>
        </p:txBody>
      </p:sp>
      <p:sp>
        <p:nvSpPr>
          <p:cNvPr id="11" name="Text 9"/>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12" name="Text 10"/>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Main result</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Late closure is moderate. Unfinished scope is easier to rank, but simple scope variables explain most of the signal.</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graphicFrame>
        <p:nvGraphicFramePr>
          <p:cNvPr id="5" name="Chart 0" descr=""/>
          <p:cNvGraphicFramePr/>
          <p:nvPr/>
        </p:nvGraphicFramePr>
        <p:xfrm>
          <a:off x="822960" y="1417320"/>
          <a:ext cx="6583680" cy="41148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18120" y="1554480"/>
            <a:ext cx="3429000" cy="1097280"/>
          </a:xfrm>
          <a:prstGeom prst="roundRect">
            <a:avLst>
              <a:gd name="adj" fmla="val 5000"/>
            </a:avLst>
          </a:prstGeom>
          <a:solidFill>
            <a:srgbClr val="F4F5F7"/>
          </a:solidFill>
          <a:ln w="10160">
            <a:solidFill>
              <a:srgbClr val="D9DEE5"/>
            </a:solidFill>
            <a:prstDash val="solid"/>
          </a:ln>
        </p:spPr>
        <p:txBody>
          <a:bodyPr/>
          <a:p/>
        </p:txBody>
      </p:sp>
      <p:sp>
        <p:nvSpPr>
          <p:cNvPr id="7" name="Text 4"/>
          <p:cNvSpPr/>
          <p:nvPr/>
        </p:nvSpPr>
        <p:spPr>
          <a:xfrm>
            <a:off x="7955280" y="1673352"/>
            <a:ext cx="3154680" cy="256032"/>
          </a:xfrm>
          <a:prstGeom prst="rect">
            <a:avLst/>
          </a:prstGeom>
          <a:noFill/>
          <a:ln/>
        </p:spPr>
        <p:txBody>
          <a:bodyPr wrap="square" lIns="0" tIns="0" rIns="0" bIns="0" rtlCol="0" anchor="ctr"/>
          <a:lstStyle/>
          <a:p>
            <a:pPr indent="0" marL="0">
              <a:buNone/>
            </a:pPr>
            <a:r>
              <a:rPr lang="en-US" sz="1200" b="1" dirty="0">
                <a:solidFill>
                  <a:srgbClr val="6B1230"/>
                </a:solidFill>
              </a:rPr>
              <a:t>Late closure</a:t>
            </a:r>
            <a:endParaRPr lang="en-US" sz="1200" dirty="0"/>
          </a:p>
        </p:txBody>
      </p:sp>
      <p:sp>
        <p:nvSpPr>
          <p:cNvPr id="8" name="Text 5"/>
          <p:cNvSpPr/>
          <p:nvPr/>
        </p:nvSpPr>
        <p:spPr>
          <a:xfrm>
            <a:off x="7955280" y="1993392"/>
            <a:ext cx="3154680" cy="5669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Moderate discrimination; project and time variation remain important.</a:t>
            </a:r>
            <a:endParaRPr lang="en-US" sz="1000" dirty="0"/>
          </a:p>
        </p:txBody>
      </p:sp>
      <p:sp>
        <p:nvSpPr>
          <p:cNvPr id="9" name="Shape 6"/>
          <p:cNvSpPr/>
          <p:nvPr/>
        </p:nvSpPr>
        <p:spPr>
          <a:xfrm>
            <a:off x="7818120" y="2788920"/>
            <a:ext cx="3429000" cy="1097280"/>
          </a:xfrm>
          <a:prstGeom prst="roundRect">
            <a:avLst>
              <a:gd name="adj" fmla="val 5000"/>
            </a:avLst>
          </a:prstGeom>
          <a:solidFill>
            <a:srgbClr val="F7F1E7"/>
          </a:solidFill>
          <a:ln w="10160">
            <a:solidFill>
              <a:srgbClr val="D9DEE5"/>
            </a:solidFill>
            <a:prstDash val="solid"/>
          </a:ln>
        </p:spPr>
        <p:txBody>
          <a:bodyPr/>
          <a:p/>
        </p:txBody>
      </p:sp>
      <p:sp>
        <p:nvSpPr>
          <p:cNvPr id="10" name="Text 7"/>
          <p:cNvSpPr/>
          <p:nvPr/>
        </p:nvSpPr>
        <p:spPr>
          <a:xfrm>
            <a:off x="7955280" y="2907792"/>
            <a:ext cx="3154680" cy="256032"/>
          </a:xfrm>
          <a:prstGeom prst="rect">
            <a:avLst/>
          </a:prstGeom>
          <a:noFill/>
          <a:ln/>
        </p:spPr>
        <p:txBody>
          <a:bodyPr wrap="square" lIns="0" tIns="0" rIns="0" bIns="0" rtlCol="0" anchor="ctr"/>
          <a:lstStyle/>
          <a:p>
            <a:pPr indent="0" marL="0">
              <a:buNone/>
            </a:pPr>
            <a:r>
              <a:rPr lang="en-US" sz="1200" b="1" dirty="0">
                <a:solidFill>
                  <a:srgbClr val="6B1230"/>
                </a:solidFill>
              </a:rPr>
              <a:t>Full spillover</a:t>
            </a:r>
            <a:endParaRPr lang="en-US" sz="1200" dirty="0"/>
          </a:p>
        </p:txBody>
      </p:sp>
      <p:sp>
        <p:nvSpPr>
          <p:cNvPr id="11" name="Text 8"/>
          <p:cNvSpPr/>
          <p:nvPr/>
        </p:nvSpPr>
        <p:spPr>
          <a:xfrm>
            <a:off x="7955280" y="3227832"/>
            <a:ext cx="3154680" cy="5669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Very high AUC, but helped by zero-scope sprints.</a:t>
            </a:r>
            <a:endParaRPr lang="en-US" sz="1000" dirty="0"/>
          </a:p>
        </p:txBody>
      </p:sp>
      <p:sp>
        <p:nvSpPr>
          <p:cNvPr id="12" name="Shape 9"/>
          <p:cNvSpPr/>
          <p:nvPr/>
        </p:nvSpPr>
        <p:spPr>
          <a:xfrm>
            <a:off x="7818120" y="4023360"/>
            <a:ext cx="3429000" cy="1097280"/>
          </a:xfrm>
          <a:prstGeom prst="roundRect">
            <a:avLst>
              <a:gd name="adj" fmla="val 5000"/>
            </a:avLst>
          </a:prstGeom>
          <a:solidFill>
            <a:srgbClr val="F4F5F7"/>
          </a:solidFill>
          <a:ln w="10160">
            <a:solidFill>
              <a:srgbClr val="D9DEE5"/>
            </a:solidFill>
            <a:prstDash val="solid"/>
          </a:ln>
        </p:spPr>
        <p:txBody>
          <a:bodyPr/>
          <a:p/>
        </p:txBody>
      </p:sp>
      <p:sp>
        <p:nvSpPr>
          <p:cNvPr id="13" name="Text 10"/>
          <p:cNvSpPr/>
          <p:nvPr/>
        </p:nvSpPr>
        <p:spPr>
          <a:xfrm>
            <a:off x="7955280" y="4142232"/>
            <a:ext cx="3154680" cy="256032"/>
          </a:xfrm>
          <a:prstGeom prst="rect">
            <a:avLst/>
          </a:prstGeom>
          <a:noFill/>
          <a:ln/>
        </p:spPr>
        <p:txBody>
          <a:bodyPr wrap="square" lIns="0" tIns="0" rIns="0" bIns="0" rtlCol="0" anchor="ctr"/>
          <a:lstStyle/>
          <a:p>
            <a:pPr indent="0" marL="0">
              <a:buNone/>
            </a:pPr>
            <a:r>
              <a:rPr lang="en-US" sz="1200" b="1" dirty="0">
                <a:solidFill>
                  <a:srgbClr val="6B1230"/>
                </a:solidFill>
              </a:rPr>
              <a:t>Nonempty spillover</a:t>
            </a:r>
            <a:endParaRPr lang="en-US" sz="1200" dirty="0"/>
          </a:p>
        </p:txBody>
      </p:sp>
      <p:sp>
        <p:nvSpPr>
          <p:cNvPr id="14" name="Text 11"/>
          <p:cNvSpPr/>
          <p:nvPr/>
        </p:nvSpPr>
        <p:spPr>
          <a:xfrm>
            <a:off x="7955280" y="4462272"/>
            <a:ext cx="3154680" cy="5669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More realistic task; still clearly above chance.</a:t>
            </a:r>
            <a:endParaRPr lang="en-US" sz="1000" dirty="0"/>
          </a:p>
        </p:txBody>
      </p:sp>
      <p:sp>
        <p:nvSpPr>
          <p:cNvPr id="15" name="Text 12"/>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16" name="Text 13"/>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How the result was stress-tested</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The same conclusion is checked against time, project, provenance, and leakage assumptions.</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sp>
        <p:nvSpPr>
          <p:cNvPr id="5" name="Shape 3"/>
          <p:cNvSpPr/>
          <p:nvPr/>
        </p:nvSpPr>
        <p:spPr>
          <a:xfrm>
            <a:off x="685800" y="1325880"/>
            <a:ext cx="3383280" cy="1325880"/>
          </a:xfrm>
          <a:prstGeom prst="roundRect">
            <a:avLst>
              <a:gd name="adj" fmla="val 4138"/>
            </a:avLst>
          </a:prstGeom>
          <a:solidFill>
            <a:srgbClr val="F7F1E7"/>
          </a:solidFill>
          <a:ln w="10160">
            <a:solidFill>
              <a:srgbClr val="D9DEE5"/>
            </a:solidFill>
            <a:prstDash val="solid"/>
          </a:ln>
        </p:spPr>
        <p:txBody>
          <a:bodyPr/>
          <a:p/>
        </p:txBody>
      </p:sp>
      <p:sp>
        <p:nvSpPr>
          <p:cNvPr id="6" name="Text 4"/>
          <p:cNvSpPr/>
          <p:nvPr/>
        </p:nvSpPr>
        <p:spPr>
          <a:xfrm>
            <a:off x="822960" y="144475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Scope-only baseline</a:t>
            </a:r>
            <a:endParaRPr lang="en-US" sz="1200" dirty="0"/>
          </a:p>
        </p:txBody>
      </p:sp>
      <p:sp>
        <p:nvSpPr>
          <p:cNvPr id="7" name="Text 5"/>
          <p:cNvSpPr/>
          <p:nvPr/>
        </p:nvSpPr>
        <p:spPr>
          <a:xfrm>
            <a:off x="822960" y="1764792"/>
            <a:ext cx="3108960" cy="7955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Tests whether larger starting scope alone explains spillover risk.</a:t>
            </a:r>
            <a:endParaRPr lang="en-US" sz="1000" dirty="0"/>
          </a:p>
        </p:txBody>
      </p:sp>
      <p:sp>
        <p:nvSpPr>
          <p:cNvPr id="8" name="Shape 6"/>
          <p:cNvSpPr/>
          <p:nvPr/>
        </p:nvSpPr>
        <p:spPr>
          <a:xfrm>
            <a:off x="4434840" y="1325880"/>
            <a:ext cx="3383280" cy="1325880"/>
          </a:xfrm>
          <a:prstGeom prst="roundRect">
            <a:avLst>
              <a:gd name="adj" fmla="val 4138"/>
            </a:avLst>
          </a:prstGeom>
          <a:solidFill>
            <a:srgbClr val="F4F5F7"/>
          </a:solidFill>
          <a:ln w="10160">
            <a:solidFill>
              <a:srgbClr val="D9DEE5"/>
            </a:solidFill>
            <a:prstDash val="solid"/>
          </a:ln>
        </p:spPr>
        <p:txBody>
          <a:bodyPr/>
          <a:p/>
        </p:txBody>
      </p:sp>
      <p:sp>
        <p:nvSpPr>
          <p:cNvPr id="9" name="Text 7"/>
          <p:cNvSpPr/>
          <p:nvPr/>
        </p:nvSpPr>
        <p:spPr>
          <a:xfrm>
            <a:off x="4572000" y="144475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Cluster uncertainty</a:t>
            </a:r>
            <a:endParaRPr lang="en-US" sz="1200" dirty="0"/>
          </a:p>
        </p:txBody>
      </p:sp>
      <p:sp>
        <p:nvSpPr>
          <p:cNvPr id="10" name="Text 8"/>
          <p:cNvSpPr/>
          <p:nvPr/>
        </p:nvSpPr>
        <p:spPr>
          <a:xfrm>
            <a:off x="4572000" y="1764792"/>
            <a:ext cx="3108960" cy="7955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Uses project-aware intervals rather than treating all sprints as independent.</a:t>
            </a:r>
            <a:endParaRPr lang="en-US" sz="1000" dirty="0"/>
          </a:p>
        </p:txBody>
      </p:sp>
      <p:sp>
        <p:nvSpPr>
          <p:cNvPr id="11" name="Shape 9"/>
          <p:cNvSpPr/>
          <p:nvPr/>
        </p:nvSpPr>
        <p:spPr>
          <a:xfrm>
            <a:off x="8183880" y="1325880"/>
            <a:ext cx="3383280" cy="1325880"/>
          </a:xfrm>
          <a:prstGeom prst="roundRect">
            <a:avLst>
              <a:gd name="adj" fmla="val 4138"/>
            </a:avLst>
          </a:prstGeom>
          <a:solidFill>
            <a:srgbClr val="F7F1E7"/>
          </a:solidFill>
          <a:ln w="10160">
            <a:solidFill>
              <a:srgbClr val="D9DEE5"/>
            </a:solidFill>
            <a:prstDash val="solid"/>
          </a:ln>
        </p:spPr>
        <p:txBody>
          <a:bodyPr/>
          <a:p/>
        </p:txBody>
      </p:sp>
      <p:sp>
        <p:nvSpPr>
          <p:cNvPr id="12" name="Text 10"/>
          <p:cNvSpPr/>
          <p:nvPr/>
        </p:nvSpPr>
        <p:spPr>
          <a:xfrm>
            <a:off x="8321040" y="144475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Rolling splits</a:t>
            </a:r>
            <a:endParaRPr lang="en-US" sz="1200" dirty="0"/>
          </a:p>
        </p:txBody>
      </p:sp>
      <p:sp>
        <p:nvSpPr>
          <p:cNvPr id="13" name="Text 11"/>
          <p:cNvSpPr/>
          <p:nvPr/>
        </p:nvSpPr>
        <p:spPr>
          <a:xfrm>
            <a:off x="8321040" y="1764792"/>
            <a:ext cx="3108960" cy="7955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Checks whether results depend too much on one 70/30 cutoff.</a:t>
            </a:r>
            <a:endParaRPr lang="en-US" sz="1000" dirty="0"/>
          </a:p>
        </p:txBody>
      </p:sp>
      <p:sp>
        <p:nvSpPr>
          <p:cNvPr id="14" name="Shape 12"/>
          <p:cNvSpPr/>
          <p:nvPr/>
        </p:nvSpPr>
        <p:spPr>
          <a:xfrm>
            <a:off x="685800" y="3154680"/>
            <a:ext cx="3383280" cy="1325880"/>
          </a:xfrm>
          <a:prstGeom prst="roundRect">
            <a:avLst>
              <a:gd name="adj" fmla="val 4138"/>
            </a:avLst>
          </a:prstGeom>
          <a:solidFill>
            <a:srgbClr val="F4F5F7"/>
          </a:solidFill>
          <a:ln w="10160">
            <a:solidFill>
              <a:srgbClr val="D9DEE5"/>
            </a:solidFill>
            <a:prstDash val="solid"/>
          </a:ln>
        </p:spPr>
        <p:txBody>
          <a:bodyPr/>
          <a:p/>
        </p:txBody>
      </p:sp>
      <p:sp>
        <p:nvSpPr>
          <p:cNvPr id="15" name="Text 13"/>
          <p:cNvSpPr/>
          <p:nvPr/>
        </p:nvSpPr>
        <p:spPr>
          <a:xfrm>
            <a:off x="822960" y="327355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Provenance audit</a:t>
            </a:r>
            <a:endParaRPr lang="en-US" sz="1200" dirty="0"/>
          </a:p>
        </p:txBody>
      </p:sp>
      <p:sp>
        <p:nvSpPr>
          <p:cNvPr id="16" name="Text 14"/>
          <p:cNvSpPr/>
          <p:nvPr/>
        </p:nvSpPr>
        <p:spPr>
          <a:xfrm>
            <a:off x="822960" y="3593592"/>
            <a:ext cx="3108960" cy="7955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Shows observed history versus static fallback by project.</a:t>
            </a:r>
            <a:endParaRPr lang="en-US" sz="1000" dirty="0"/>
          </a:p>
        </p:txBody>
      </p:sp>
      <p:sp>
        <p:nvSpPr>
          <p:cNvPr id="17" name="Shape 15"/>
          <p:cNvSpPr/>
          <p:nvPr/>
        </p:nvSpPr>
        <p:spPr>
          <a:xfrm>
            <a:off x="4434840" y="3154680"/>
            <a:ext cx="3383280" cy="1325880"/>
          </a:xfrm>
          <a:prstGeom prst="roundRect">
            <a:avLst>
              <a:gd name="adj" fmla="val 4138"/>
            </a:avLst>
          </a:prstGeom>
          <a:solidFill>
            <a:srgbClr val="F7F1E7"/>
          </a:solidFill>
          <a:ln w="10160">
            <a:solidFill>
              <a:srgbClr val="D9DEE5"/>
            </a:solidFill>
            <a:prstDash val="solid"/>
          </a:ln>
        </p:spPr>
        <p:txBody>
          <a:bodyPr/>
          <a:p/>
        </p:txBody>
      </p:sp>
      <p:sp>
        <p:nvSpPr>
          <p:cNvPr id="18" name="Text 16"/>
          <p:cNvSpPr/>
          <p:nvPr/>
        </p:nvSpPr>
        <p:spPr>
          <a:xfrm>
            <a:off x="4572000" y="327355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Permutation importance</a:t>
            </a:r>
            <a:endParaRPr lang="en-US" sz="1200" dirty="0"/>
          </a:p>
        </p:txBody>
      </p:sp>
      <p:sp>
        <p:nvSpPr>
          <p:cNvPr id="19" name="Text 17"/>
          <p:cNvSpPr/>
          <p:nvPr/>
        </p:nvSpPr>
        <p:spPr>
          <a:xfrm>
            <a:off x="4572000" y="3593592"/>
            <a:ext cx="3108960" cy="7955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Evaluates feature value on held-out data.</a:t>
            </a:r>
            <a:endParaRPr lang="en-US" sz="1000" dirty="0"/>
          </a:p>
        </p:txBody>
      </p:sp>
      <p:sp>
        <p:nvSpPr>
          <p:cNvPr id="20" name="Shape 18"/>
          <p:cNvSpPr/>
          <p:nvPr/>
        </p:nvSpPr>
        <p:spPr>
          <a:xfrm>
            <a:off x="8183880" y="3154680"/>
            <a:ext cx="3383280" cy="1325880"/>
          </a:xfrm>
          <a:prstGeom prst="roundRect">
            <a:avLst>
              <a:gd name="adj" fmla="val 4138"/>
            </a:avLst>
          </a:prstGeom>
          <a:solidFill>
            <a:srgbClr val="F4F5F7"/>
          </a:solidFill>
          <a:ln w="10160">
            <a:solidFill>
              <a:srgbClr val="D9DEE5"/>
            </a:solidFill>
            <a:prstDash val="solid"/>
          </a:ln>
        </p:spPr>
        <p:txBody>
          <a:bodyPr/>
          <a:p/>
        </p:txBody>
      </p:sp>
      <p:sp>
        <p:nvSpPr>
          <p:cNvPr id="21" name="Text 19"/>
          <p:cNvSpPr/>
          <p:nvPr/>
        </p:nvSpPr>
        <p:spPr>
          <a:xfrm>
            <a:off x="8321040" y="327355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Calibration bins</a:t>
            </a:r>
            <a:endParaRPr lang="en-US" sz="1200" dirty="0"/>
          </a:p>
        </p:txBody>
      </p:sp>
      <p:sp>
        <p:nvSpPr>
          <p:cNvPr id="22" name="Text 20"/>
          <p:cNvSpPr/>
          <p:nvPr/>
        </p:nvSpPr>
        <p:spPr>
          <a:xfrm>
            <a:off x="8321040" y="3593592"/>
            <a:ext cx="3108960" cy="7955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Shows how predicted probabilities behave across risk bands.</a:t>
            </a:r>
            <a:endParaRPr lang="en-US" sz="1000" dirty="0"/>
          </a:p>
        </p:txBody>
      </p:sp>
      <p:sp>
        <p:nvSpPr>
          <p:cNvPr id="23" name="Text 21"/>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24" name="Text 22"/>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Scope-only baseline</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The transparent baseline is one of the strongest findings.</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graphicFrame>
        <p:nvGraphicFramePr>
          <p:cNvPr id="5" name="Chart 0" descr=""/>
          <p:cNvGraphicFramePr/>
          <p:nvPr/>
        </p:nvGraphicFramePr>
        <p:xfrm>
          <a:off x="822960" y="141732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360920" y="1417320"/>
            <a:ext cx="3931920" cy="3246120"/>
          </a:xfrm>
          <a:prstGeom prst="roundRect">
            <a:avLst>
              <a:gd name="adj" fmla="val 1690"/>
            </a:avLst>
          </a:prstGeom>
          <a:solidFill>
            <a:srgbClr val="F7F1E7"/>
          </a:solidFill>
          <a:ln w="10160">
            <a:solidFill>
              <a:srgbClr val="D9DEE5"/>
            </a:solidFill>
            <a:prstDash val="solid"/>
          </a:ln>
        </p:spPr>
        <p:txBody>
          <a:bodyPr/>
          <a:p/>
        </p:txBody>
      </p:sp>
      <p:sp>
        <p:nvSpPr>
          <p:cNvPr id="7" name="Text 4"/>
          <p:cNvSpPr/>
          <p:nvPr/>
        </p:nvSpPr>
        <p:spPr>
          <a:xfrm>
            <a:off x="7498080" y="1536192"/>
            <a:ext cx="3657600" cy="256032"/>
          </a:xfrm>
          <a:prstGeom prst="rect">
            <a:avLst/>
          </a:prstGeom>
          <a:noFill/>
          <a:ln/>
        </p:spPr>
        <p:txBody>
          <a:bodyPr wrap="square" lIns="0" tIns="0" rIns="0" bIns="0" rtlCol="0" anchor="ctr"/>
          <a:lstStyle/>
          <a:p>
            <a:pPr indent="0" marL="0">
              <a:buNone/>
            </a:pPr>
            <a:r>
              <a:rPr lang="en-US" sz="1200" b="1" dirty="0">
                <a:solidFill>
                  <a:srgbClr val="6B1230"/>
                </a:solidFill>
              </a:rPr>
              <a:t>Interpretation</a:t>
            </a:r>
            <a:endParaRPr lang="en-US" sz="1200" dirty="0"/>
          </a:p>
        </p:txBody>
      </p:sp>
      <p:sp>
        <p:nvSpPr>
          <p:cNvPr id="8" name="Text 5"/>
          <p:cNvSpPr/>
          <p:nvPr/>
        </p:nvSpPr>
        <p:spPr>
          <a:xfrm>
            <a:off x="7498080" y="1856232"/>
            <a:ext cx="3657600" cy="27157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For nonempty-sprint spillover, a transparent scope-only logistic model ranks risk at least as well as the heavier RF model by AUC. The contribution is therefore not “complex ML is always better.” It is that careful reconstruction reveals what signal is really present.</a:t>
            </a:r>
            <a:endParaRPr lang="en-US" sz="1000" dirty="0"/>
          </a:p>
        </p:txBody>
      </p:sp>
      <p:sp>
        <p:nvSpPr>
          <p:cNvPr id="9" name="Text 6"/>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10" name="Text 7"/>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Uncertainty and stability</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The broad pattern is stable, but the uncertainty is visible.</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sp>
        <p:nvSpPr>
          <p:cNvPr id="5" name="Shape 3"/>
          <p:cNvSpPr/>
          <p:nvPr/>
        </p:nvSpPr>
        <p:spPr>
          <a:xfrm>
            <a:off x="731520" y="1417320"/>
            <a:ext cx="3383280" cy="3017520"/>
          </a:xfrm>
          <a:prstGeom prst="roundRect">
            <a:avLst>
              <a:gd name="adj" fmla="val 1818"/>
            </a:avLst>
          </a:prstGeom>
          <a:solidFill>
            <a:srgbClr val="F4F5F7"/>
          </a:solidFill>
          <a:ln w="10160">
            <a:solidFill>
              <a:srgbClr val="D9DEE5"/>
            </a:solidFill>
            <a:prstDash val="solid"/>
          </a:ln>
        </p:spPr>
        <p:txBody>
          <a:bodyPr/>
          <a:p/>
        </p:txBody>
      </p:sp>
      <p:sp>
        <p:nvSpPr>
          <p:cNvPr id="6" name="Text 4"/>
          <p:cNvSpPr/>
          <p:nvPr/>
        </p:nvSpPr>
        <p:spPr>
          <a:xfrm>
            <a:off x="868680" y="153619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Late closure RF</a:t>
            </a:r>
            <a:endParaRPr lang="en-US" sz="1200" dirty="0"/>
          </a:p>
        </p:txBody>
      </p:sp>
      <p:sp>
        <p:nvSpPr>
          <p:cNvPr id="7" name="Text 5"/>
          <p:cNvSpPr/>
          <p:nvPr/>
        </p:nvSpPr>
        <p:spPr>
          <a:xfrm>
            <a:off x="868680" y="1856232"/>
            <a:ext cx="3108960" cy="24871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AUC .705</a:t>
            </a:r>
            <a:endParaRPr lang="en-US" sz="1000" dirty="0"/>
          </a:p>
          <a:p>
            <a:pPr indent="0" marL="0">
              <a:buNone/>
            </a:pPr>
            <a:r>
              <a:rPr lang="en-US" sz="1000" dirty="0">
                <a:solidFill>
                  <a:srgbClr val="1F2933"/>
                </a:solidFill>
              </a:rPr>
              <a:t>Cluster 95% CI: .596-.786</a:t>
            </a:r>
            <a:endParaRPr lang="en-US" sz="1000" dirty="0"/>
          </a:p>
          <a:p>
            <a:pPr indent="0" marL="0">
              <a:buNone/>
            </a:pPr>
            <a:r>
              <a:rPr lang="en-US" sz="1000" dirty="0">
                <a:solidFill>
                  <a:srgbClr val="1F2933"/>
                </a:solidFill>
              </a:rPr>
              <a:t>Rolling split AUC: .669-.711</a:t>
            </a:r>
            <a:endParaRPr lang="en-US" sz="1000" dirty="0"/>
          </a:p>
        </p:txBody>
      </p:sp>
      <p:sp>
        <p:nvSpPr>
          <p:cNvPr id="8" name="Shape 6"/>
          <p:cNvSpPr/>
          <p:nvPr/>
        </p:nvSpPr>
        <p:spPr>
          <a:xfrm>
            <a:off x="4389120" y="1417320"/>
            <a:ext cx="3383280" cy="3017520"/>
          </a:xfrm>
          <a:prstGeom prst="roundRect">
            <a:avLst>
              <a:gd name="adj" fmla="val 1818"/>
            </a:avLst>
          </a:prstGeom>
          <a:solidFill>
            <a:srgbClr val="F7F1E7"/>
          </a:solidFill>
          <a:ln w="10160">
            <a:solidFill>
              <a:srgbClr val="D9DEE5"/>
            </a:solidFill>
            <a:prstDash val="solid"/>
          </a:ln>
        </p:spPr>
        <p:txBody>
          <a:bodyPr/>
          <a:p/>
        </p:txBody>
      </p:sp>
      <p:sp>
        <p:nvSpPr>
          <p:cNvPr id="9" name="Text 7"/>
          <p:cNvSpPr/>
          <p:nvPr/>
        </p:nvSpPr>
        <p:spPr>
          <a:xfrm>
            <a:off x="4526280" y="153619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Nonempty spillover RF</a:t>
            </a:r>
            <a:endParaRPr lang="en-US" sz="1200" dirty="0"/>
          </a:p>
        </p:txBody>
      </p:sp>
      <p:sp>
        <p:nvSpPr>
          <p:cNvPr id="10" name="Text 8"/>
          <p:cNvSpPr/>
          <p:nvPr/>
        </p:nvSpPr>
        <p:spPr>
          <a:xfrm>
            <a:off x="4526280" y="1856232"/>
            <a:ext cx="3108960" cy="24871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AUC .852</a:t>
            </a:r>
            <a:endParaRPr lang="en-US" sz="1000" dirty="0"/>
          </a:p>
          <a:p>
            <a:pPr indent="0" marL="0">
              <a:buNone/>
            </a:pPr>
            <a:r>
              <a:rPr lang="en-US" sz="1000" dirty="0">
                <a:solidFill>
                  <a:srgbClr val="1F2933"/>
                </a:solidFill>
              </a:rPr>
              <a:t>Cluster 95% CI: .774-.911</a:t>
            </a:r>
            <a:endParaRPr lang="en-US" sz="1000" dirty="0"/>
          </a:p>
          <a:p>
            <a:pPr indent="0" marL="0">
              <a:buNone/>
            </a:pPr>
            <a:r>
              <a:rPr lang="en-US" sz="1000" dirty="0">
                <a:solidFill>
                  <a:srgbClr val="1F2933"/>
                </a:solidFill>
              </a:rPr>
              <a:t>Meaningful but not perfect</a:t>
            </a:r>
            <a:endParaRPr lang="en-US" sz="1000" dirty="0"/>
          </a:p>
        </p:txBody>
      </p:sp>
      <p:sp>
        <p:nvSpPr>
          <p:cNvPr id="11" name="Shape 9"/>
          <p:cNvSpPr/>
          <p:nvPr/>
        </p:nvSpPr>
        <p:spPr>
          <a:xfrm>
            <a:off x="8046720" y="1417320"/>
            <a:ext cx="3383280" cy="3017520"/>
          </a:xfrm>
          <a:prstGeom prst="roundRect">
            <a:avLst>
              <a:gd name="adj" fmla="val 1818"/>
            </a:avLst>
          </a:prstGeom>
          <a:solidFill>
            <a:srgbClr val="F4F5F7"/>
          </a:solidFill>
          <a:ln w="10160">
            <a:solidFill>
              <a:srgbClr val="D9DEE5"/>
            </a:solidFill>
            <a:prstDash val="solid"/>
          </a:ln>
        </p:spPr>
        <p:txBody>
          <a:bodyPr/>
          <a:p/>
        </p:txBody>
      </p:sp>
      <p:sp>
        <p:nvSpPr>
          <p:cNvPr id="12" name="Text 10"/>
          <p:cNvSpPr/>
          <p:nvPr/>
        </p:nvSpPr>
        <p:spPr>
          <a:xfrm>
            <a:off x="8183880" y="1536192"/>
            <a:ext cx="3108960" cy="256032"/>
          </a:xfrm>
          <a:prstGeom prst="rect">
            <a:avLst/>
          </a:prstGeom>
          <a:noFill/>
          <a:ln/>
        </p:spPr>
        <p:txBody>
          <a:bodyPr wrap="square" lIns="0" tIns="0" rIns="0" bIns="0" rtlCol="0" anchor="ctr"/>
          <a:lstStyle/>
          <a:p>
            <a:pPr indent="0" marL="0">
              <a:buNone/>
            </a:pPr>
            <a:r>
              <a:rPr lang="en-US" sz="1200" b="1" dirty="0">
                <a:solidFill>
                  <a:srgbClr val="6B1230"/>
                </a:solidFill>
              </a:rPr>
              <a:t>Cross-project transfer</a:t>
            </a:r>
            <a:endParaRPr lang="en-US" sz="1200" dirty="0"/>
          </a:p>
        </p:txBody>
      </p:sp>
      <p:sp>
        <p:nvSpPr>
          <p:cNvPr id="13" name="Text 11"/>
          <p:cNvSpPr/>
          <p:nvPr/>
        </p:nvSpPr>
        <p:spPr>
          <a:xfrm>
            <a:off x="8183880" y="1856232"/>
            <a:ext cx="3108960" cy="248716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LOPO reports project denominators and positives. Results vary, so deployment should be locally validated.</a:t>
            </a:r>
            <a:endParaRPr lang="en-US" sz="1000" dirty="0"/>
          </a:p>
        </p:txBody>
      </p:sp>
      <p:sp>
        <p:nvSpPr>
          <p:cNvPr id="14" name="Text 12"/>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15" name="Text 13"/>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Where the evidence stops</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The repository history supports ranking, not a claim of deployment benefit.</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sp>
        <p:nvSpPr>
          <p:cNvPr id="5" name="Text 3"/>
          <p:cNvSpPr/>
          <p:nvPr/>
        </p:nvSpPr>
        <p:spPr>
          <a:xfrm>
            <a:off x="822960" y="1417320"/>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Late closure is a Jira closure proxy, not direct proof of late work.</a:t>
            </a:r>
            <a:endParaRPr lang="en-US" sz="1200" dirty="0"/>
          </a:p>
        </p:txBody>
      </p:sp>
      <p:sp>
        <p:nvSpPr>
          <p:cNvPr id="6" name="Text 4"/>
          <p:cNvSpPr/>
          <p:nvPr/>
        </p:nvSpPr>
        <p:spPr>
          <a:xfrm>
            <a:off x="822960" y="1810512"/>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Zero-scope sprints make full-population spillover easier.</a:t>
            </a:r>
            <a:endParaRPr lang="en-US" sz="1200" dirty="0"/>
          </a:p>
        </p:txBody>
      </p:sp>
      <p:sp>
        <p:nvSpPr>
          <p:cNvPr id="7" name="Text 5"/>
          <p:cNvSpPr/>
          <p:nvPr/>
        </p:nvSpPr>
        <p:spPr>
          <a:xfrm>
            <a:off x="822960" y="2203704"/>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Static fallback is an identification assumption when Sprint or Story Points history is missing.</a:t>
            </a:r>
            <a:endParaRPr lang="en-US" sz="1200" dirty="0"/>
          </a:p>
        </p:txBody>
      </p:sp>
      <p:sp>
        <p:nvSpPr>
          <p:cNvPr id="8" name="Text 6"/>
          <p:cNvSpPr/>
          <p:nvPr/>
        </p:nvSpPr>
        <p:spPr>
          <a:xfrm>
            <a:off x="822960" y="2596896"/>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LOPO uses local historical features from the held-out project.</a:t>
            </a:r>
            <a:endParaRPr lang="en-US" sz="1200" dirty="0"/>
          </a:p>
        </p:txBody>
      </p:sp>
      <p:sp>
        <p:nvSpPr>
          <p:cNvPr id="9" name="Text 7"/>
          <p:cNvSpPr/>
          <p:nvPr/>
        </p:nvSpPr>
        <p:spPr>
          <a:xfrm>
            <a:off x="822960" y="2990088"/>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A prospective study is needed before claiming that showing scores improves planning decisions.</a:t>
            </a:r>
            <a:endParaRPr lang="en-US" sz="1200" dirty="0"/>
          </a:p>
        </p:txBody>
      </p:sp>
      <p:sp>
        <p:nvSpPr>
          <p:cNvPr id="10" name="Shape 8"/>
          <p:cNvSpPr/>
          <p:nvPr/>
        </p:nvSpPr>
        <p:spPr>
          <a:xfrm>
            <a:off x="7132320" y="1828800"/>
            <a:ext cx="4023360" cy="2468880"/>
          </a:xfrm>
          <a:prstGeom prst="roundRect">
            <a:avLst>
              <a:gd name="adj" fmla="val 2222"/>
            </a:avLst>
          </a:prstGeom>
          <a:solidFill>
            <a:srgbClr val="F7F1E7"/>
          </a:solidFill>
          <a:ln w="10160">
            <a:solidFill>
              <a:srgbClr val="D9DEE5"/>
            </a:solidFill>
            <a:prstDash val="solid"/>
          </a:ln>
        </p:spPr>
        <p:txBody>
          <a:bodyPr/>
          <a:p/>
        </p:txBody>
      </p:sp>
      <p:sp>
        <p:nvSpPr>
          <p:cNvPr id="11" name="Text 9"/>
          <p:cNvSpPr/>
          <p:nvPr/>
        </p:nvSpPr>
        <p:spPr>
          <a:xfrm>
            <a:off x="7269480" y="1947672"/>
            <a:ext cx="3749040" cy="256032"/>
          </a:xfrm>
          <a:prstGeom prst="rect">
            <a:avLst/>
          </a:prstGeom>
          <a:noFill/>
          <a:ln/>
        </p:spPr>
        <p:txBody>
          <a:bodyPr wrap="square" lIns="0" tIns="0" rIns="0" bIns="0" rtlCol="0" anchor="ctr"/>
          <a:lstStyle/>
          <a:p>
            <a:pPr indent="0" marL="0">
              <a:buNone/>
            </a:pPr>
            <a:r>
              <a:rPr lang="en-US" sz="1200" b="1" dirty="0">
                <a:solidFill>
                  <a:srgbClr val="6B1230"/>
                </a:solidFill>
              </a:rPr>
              <a:t>Safe conclusion</a:t>
            </a:r>
            <a:endParaRPr lang="en-US" sz="1200" dirty="0"/>
          </a:p>
        </p:txBody>
      </p:sp>
      <p:sp>
        <p:nvSpPr>
          <p:cNvPr id="12" name="Text 10"/>
          <p:cNvSpPr/>
          <p:nvPr/>
        </p:nvSpPr>
        <p:spPr>
          <a:xfrm>
            <a:off x="7269480" y="2267712"/>
            <a:ext cx="3749040" cy="1938528"/>
          </a:xfrm>
          <a:prstGeom prst="rect">
            <a:avLst/>
          </a:prstGeom>
          <a:noFill/>
          <a:ln/>
        </p:spPr>
        <p:txBody>
          <a:bodyPr wrap="square" lIns="254" tIns="254" rIns="254" bIns="254" rtlCol="0" anchor="ctr">
            <a:normAutofit/>
          </a:bodyPr>
          <a:lstStyle/>
          <a:p>
            <a:pPr indent="0" marL="0">
              <a:buNone/>
            </a:pPr>
            <a:r>
              <a:rPr lang="en-US" sz="1000" dirty="0">
                <a:solidFill>
                  <a:srgbClr val="1F2933"/>
                </a:solidFill>
              </a:rPr>
              <a:t>Reconstructed sprint-start data contain useful risk-ranking signal, especially for unfinished scope. The model is not presented as a deployment-ready decision system.</a:t>
            </a:r>
            <a:endParaRPr lang="en-US" sz="1000" dirty="0"/>
          </a:p>
        </p:txBody>
      </p:sp>
      <p:sp>
        <p:nvSpPr>
          <p:cNvPr id="13" name="Text 11"/>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14" name="Text 12"/>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pPr indent="0" marL="0">
              <a:buNone/>
            </a:pPr>
            <a:r>
              <a:rPr lang="en-US" sz="2500" b="1" dirty="0">
                <a:solidFill>
                  <a:srgbClr val="6B1230"/>
                </a:solidFill>
                <a:latin typeface="Aptos Display" pitchFamily="34" charset="0"/>
                <a:ea typeface="Aptos Display" pitchFamily="34" charset="-122"/>
                <a:cs typeface="Aptos Display" pitchFamily="34" charset="-120"/>
              </a:rPr>
              <a:t>Reproducible research package</a:t>
            </a:r>
            <a:endParaRPr lang="en-US" sz="2500" dirty="0"/>
          </a:p>
        </p:txBody>
      </p:sp>
      <p:sp>
        <p:nvSpPr>
          <p:cNvPr id="3" name="Text 1"/>
          <p:cNvSpPr/>
          <p:nvPr/>
        </p:nvSpPr>
        <p:spPr>
          <a:xfrm>
            <a:off x="530352" y="777240"/>
            <a:ext cx="6858000" cy="274320"/>
          </a:xfrm>
          <a:prstGeom prst="rect">
            <a:avLst/>
          </a:prstGeom>
          <a:noFill/>
          <a:ln/>
        </p:spPr>
        <p:txBody>
          <a:bodyPr wrap="square" lIns="0" tIns="0" rIns="0" bIns="0" rtlCol="0" anchor="ctr"/>
          <a:lstStyle/>
          <a:p>
            <a:pPr indent="0" marL="0">
              <a:buNone/>
            </a:pPr>
            <a:r>
              <a:rPr lang="en-US" sz="1100" dirty="0">
                <a:solidFill>
                  <a:srgbClr val="666666"/>
                </a:solidFill>
              </a:rPr>
              <a:t>The papers, result files, code, and teaching documents point to the same saved outputs.</a:t>
            </a:r>
            <a:endParaRPr lang="en-US" sz="1100" dirty="0"/>
          </a:p>
        </p:txBody>
      </p:sp>
      <p:sp>
        <p:nvSpPr>
          <p:cNvPr id="4" name="Shape 2"/>
          <p:cNvSpPr/>
          <p:nvPr/>
        </p:nvSpPr>
        <p:spPr>
          <a:xfrm>
            <a:off x="502920" y="1069848"/>
            <a:ext cx="11109960" cy="0"/>
          </a:xfrm>
          <a:prstGeom prst="line">
            <a:avLst/>
          </a:prstGeom>
          <a:noFill/>
          <a:ln w="13970">
            <a:solidFill>
              <a:srgbClr val="B08A00"/>
            </a:solidFill>
            <a:prstDash val="solid"/>
          </a:ln>
        </p:spPr>
        <p:txBody>
          <a:bodyPr/>
          <a:p/>
        </p:txBody>
      </p:sp>
      <p:sp>
        <p:nvSpPr>
          <p:cNvPr id="5" name="Text 3"/>
          <p:cNvSpPr/>
          <p:nvPr/>
        </p:nvSpPr>
        <p:spPr>
          <a:xfrm>
            <a:off x="914400" y="1417320"/>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6-page conference paper and supporting analysis package</a:t>
            </a:r>
            <a:endParaRPr lang="en-US" sz="1200" dirty="0"/>
          </a:p>
        </p:txBody>
      </p:sp>
      <p:sp>
        <p:nvSpPr>
          <p:cNvPr id="6" name="Text 4"/>
          <p:cNvSpPr/>
          <p:nvPr/>
        </p:nvSpPr>
        <p:spPr>
          <a:xfrm>
            <a:off x="914400" y="1810512"/>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Week 14 results analysis and independent reproduction guide</a:t>
            </a:r>
            <a:endParaRPr lang="en-US" sz="1200" dirty="0"/>
          </a:p>
        </p:txBody>
      </p:sp>
      <p:sp>
        <p:nvSpPr>
          <p:cNvPr id="7" name="Text 5"/>
          <p:cNvSpPr/>
          <p:nvPr/>
        </p:nvSpPr>
        <p:spPr>
          <a:xfrm>
            <a:off x="914400" y="2203704"/>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Python code, tests, result CSV/JSON files, and version lock</a:t>
            </a:r>
            <a:endParaRPr lang="en-US" sz="1200" dirty="0"/>
          </a:p>
        </p:txBody>
      </p:sp>
      <p:sp>
        <p:nvSpPr>
          <p:cNvPr id="8" name="Text 6"/>
          <p:cNvSpPr/>
          <p:nvPr/>
        </p:nvSpPr>
        <p:spPr>
          <a:xfrm>
            <a:off x="914400" y="2596896"/>
            <a:ext cx="5303520" cy="320040"/>
          </a:xfrm>
          <a:prstGeom prst="rect">
            <a:avLst/>
          </a:prstGeom>
          <a:noFill/>
          <a:ln/>
        </p:spPr>
        <p:txBody>
          <a:bodyPr wrap="square" lIns="0" tIns="0" rIns="0" bIns="0" rtlCol="0" anchor="ctr">
            <a:normAutofit/>
          </a:bodyPr>
          <a:lstStyle/>
          <a:p>
            <a:r>
              <a:t>• Beginner learning guide and rebuild-from-scratch manual</a:t>
            </a:r>
          </a:p>
        </p:txBody>
      </p:sp>
      <p:sp>
        <p:nvSpPr>
          <p:cNvPr id="9" name="Text 7"/>
          <p:cNvSpPr/>
          <p:nvPr/>
        </p:nvSpPr>
        <p:spPr>
          <a:xfrm>
            <a:off x="914400" y="2990088"/>
            <a:ext cx="5303520" cy="320040"/>
          </a:xfrm>
          <a:prstGeom prst="rect">
            <a:avLst/>
          </a:prstGeom>
          <a:noFill/>
          <a:ln/>
        </p:spPr>
        <p:txBody>
          <a:bodyPr wrap="square" lIns="0" tIns="0" rIns="0" bIns="0" rtlCol="0" anchor="ctr">
            <a:normAutofit/>
          </a:bodyPr>
          <a:lstStyle/>
          <a:p>
            <a:pPr indent="0" marL="0">
              <a:buNone/>
            </a:pPr>
            <a:r>
              <a:rPr lang="en-US" sz="1200" dirty="0">
                <a:solidFill>
                  <a:srgbClr val="1F2933"/>
                </a:solidFill>
              </a:rPr>
              <a:t>• Presentation using the same headline metrics as the manuscripts</a:t>
            </a:r>
            <a:endParaRPr lang="en-US" sz="1200" dirty="0"/>
          </a:p>
        </p:txBody>
      </p:sp>
      <p:sp>
        <p:nvSpPr>
          <p:cNvPr id="10" name="Text 8"/>
          <p:cNvSpPr/>
          <p:nvPr/>
        </p:nvSpPr>
        <p:spPr>
          <a:xfrm>
            <a:off x="914400" y="5074920"/>
            <a:ext cx="10241280" cy="384048"/>
          </a:xfrm>
          <a:prstGeom prst="rect">
            <a:avLst/>
          </a:prstGeom>
          <a:noFill/>
          <a:ln/>
        </p:spPr>
        <p:txBody>
          <a:bodyPr wrap="square" lIns="0" tIns="0" rIns="0" bIns="0" rtlCol="0" anchor="ctr"/>
          <a:lstStyle/>
          <a:p>
            <a:pPr algn="ctr" indent="0" marL="0">
              <a:buNone/>
            </a:pPr>
            <a:r>
              <a:rPr lang="en-US" sz="1500" b="1" dirty="0">
                <a:solidFill>
                  <a:srgbClr val="6B1230"/>
                </a:solidFill>
              </a:rPr>
              <a:t>Use the Week 12 project folder to rerun the analysis.</a:t>
            </a:r>
            <a:endParaRPr lang="en-US" sz="1500" dirty="0"/>
          </a:p>
        </p:txBody>
      </p:sp>
      <p:sp>
        <p:nvSpPr>
          <p:cNvPr id="11" name="Text 9"/>
          <p:cNvSpPr/>
          <p:nvPr/>
        </p:nvSpPr>
        <p:spPr>
          <a:xfrm>
            <a:off x="502920" y="6510528"/>
            <a:ext cx="5943600" cy="164592"/>
          </a:xfrm>
          <a:prstGeom prst="rect">
            <a:avLst/>
          </a:prstGeom>
          <a:noFill/>
          <a:ln/>
        </p:spPr>
        <p:txBody>
          <a:bodyPr wrap="square" lIns="0" tIns="0" rIns="0" bIns="0" rtlCol="0" anchor="ctr"/>
          <a:lstStyle/>
          <a:p>
            <a:pPr indent="0" marL="0">
              <a:buNone/>
            </a:pPr>
            <a:r>
              <a:rPr lang="en-US" sz="700" dirty="0">
                <a:solidFill>
                  <a:srgbClr val="888888"/>
                </a:solidFill>
              </a:rPr>
              <a:t>Sprint analytics | TAWOS</a:t>
            </a:r>
            <a:endParaRPr lang="en-US" sz="700" dirty="0"/>
          </a:p>
        </p:txBody>
      </p:sp>
      <p:sp>
        <p:nvSpPr>
          <p:cNvPr id="12" name="Text 10"/>
          <p:cNvSpPr/>
          <p:nvPr/>
        </p:nvSpPr>
        <p:spPr>
          <a:xfrm>
            <a:off x="11247120" y="6473952"/>
            <a:ext cx="365760" cy="182880"/>
          </a:xfrm>
          <a:prstGeom prst="rect">
            <a:avLst/>
          </a:prstGeom>
          <a:noFill/>
          <a:ln/>
        </p:spPr>
        <p:txBody>
          <a:bodyPr wrap="square" lIns="0" tIns="0" rIns="0" bIns="0" rtlCol="0" anchor="ctr"/>
          <a:lstStyle/>
          <a:p>
            <a:pPr algn="r" indent="0" marL="0">
              <a:buNone/>
            </a:pPr>
            <a:r>
              <a:rPr lang="en-US" sz="800" dirty="0">
                <a:solidFill>
                  <a:srgbClr val="888888"/>
                </a:solidFill>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Higher Colleges of Technology / UAEU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Sprint Risk Prediction in Scrum</dc:title>
  <dc:subject>Sprint risk prediction</dc:subject>
  <dc:creator>Hani AbuSharkh</dc:creator>
  <cp:lastModifiedBy>Hani AbuSharkh</cp:lastModifiedBy>
  <cp:revision>1</cp:revision>
  <dcterms:created xsi:type="dcterms:W3CDTF">2026-09-14T06:15:21Z</dcterms:created>
  <dcterms:modified xsi:type="dcterms:W3CDTF">2026-09-14T06:15:21Z</dcterms:modified>
</cp:coreProperties>
</file>