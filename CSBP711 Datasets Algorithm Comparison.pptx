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63" d="100"/>
          <a:sy n="63" d="100"/>
        </p:scale>
        <p:origin x="780" y="-1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9857232" y="256032"/>
            <a:ext cx="1700784" cy="347472"/>
          </a:xfrm>
          <a:prstGeom prst="rect">
            <a:avLst/>
          </a:prstGeom>
        </p:spPr>
      </p:pic>
      <p:sp>
        <p:nvSpPr>
          <p:cNvPr id="3" name="TextBox 2"/>
          <p:cNvSpPr txBox="1"/>
          <p:nvPr/>
        </p:nvSpPr>
        <p:spPr>
          <a:xfrm>
            <a:off x="502920" y="164592"/>
            <a:ext cx="8869680" cy="438912"/>
          </a:xfrm>
          <a:prstGeom prst="rect">
            <a:avLst/>
          </a:prstGeom>
          <a:noFill/>
        </p:spPr>
        <p:txBody>
          <a:bodyPr wrap="square" anchor="ctr">
            <a:spAutoFit/>
          </a:bodyPr>
          <a:lstStyle/>
          <a:p>
            <a:pPr algn="l"/>
            <a:r>
              <a:rPr sz="2400" b="1" dirty="0">
                <a:solidFill>
                  <a:srgbClr val="1E2732"/>
                </a:solidFill>
                <a:latin typeface="Aptos"/>
              </a:rPr>
              <a:t>Dataset &amp; Research Story</a:t>
            </a:r>
          </a:p>
        </p:txBody>
      </p:sp>
      <p:sp>
        <p:nvSpPr>
          <p:cNvPr id="4" name="TextBox 3"/>
          <p:cNvSpPr txBox="1"/>
          <p:nvPr/>
        </p:nvSpPr>
        <p:spPr>
          <a:xfrm>
            <a:off x="521206" y="542282"/>
            <a:ext cx="9835577" cy="369332"/>
          </a:xfrm>
          <a:prstGeom prst="rect">
            <a:avLst/>
          </a:prstGeom>
          <a:noFill/>
        </p:spPr>
        <p:txBody>
          <a:bodyPr wrap="square" anchor="ctr">
            <a:spAutoFit/>
          </a:bodyPr>
          <a:lstStyle/>
          <a:p>
            <a:r>
              <a:rPr lang="en-US" b="1" dirty="0"/>
              <a:t>Predicting Late Sprint Closure and Unfinished Committed Scope from Reconstructed Jira Histories</a:t>
            </a:r>
            <a:endParaRPr b="1" dirty="0">
              <a:solidFill>
                <a:srgbClr val="545C67"/>
              </a:solidFill>
              <a:latin typeface="Aptos"/>
            </a:endParaRPr>
          </a:p>
        </p:txBody>
      </p:sp>
      <p:sp>
        <p:nvSpPr>
          <p:cNvPr id="5" name="Rectangle 4"/>
          <p:cNvSpPr/>
          <p:nvPr/>
        </p:nvSpPr>
        <p:spPr>
          <a:xfrm>
            <a:off x="0" y="932688"/>
            <a:ext cx="12191695" cy="32004"/>
          </a:xfrm>
          <a:prstGeom prst="rect">
            <a:avLst/>
          </a:prstGeom>
          <a:solidFill>
            <a:srgbClr val="123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234440"/>
            <a:ext cx="1417320" cy="310896"/>
          </a:xfrm>
          <a:prstGeom prst="roundRect">
            <a:avLst/>
          </a:prstGeom>
          <a:solidFill>
            <a:srgbClr val="E114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234440"/>
            <a:ext cx="1417320" cy="310896"/>
          </a:xfrm>
          <a:prstGeom prst="rect">
            <a:avLst/>
          </a:prstGeom>
          <a:noFill/>
        </p:spPr>
        <p:txBody>
          <a:bodyPr wrap="square" anchor="ctr">
            <a:spAutoFit/>
          </a:bodyPr>
          <a:lstStyle/>
          <a:p>
            <a:pPr algn="ctr"/>
            <a:r>
              <a:rPr sz="1000" b="1" dirty="0">
                <a:solidFill>
                  <a:srgbClr val="FFFFFF"/>
                </a:solidFill>
                <a:latin typeface="Aptos"/>
              </a:rPr>
              <a:t>TAWOS DATASET</a:t>
            </a:r>
          </a:p>
        </p:txBody>
      </p:sp>
      <p:sp>
        <p:nvSpPr>
          <p:cNvPr id="8" name="TextBox 7"/>
          <p:cNvSpPr txBox="1"/>
          <p:nvPr/>
        </p:nvSpPr>
        <p:spPr>
          <a:xfrm>
            <a:off x="566928" y="1627632"/>
            <a:ext cx="5532120" cy="621792"/>
          </a:xfrm>
          <a:prstGeom prst="rect">
            <a:avLst/>
          </a:prstGeom>
          <a:noFill/>
        </p:spPr>
        <p:txBody>
          <a:bodyPr wrap="square" anchor="ctr">
            <a:spAutoFit/>
          </a:bodyPr>
          <a:lstStyle/>
          <a:p>
            <a:pPr algn="l"/>
            <a:r>
              <a:rPr sz="2400" b="1">
                <a:solidFill>
                  <a:srgbClr val="123356"/>
                </a:solidFill>
                <a:latin typeface="Aptos"/>
              </a:rPr>
              <a:t>Can planning-time Jira data reveal which sprints will struggle?</a:t>
            </a:r>
          </a:p>
        </p:txBody>
      </p:sp>
      <p:sp>
        <p:nvSpPr>
          <p:cNvPr id="9" name="TextBox 8"/>
          <p:cNvSpPr txBox="1"/>
          <p:nvPr/>
        </p:nvSpPr>
        <p:spPr>
          <a:xfrm>
            <a:off x="566928" y="2324129"/>
            <a:ext cx="5440680" cy="2062103"/>
          </a:xfrm>
          <a:prstGeom prst="rect">
            <a:avLst/>
          </a:prstGeom>
          <a:noFill/>
        </p:spPr>
        <p:txBody>
          <a:bodyPr wrap="square" anchor="ctr">
            <a:spAutoFit/>
          </a:bodyPr>
          <a:lstStyle/>
          <a:p>
            <a:r>
              <a:rPr lang="en-US" sz="1600" dirty="0"/>
              <a:t>TAWOS is a public dataset of Agile open-source software projects collected from Jira repositories. We selected eight projects because the dataset directly supports our research on predicting late sprint closure and unfinished committed scope from information available at Sprint Planning.</a:t>
            </a:r>
          </a:p>
          <a:p>
            <a:endParaRPr lang="en-US" sz="1600" dirty="0"/>
          </a:p>
          <a:p>
            <a:r>
              <a:rPr lang="en-US" sz="1600" b="1" dirty="0"/>
              <a:t>The key challenge:</a:t>
            </a:r>
            <a:r>
              <a:rPr lang="en-US" sz="1600" dirty="0"/>
              <a:t> reconstructing what the team actually knew at sprint start without using future information.</a:t>
            </a:r>
            <a:endParaRPr sz="1500" b="0" dirty="0">
              <a:solidFill>
                <a:srgbClr val="1E2732"/>
              </a:solidFill>
              <a:latin typeface="Aptos"/>
            </a:endParaRPr>
          </a:p>
        </p:txBody>
      </p:sp>
      <p:sp>
        <p:nvSpPr>
          <p:cNvPr id="10" name="Rounded Rectangle 9"/>
          <p:cNvSpPr/>
          <p:nvPr/>
        </p:nvSpPr>
        <p:spPr>
          <a:xfrm>
            <a:off x="640080" y="4617720"/>
            <a:ext cx="1645920" cy="960120"/>
          </a:xfrm>
          <a:prstGeom prst="roundRect">
            <a:avLst/>
          </a:prstGeom>
          <a:solidFill>
            <a:srgbClr val="FFFFFF"/>
          </a:solidFill>
          <a:ln w="10160">
            <a:solidFill>
              <a:srgbClr val="DD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4617720"/>
            <a:ext cx="73152" cy="960120"/>
          </a:xfrm>
          <a:prstGeom prst="rect">
            <a:avLst/>
          </a:prstGeom>
          <a:solidFill>
            <a:srgbClr val="E114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4727448"/>
            <a:ext cx="1371600" cy="384048"/>
          </a:xfrm>
          <a:prstGeom prst="rect">
            <a:avLst/>
          </a:prstGeom>
          <a:noFill/>
        </p:spPr>
        <p:txBody>
          <a:bodyPr wrap="square" anchor="ctr">
            <a:spAutoFit/>
          </a:bodyPr>
          <a:lstStyle/>
          <a:p>
            <a:pPr algn="l"/>
            <a:r>
              <a:rPr sz="2400" b="1">
                <a:solidFill>
                  <a:srgbClr val="E11421"/>
                </a:solidFill>
                <a:latin typeface="Aptos"/>
              </a:rPr>
              <a:t>2,657</a:t>
            </a:r>
          </a:p>
        </p:txBody>
      </p:sp>
      <p:sp>
        <p:nvSpPr>
          <p:cNvPr id="13" name="TextBox 12"/>
          <p:cNvSpPr txBox="1"/>
          <p:nvPr/>
        </p:nvSpPr>
        <p:spPr>
          <a:xfrm>
            <a:off x="822960" y="5138928"/>
            <a:ext cx="1371600" cy="228600"/>
          </a:xfrm>
          <a:prstGeom prst="rect">
            <a:avLst/>
          </a:prstGeom>
          <a:noFill/>
        </p:spPr>
        <p:txBody>
          <a:bodyPr wrap="square" anchor="ctr">
            <a:spAutoFit/>
          </a:bodyPr>
          <a:lstStyle/>
          <a:p>
            <a:pPr algn="l"/>
            <a:r>
              <a:rPr sz="1100" b="1">
                <a:solidFill>
                  <a:srgbClr val="1E2732"/>
                </a:solidFill>
                <a:latin typeface="Aptos"/>
              </a:rPr>
              <a:t>original sprint records</a:t>
            </a:r>
          </a:p>
        </p:txBody>
      </p:sp>
      <p:sp>
        <p:nvSpPr>
          <p:cNvPr id="14" name="Rounded Rectangle 13"/>
          <p:cNvSpPr/>
          <p:nvPr/>
        </p:nvSpPr>
        <p:spPr>
          <a:xfrm>
            <a:off x="2423160" y="4617720"/>
            <a:ext cx="1645920" cy="960120"/>
          </a:xfrm>
          <a:prstGeom prst="roundRect">
            <a:avLst/>
          </a:prstGeom>
          <a:solidFill>
            <a:srgbClr val="FFFFFF"/>
          </a:solidFill>
          <a:ln w="10160">
            <a:solidFill>
              <a:srgbClr val="DD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423160" y="4617720"/>
            <a:ext cx="73152" cy="960120"/>
          </a:xfrm>
          <a:prstGeom prst="rect">
            <a:avLst/>
          </a:prstGeom>
          <a:solidFill>
            <a:srgbClr val="123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606040" y="4727448"/>
            <a:ext cx="1371600" cy="384048"/>
          </a:xfrm>
          <a:prstGeom prst="rect">
            <a:avLst/>
          </a:prstGeom>
          <a:noFill/>
        </p:spPr>
        <p:txBody>
          <a:bodyPr wrap="square" anchor="ctr">
            <a:spAutoFit/>
          </a:bodyPr>
          <a:lstStyle/>
          <a:p>
            <a:pPr algn="l"/>
            <a:r>
              <a:rPr sz="2400" b="1">
                <a:solidFill>
                  <a:srgbClr val="123356"/>
                </a:solidFill>
                <a:latin typeface="Aptos"/>
              </a:rPr>
              <a:t>145,309</a:t>
            </a:r>
          </a:p>
        </p:txBody>
      </p:sp>
      <p:sp>
        <p:nvSpPr>
          <p:cNvPr id="17" name="TextBox 16"/>
          <p:cNvSpPr txBox="1"/>
          <p:nvPr/>
        </p:nvSpPr>
        <p:spPr>
          <a:xfrm>
            <a:off x="2606040" y="5138928"/>
            <a:ext cx="1371600" cy="228600"/>
          </a:xfrm>
          <a:prstGeom prst="rect">
            <a:avLst/>
          </a:prstGeom>
          <a:noFill/>
        </p:spPr>
        <p:txBody>
          <a:bodyPr wrap="square" anchor="ctr">
            <a:spAutoFit/>
          </a:bodyPr>
          <a:lstStyle/>
          <a:p>
            <a:pPr algn="l"/>
            <a:r>
              <a:rPr sz="1100" b="1">
                <a:solidFill>
                  <a:srgbClr val="1E2732"/>
                </a:solidFill>
                <a:latin typeface="Aptos"/>
              </a:rPr>
              <a:t>issues</a:t>
            </a:r>
          </a:p>
        </p:txBody>
      </p:sp>
      <p:sp>
        <p:nvSpPr>
          <p:cNvPr id="18" name="Rounded Rectangle 17"/>
          <p:cNvSpPr/>
          <p:nvPr/>
        </p:nvSpPr>
        <p:spPr>
          <a:xfrm>
            <a:off x="4206239" y="4617720"/>
            <a:ext cx="1645920" cy="960120"/>
          </a:xfrm>
          <a:prstGeom prst="roundRect">
            <a:avLst/>
          </a:prstGeom>
          <a:solidFill>
            <a:srgbClr val="FFFFFF"/>
          </a:solidFill>
          <a:ln w="10160">
            <a:solidFill>
              <a:srgbClr val="DD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206239" y="4617720"/>
            <a:ext cx="73152" cy="960120"/>
          </a:xfrm>
          <a:prstGeom prst="rect">
            <a:avLst/>
          </a:prstGeom>
          <a:solidFill>
            <a:srgbClr val="E114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389120" y="4727448"/>
            <a:ext cx="1371600" cy="384048"/>
          </a:xfrm>
          <a:prstGeom prst="rect">
            <a:avLst/>
          </a:prstGeom>
          <a:noFill/>
        </p:spPr>
        <p:txBody>
          <a:bodyPr wrap="square" anchor="ctr">
            <a:spAutoFit/>
          </a:bodyPr>
          <a:lstStyle/>
          <a:p>
            <a:pPr algn="l"/>
            <a:r>
              <a:rPr sz="2400" b="1">
                <a:solidFill>
                  <a:srgbClr val="E11421"/>
                </a:solidFill>
                <a:latin typeface="Aptos"/>
              </a:rPr>
              <a:t>8</a:t>
            </a:r>
          </a:p>
        </p:txBody>
      </p:sp>
      <p:sp>
        <p:nvSpPr>
          <p:cNvPr id="21" name="TextBox 20"/>
          <p:cNvSpPr txBox="1"/>
          <p:nvPr/>
        </p:nvSpPr>
        <p:spPr>
          <a:xfrm>
            <a:off x="4389120" y="5138928"/>
            <a:ext cx="1371600" cy="228600"/>
          </a:xfrm>
          <a:prstGeom prst="rect">
            <a:avLst/>
          </a:prstGeom>
          <a:noFill/>
        </p:spPr>
        <p:txBody>
          <a:bodyPr wrap="square" anchor="ctr">
            <a:spAutoFit/>
          </a:bodyPr>
          <a:lstStyle/>
          <a:p>
            <a:pPr algn="l"/>
            <a:r>
              <a:rPr sz="1100" b="1">
                <a:solidFill>
                  <a:srgbClr val="1E2732"/>
                </a:solidFill>
                <a:latin typeface="Aptos"/>
              </a:rPr>
              <a:t>open-source projects</a:t>
            </a:r>
          </a:p>
        </p:txBody>
      </p:sp>
      <p:sp>
        <p:nvSpPr>
          <p:cNvPr id="22" name="Rounded Rectangle 21"/>
          <p:cNvSpPr/>
          <p:nvPr/>
        </p:nvSpPr>
        <p:spPr>
          <a:xfrm>
            <a:off x="6355080" y="1298448"/>
            <a:ext cx="5257800" cy="4462272"/>
          </a:xfrm>
          <a:prstGeom prst="roundRect">
            <a:avLst/>
          </a:prstGeom>
          <a:solidFill>
            <a:srgbClr val="FFFFFF"/>
          </a:solidFill>
          <a:ln w="10160">
            <a:solidFill>
              <a:srgbClr val="DD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629400" y="1536192"/>
            <a:ext cx="4480560" cy="347472"/>
          </a:xfrm>
          <a:prstGeom prst="rect">
            <a:avLst/>
          </a:prstGeom>
          <a:noFill/>
        </p:spPr>
        <p:txBody>
          <a:bodyPr wrap="square" anchor="ctr">
            <a:spAutoFit/>
          </a:bodyPr>
          <a:lstStyle/>
          <a:p>
            <a:pPr algn="l"/>
            <a:r>
              <a:rPr sz="2000" b="1">
                <a:solidFill>
                  <a:srgbClr val="1E2732"/>
                </a:solidFill>
                <a:latin typeface="Aptos"/>
              </a:rPr>
              <a:t>Two prediction tasks</a:t>
            </a:r>
          </a:p>
        </p:txBody>
      </p:sp>
      <p:sp>
        <p:nvSpPr>
          <p:cNvPr id="24" name="Oval 23"/>
          <p:cNvSpPr/>
          <p:nvPr/>
        </p:nvSpPr>
        <p:spPr>
          <a:xfrm>
            <a:off x="6656832" y="2075688"/>
            <a:ext cx="530352" cy="530352"/>
          </a:xfrm>
          <a:prstGeom prst="ellipse">
            <a:avLst/>
          </a:prstGeom>
          <a:solidFill>
            <a:srgbClr val="E114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56832" y="2075688"/>
            <a:ext cx="530352" cy="530352"/>
          </a:xfrm>
          <a:prstGeom prst="rect">
            <a:avLst/>
          </a:prstGeom>
          <a:noFill/>
        </p:spPr>
        <p:txBody>
          <a:bodyPr wrap="square" anchor="ctr">
            <a:spAutoFit/>
          </a:bodyPr>
          <a:lstStyle/>
          <a:p>
            <a:pPr algn="ctr"/>
            <a:r>
              <a:rPr sz="1700" b="1">
                <a:solidFill>
                  <a:srgbClr val="FFFFFF"/>
                </a:solidFill>
                <a:latin typeface="Aptos"/>
              </a:rPr>
              <a:t>1</a:t>
            </a:r>
          </a:p>
        </p:txBody>
      </p:sp>
      <p:sp>
        <p:nvSpPr>
          <p:cNvPr id="26" name="TextBox 25"/>
          <p:cNvSpPr txBox="1"/>
          <p:nvPr/>
        </p:nvSpPr>
        <p:spPr>
          <a:xfrm>
            <a:off x="7333488" y="2011680"/>
            <a:ext cx="3474720" cy="310896"/>
          </a:xfrm>
          <a:prstGeom prst="rect">
            <a:avLst/>
          </a:prstGeom>
          <a:noFill/>
        </p:spPr>
        <p:txBody>
          <a:bodyPr wrap="square" anchor="ctr">
            <a:spAutoFit/>
          </a:bodyPr>
          <a:lstStyle/>
          <a:p>
            <a:pPr algn="l"/>
            <a:r>
              <a:rPr sz="1700" b="1">
                <a:solidFill>
                  <a:srgbClr val="123356"/>
                </a:solidFill>
                <a:latin typeface="Aptos"/>
              </a:rPr>
              <a:t>Late sprint closure</a:t>
            </a:r>
          </a:p>
        </p:txBody>
      </p:sp>
      <p:sp>
        <p:nvSpPr>
          <p:cNvPr id="27" name="TextBox 26"/>
          <p:cNvSpPr txBox="1"/>
          <p:nvPr/>
        </p:nvSpPr>
        <p:spPr>
          <a:xfrm>
            <a:off x="7333488" y="2359152"/>
            <a:ext cx="3566160" cy="393192"/>
          </a:xfrm>
          <a:prstGeom prst="rect">
            <a:avLst/>
          </a:prstGeom>
          <a:noFill/>
        </p:spPr>
        <p:txBody>
          <a:bodyPr wrap="square" anchor="ctr">
            <a:spAutoFit/>
          </a:bodyPr>
          <a:lstStyle/>
          <a:p>
            <a:pPr algn="l"/>
            <a:r>
              <a:rPr sz="1250" b="0">
                <a:solidFill>
                  <a:srgbClr val="545C67"/>
                </a:solidFill>
                <a:latin typeface="Aptos"/>
              </a:rPr>
              <a:t>Sprint closes &gt;1 day after its planned end.</a:t>
            </a:r>
          </a:p>
        </p:txBody>
      </p:sp>
      <p:sp>
        <p:nvSpPr>
          <p:cNvPr id="28" name="Oval 27"/>
          <p:cNvSpPr/>
          <p:nvPr/>
        </p:nvSpPr>
        <p:spPr>
          <a:xfrm>
            <a:off x="6656832" y="3017520"/>
            <a:ext cx="530352" cy="530352"/>
          </a:xfrm>
          <a:prstGeom prst="ellipse">
            <a:avLst/>
          </a:prstGeom>
          <a:solidFill>
            <a:srgbClr val="123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56832" y="3017520"/>
            <a:ext cx="530352" cy="530352"/>
          </a:xfrm>
          <a:prstGeom prst="rect">
            <a:avLst/>
          </a:prstGeom>
          <a:noFill/>
        </p:spPr>
        <p:txBody>
          <a:bodyPr wrap="square" anchor="ctr">
            <a:spAutoFit/>
          </a:bodyPr>
          <a:lstStyle/>
          <a:p>
            <a:pPr algn="ctr"/>
            <a:r>
              <a:rPr sz="1700" b="1">
                <a:solidFill>
                  <a:srgbClr val="FFFFFF"/>
                </a:solidFill>
                <a:latin typeface="Aptos"/>
              </a:rPr>
              <a:t>2</a:t>
            </a:r>
          </a:p>
        </p:txBody>
      </p:sp>
      <p:sp>
        <p:nvSpPr>
          <p:cNvPr id="30" name="TextBox 29"/>
          <p:cNvSpPr txBox="1"/>
          <p:nvPr/>
        </p:nvSpPr>
        <p:spPr>
          <a:xfrm>
            <a:off x="7333488" y="2953512"/>
            <a:ext cx="3657600" cy="310896"/>
          </a:xfrm>
          <a:prstGeom prst="rect">
            <a:avLst/>
          </a:prstGeom>
          <a:noFill/>
        </p:spPr>
        <p:txBody>
          <a:bodyPr wrap="square" anchor="ctr">
            <a:spAutoFit/>
          </a:bodyPr>
          <a:lstStyle/>
          <a:p>
            <a:pPr algn="l"/>
            <a:r>
              <a:rPr sz="1700" b="1">
                <a:solidFill>
                  <a:srgbClr val="123356"/>
                </a:solidFill>
                <a:latin typeface="Aptos"/>
              </a:rPr>
              <a:t>Unfinished committed scope</a:t>
            </a:r>
          </a:p>
        </p:txBody>
      </p:sp>
      <p:sp>
        <p:nvSpPr>
          <p:cNvPr id="31" name="TextBox 30"/>
          <p:cNvSpPr txBox="1"/>
          <p:nvPr/>
        </p:nvSpPr>
        <p:spPr>
          <a:xfrm>
            <a:off x="7333488" y="3291840"/>
            <a:ext cx="3657600" cy="530352"/>
          </a:xfrm>
          <a:prstGeom prst="rect">
            <a:avLst/>
          </a:prstGeom>
          <a:noFill/>
        </p:spPr>
        <p:txBody>
          <a:bodyPr wrap="square" anchor="ctr">
            <a:spAutoFit/>
          </a:bodyPr>
          <a:lstStyle/>
          <a:p>
            <a:pPr algn="l"/>
            <a:r>
              <a:rPr sz="1250" b="0">
                <a:solidFill>
                  <a:srgbClr val="545C67"/>
                </a:solidFill>
                <a:latin typeface="Aptos"/>
              </a:rPr>
              <a:t>At least one sprint-start issue remains unresolved at the planned end.</a:t>
            </a:r>
          </a:p>
        </p:txBody>
      </p:sp>
      <p:sp>
        <p:nvSpPr>
          <p:cNvPr id="32" name="TextBox 31"/>
          <p:cNvSpPr txBox="1"/>
          <p:nvPr/>
        </p:nvSpPr>
        <p:spPr>
          <a:xfrm>
            <a:off x="6656832" y="4069080"/>
            <a:ext cx="1280160" cy="228600"/>
          </a:xfrm>
          <a:prstGeom prst="rect">
            <a:avLst/>
          </a:prstGeom>
          <a:noFill/>
        </p:spPr>
        <p:txBody>
          <a:bodyPr wrap="square" anchor="ctr">
            <a:spAutoFit/>
          </a:bodyPr>
          <a:lstStyle/>
          <a:p>
            <a:pPr algn="l"/>
            <a:r>
              <a:rPr sz="1100" b="1">
                <a:solidFill>
                  <a:srgbClr val="545C67"/>
                </a:solidFill>
                <a:latin typeface="Aptos"/>
              </a:rPr>
              <a:t>Core tables</a:t>
            </a:r>
          </a:p>
        </p:txBody>
      </p:sp>
      <p:sp>
        <p:nvSpPr>
          <p:cNvPr id="33" name="Rounded Rectangle 32"/>
          <p:cNvSpPr/>
          <p:nvPr/>
        </p:nvSpPr>
        <p:spPr>
          <a:xfrm>
            <a:off x="6656832" y="4389120"/>
            <a:ext cx="1234440" cy="310896"/>
          </a:xfrm>
          <a:prstGeom prst="roundRect">
            <a:avLst/>
          </a:prstGeom>
          <a:solidFill>
            <a:srgbClr val="123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656832" y="4389120"/>
            <a:ext cx="1234440" cy="310896"/>
          </a:xfrm>
          <a:prstGeom prst="rect">
            <a:avLst/>
          </a:prstGeom>
          <a:noFill/>
        </p:spPr>
        <p:txBody>
          <a:bodyPr wrap="square" anchor="ctr">
            <a:spAutoFit/>
          </a:bodyPr>
          <a:lstStyle/>
          <a:p>
            <a:pPr algn="ctr"/>
            <a:r>
              <a:rPr sz="1000" b="1">
                <a:solidFill>
                  <a:srgbClr val="FFFFFF"/>
                </a:solidFill>
                <a:latin typeface="Aptos"/>
              </a:rPr>
              <a:t>Sprint</a:t>
            </a:r>
          </a:p>
        </p:txBody>
      </p:sp>
      <p:sp>
        <p:nvSpPr>
          <p:cNvPr id="35" name="Rounded Rectangle 34"/>
          <p:cNvSpPr/>
          <p:nvPr/>
        </p:nvSpPr>
        <p:spPr>
          <a:xfrm>
            <a:off x="8074152" y="4389120"/>
            <a:ext cx="1234440" cy="310896"/>
          </a:xfrm>
          <a:prstGeom prst="roundRect">
            <a:avLst/>
          </a:prstGeom>
          <a:solidFill>
            <a:srgbClr val="123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074152" y="4389120"/>
            <a:ext cx="1234440" cy="310896"/>
          </a:xfrm>
          <a:prstGeom prst="rect">
            <a:avLst/>
          </a:prstGeom>
          <a:noFill/>
        </p:spPr>
        <p:txBody>
          <a:bodyPr wrap="square" anchor="ctr">
            <a:spAutoFit/>
          </a:bodyPr>
          <a:lstStyle/>
          <a:p>
            <a:pPr algn="ctr"/>
            <a:r>
              <a:rPr sz="1000" b="1">
                <a:solidFill>
                  <a:srgbClr val="FFFFFF"/>
                </a:solidFill>
                <a:latin typeface="Aptos"/>
              </a:rPr>
              <a:t>Issue</a:t>
            </a:r>
          </a:p>
        </p:txBody>
      </p:sp>
      <p:sp>
        <p:nvSpPr>
          <p:cNvPr id="37" name="Rounded Rectangle 36"/>
          <p:cNvSpPr/>
          <p:nvPr/>
        </p:nvSpPr>
        <p:spPr>
          <a:xfrm>
            <a:off x="9491472" y="4389120"/>
            <a:ext cx="1234440" cy="310896"/>
          </a:xfrm>
          <a:prstGeom prst="roundRect">
            <a:avLst/>
          </a:prstGeom>
          <a:solidFill>
            <a:srgbClr val="E114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491472" y="4389120"/>
            <a:ext cx="1234440" cy="310896"/>
          </a:xfrm>
          <a:prstGeom prst="rect">
            <a:avLst/>
          </a:prstGeom>
          <a:noFill/>
        </p:spPr>
        <p:txBody>
          <a:bodyPr wrap="square" anchor="ctr">
            <a:spAutoFit/>
          </a:bodyPr>
          <a:lstStyle/>
          <a:p>
            <a:pPr algn="ctr"/>
            <a:r>
              <a:rPr sz="1000" b="1">
                <a:solidFill>
                  <a:srgbClr val="FFFFFF"/>
                </a:solidFill>
                <a:latin typeface="Aptos"/>
              </a:rPr>
              <a:t>Change_Log</a:t>
            </a:r>
          </a:p>
        </p:txBody>
      </p:sp>
      <p:sp>
        <p:nvSpPr>
          <p:cNvPr id="39" name="TextBox 38"/>
          <p:cNvSpPr txBox="1"/>
          <p:nvPr/>
        </p:nvSpPr>
        <p:spPr>
          <a:xfrm>
            <a:off x="566928" y="5980176"/>
            <a:ext cx="4937760" cy="256032"/>
          </a:xfrm>
          <a:prstGeom prst="rect">
            <a:avLst/>
          </a:prstGeom>
          <a:noFill/>
        </p:spPr>
        <p:txBody>
          <a:bodyPr wrap="square" anchor="ctr">
            <a:spAutoFit/>
          </a:bodyPr>
          <a:lstStyle/>
          <a:p>
            <a:pPr algn="l"/>
            <a:r>
              <a:rPr sz="1050" b="1">
                <a:solidFill>
                  <a:srgbClr val="123356"/>
                </a:solidFill>
                <a:latin typeface="Aptos"/>
              </a:rPr>
              <a:t>GitHub: github.com/hani-ziad/SwEng_202610</a:t>
            </a:r>
          </a:p>
        </p:txBody>
      </p:sp>
      <p:sp>
        <p:nvSpPr>
          <p:cNvPr id="40" name="TextBox 39"/>
          <p:cNvSpPr txBox="1"/>
          <p:nvPr/>
        </p:nvSpPr>
        <p:spPr>
          <a:xfrm>
            <a:off x="6656832" y="5014925"/>
            <a:ext cx="4206240" cy="430887"/>
          </a:xfrm>
          <a:prstGeom prst="rect">
            <a:avLst/>
          </a:prstGeom>
          <a:noFill/>
        </p:spPr>
        <p:txBody>
          <a:bodyPr wrap="square" anchor="ctr">
            <a:spAutoFit/>
          </a:bodyPr>
          <a:lstStyle/>
          <a:p>
            <a:pPr algn="ctr"/>
            <a:r>
              <a:rPr sz="1100" b="1" dirty="0">
                <a:solidFill>
                  <a:srgbClr val="1E2732"/>
                </a:solidFill>
                <a:latin typeface="Aptos"/>
              </a:rPr>
              <a:t>Maryam Hanif  •  Hani AbuSharkh</a:t>
            </a:r>
            <a:r>
              <a:rPr lang="en-US" sz="1100" b="1" dirty="0">
                <a:solidFill>
                  <a:srgbClr val="1E2732"/>
                </a:solidFill>
                <a:latin typeface="Aptos"/>
              </a:rPr>
              <a:t>  •  Samra </a:t>
            </a:r>
            <a:r>
              <a:rPr lang="en-US" sz="1100" b="1" dirty="0" err="1">
                <a:solidFill>
                  <a:srgbClr val="1E2732"/>
                </a:solidFill>
                <a:latin typeface="Aptos"/>
              </a:rPr>
              <a:t>Nawazish</a:t>
            </a:r>
            <a:r>
              <a:rPr lang="en-US" sz="1100" b="1" dirty="0">
                <a:solidFill>
                  <a:srgbClr val="1E2732"/>
                </a:solidFill>
                <a:latin typeface="Aptos"/>
              </a:rPr>
              <a:t>  •  Najwa Suleiman  •  Alyah </a:t>
            </a:r>
            <a:r>
              <a:rPr lang="en-US" sz="1100" b="1" dirty="0" err="1">
                <a:solidFill>
                  <a:srgbClr val="1E2732"/>
                </a:solidFill>
                <a:latin typeface="Aptos"/>
              </a:rPr>
              <a:t>Alameeri</a:t>
            </a:r>
            <a:endParaRPr sz="1100" b="1" dirty="0">
              <a:solidFill>
                <a:srgbClr val="1E2732"/>
              </a:solidFill>
              <a:latin typeface="Aptos"/>
            </a:endParaRPr>
          </a:p>
        </p:txBody>
      </p:sp>
      <p:sp>
        <p:nvSpPr>
          <p:cNvPr id="41" name="Rectangle 40"/>
          <p:cNvSpPr/>
          <p:nvPr/>
        </p:nvSpPr>
        <p:spPr>
          <a:xfrm>
            <a:off x="0" y="6565392"/>
            <a:ext cx="12191695" cy="292608"/>
          </a:xfrm>
          <a:prstGeom prst="rect">
            <a:avLst/>
          </a:prstGeom>
          <a:solidFill>
            <a:srgbClr val="E114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84048" y="6574536"/>
            <a:ext cx="8046720" cy="237744"/>
          </a:xfrm>
          <a:prstGeom prst="rect">
            <a:avLst/>
          </a:prstGeom>
          <a:noFill/>
        </p:spPr>
        <p:txBody>
          <a:bodyPr wrap="square" anchor="ctr">
            <a:spAutoFit/>
          </a:bodyPr>
          <a:lstStyle/>
          <a:p>
            <a:pPr algn="l"/>
            <a:r>
              <a:rPr sz="900" b="1" dirty="0">
                <a:solidFill>
                  <a:srgbClr val="FFFFFF"/>
                </a:solidFill>
                <a:latin typeface="Aptos"/>
              </a:rPr>
              <a:t>CSBP711 Advanced Artificial Intelligence  |  Datasets and Algorithm Comparison</a:t>
            </a:r>
          </a:p>
        </p:txBody>
      </p:sp>
      <p:sp>
        <p:nvSpPr>
          <p:cNvPr id="43" name="TextBox 42"/>
          <p:cNvSpPr txBox="1"/>
          <p:nvPr/>
        </p:nvSpPr>
        <p:spPr>
          <a:xfrm>
            <a:off x="11475720" y="6574536"/>
            <a:ext cx="320040" cy="237744"/>
          </a:xfrm>
          <a:prstGeom prst="rect">
            <a:avLst/>
          </a:prstGeom>
          <a:noFill/>
        </p:spPr>
        <p:txBody>
          <a:bodyPr wrap="square" anchor="ctr">
            <a:spAutoFit/>
          </a:bodyPr>
          <a:lstStyle/>
          <a:p>
            <a:pPr algn="ctr"/>
            <a:r>
              <a:rPr sz="900" b="1">
                <a:solidFill>
                  <a:srgbClr val="FFFFFF"/>
                </a:solidFill>
                <a:latin typeface="Apto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9857232" y="256032"/>
            <a:ext cx="1700784" cy="347472"/>
          </a:xfrm>
          <a:prstGeom prst="rect">
            <a:avLst/>
          </a:prstGeom>
        </p:spPr>
      </p:pic>
      <p:sp>
        <p:nvSpPr>
          <p:cNvPr id="3" name="TextBox 2"/>
          <p:cNvSpPr txBox="1"/>
          <p:nvPr/>
        </p:nvSpPr>
        <p:spPr>
          <a:xfrm>
            <a:off x="502920" y="164592"/>
            <a:ext cx="8869680" cy="438912"/>
          </a:xfrm>
          <a:prstGeom prst="rect">
            <a:avLst/>
          </a:prstGeom>
          <a:noFill/>
        </p:spPr>
        <p:txBody>
          <a:bodyPr wrap="square" anchor="ctr">
            <a:spAutoFit/>
          </a:bodyPr>
          <a:lstStyle/>
          <a:p>
            <a:pPr algn="l"/>
            <a:r>
              <a:rPr sz="2400" b="1">
                <a:solidFill>
                  <a:srgbClr val="1E2732"/>
                </a:solidFill>
                <a:latin typeface="Aptos"/>
              </a:rPr>
              <a:t>Handling the Data</a:t>
            </a:r>
          </a:p>
        </p:txBody>
      </p:sp>
      <p:sp>
        <p:nvSpPr>
          <p:cNvPr id="4" name="TextBox 3"/>
          <p:cNvSpPr txBox="1"/>
          <p:nvPr/>
        </p:nvSpPr>
        <p:spPr>
          <a:xfrm>
            <a:off x="521207" y="612648"/>
            <a:ext cx="8778240" cy="228600"/>
          </a:xfrm>
          <a:prstGeom prst="rect">
            <a:avLst/>
          </a:prstGeom>
          <a:noFill/>
        </p:spPr>
        <p:txBody>
          <a:bodyPr wrap="square" anchor="ctr">
            <a:spAutoFit/>
          </a:bodyPr>
          <a:lstStyle/>
          <a:p>
            <a:pPr algn="l"/>
            <a:r>
              <a:rPr sz="1050" b="0">
                <a:solidFill>
                  <a:srgbClr val="545C67"/>
                </a:solidFill>
                <a:latin typeface="Aptos"/>
              </a:rPr>
              <a:t>Reconstruct the planning-time state first; model only what was knowable then</a:t>
            </a:r>
          </a:p>
        </p:txBody>
      </p:sp>
      <p:sp>
        <p:nvSpPr>
          <p:cNvPr id="5" name="Rectangle 4"/>
          <p:cNvSpPr/>
          <p:nvPr/>
        </p:nvSpPr>
        <p:spPr>
          <a:xfrm>
            <a:off x="0" y="932688"/>
            <a:ext cx="12191695" cy="32004"/>
          </a:xfrm>
          <a:prstGeom prst="rect">
            <a:avLst/>
          </a:prstGeom>
          <a:solidFill>
            <a:srgbClr val="123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298448"/>
            <a:ext cx="1755648" cy="1024128"/>
          </a:xfrm>
          <a:prstGeom prst="roundRect">
            <a:avLst/>
          </a:prstGeom>
          <a:solidFill>
            <a:srgbClr val="FFFFFF"/>
          </a:solidFill>
          <a:ln w="10160">
            <a:solidFill>
              <a:srgbClr val="DD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408176"/>
            <a:ext cx="1755648" cy="384048"/>
          </a:xfrm>
          <a:prstGeom prst="rect">
            <a:avLst/>
          </a:prstGeom>
          <a:noFill/>
        </p:spPr>
        <p:txBody>
          <a:bodyPr wrap="square" anchor="ctr">
            <a:spAutoFit/>
          </a:bodyPr>
          <a:lstStyle/>
          <a:p>
            <a:pPr algn="ctr"/>
            <a:r>
              <a:rPr sz="2300" b="1">
                <a:solidFill>
                  <a:srgbClr val="E11421"/>
                </a:solidFill>
                <a:latin typeface="Aptos"/>
              </a:rPr>
              <a:t>2,657</a:t>
            </a:r>
          </a:p>
        </p:txBody>
      </p:sp>
      <p:sp>
        <p:nvSpPr>
          <p:cNvPr id="8" name="TextBox 7"/>
          <p:cNvSpPr txBox="1"/>
          <p:nvPr/>
        </p:nvSpPr>
        <p:spPr>
          <a:xfrm>
            <a:off x="566928" y="1847088"/>
            <a:ext cx="1755648" cy="228600"/>
          </a:xfrm>
          <a:prstGeom prst="rect">
            <a:avLst/>
          </a:prstGeom>
          <a:noFill/>
        </p:spPr>
        <p:txBody>
          <a:bodyPr wrap="square" anchor="ctr">
            <a:spAutoFit/>
          </a:bodyPr>
          <a:lstStyle/>
          <a:p>
            <a:pPr algn="ctr"/>
            <a:r>
              <a:rPr sz="1050" b="1">
                <a:solidFill>
                  <a:srgbClr val="1E2732"/>
                </a:solidFill>
                <a:latin typeface="Aptos"/>
              </a:rPr>
              <a:t>Raw sprints</a:t>
            </a:r>
          </a:p>
        </p:txBody>
      </p:sp>
      <p:sp>
        <p:nvSpPr>
          <p:cNvPr id="9" name="TextBox 8"/>
          <p:cNvSpPr txBox="1"/>
          <p:nvPr/>
        </p:nvSpPr>
        <p:spPr>
          <a:xfrm>
            <a:off x="2340864" y="1545336"/>
            <a:ext cx="384048" cy="365760"/>
          </a:xfrm>
          <a:prstGeom prst="rect">
            <a:avLst/>
          </a:prstGeom>
          <a:noFill/>
        </p:spPr>
        <p:txBody>
          <a:bodyPr wrap="square" anchor="ctr">
            <a:spAutoFit/>
          </a:bodyPr>
          <a:lstStyle/>
          <a:p>
            <a:pPr algn="ctr"/>
            <a:r>
              <a:rPr sz="2400" b="1">
                <a:solidFill>
                  <a:srgbClr val="545C67"/>
                </a:solidFill>
                <a:latin typeface="Aptos"/>
              </a:rPr>
              <a:t>→</a:t>
            </a:r>
          </a:p>
        </p:txBody>
      </p:sp>
      <p:sp>
        <p:nvSpPr>
          <p:cNvPr id="10" name="Rounded Rectangle 9"/>
          <p:cNvSpPr/>
          <p:nvPr/>
        </p:nvSpPr>
        <p:spPr>
          <a:xfrm>
            <a:off x="2743200" y="1298448"/>
            <a:ext cx="1755648" cy="1024128"/>
          </a:xfrm>
          <a:prstGeom prst="roundRect">
            <a:avLst/>
          </a:prstGeom>
          <a:solidFill>
            <a:srgbClr val="FFFFFF"/>
          </a:solidFill>
          <a:ln w="10160">
            <a:solidFill>
              <a:srgbClr val="DD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43200" y="1408176"/>
            <a:ext cx="1755648" cy="384048"/>
          </a:xfrm>
          <a:prstGeom prst="rect">
            <a:avLst/>
          </a:prstGeom>
          <a:noFill/>
        </p:spPr>
        <p:txBody>
          <a:bodyPr wrap="square" anchor="ctr">
            <a:spAutoFit/>
          </a:bodyPr>
          <a:lstStyle/>
          <a:p>
            <a:pPr algn="ctr"/>
            <a:r>
              <a:rPr sz="2300" b="1">
                <a:solidFill>
                  <a:srgbClr val="123356"/>
                </a:solidFill>
                <a:latin typeface="Aptos"/>
              </a:rPr>
              <a:t>2,610</a:t>
            </a:r>
          </a:p>
        </p:txBody>
      </p:sp>
      <p:sp>
        <p:nvSpPr>
          <p:cNvPr id="12" name="TextBox 11"/>
          <p:cNvSpPr txBox="1"/>
          <p:nvPr/>
        </p:nvSpPr>
        <p:spPr>
          <a:xfrm>
            <a:off x="2743200" y="1847088"/>
            <a:ext cx="1755648" cy="228600"/>
          </a:xfrm>
          <a:prstGeom prst="rect">
            <a:avLst/>
          </a:prstGeom>
          <a:noFill/>
        </p:spPr>
        <p:txBody>
          <a:bodyPr wrap="square" anchor="ctr">
            <a:spAutoFit/>
          </a:bodyPr>
          <a:lstStyle/>
          <a:p>
            <a:pPr algn="ctr"/>
            <a:r>
              <a:rPr sz="1050" b="1">
                <a:solidFill>
                  <a:srgbClr val="1E2732"/>
                </a:solidFill>
                <a:latin typeface="Aptos"/>
              </a:rPr>
              <a:t>Eligible closed</a:t>
            </a:r>
          </a:p>
        </p:txBody>
      </p:sp>
      <p:sp>
        <p:nvSpPr>
          <p:cNvPr id="13" name="TextBox 12"/>
          <p:cNvSpPr txBox="1"/>
          <p:nvPr/>
        </p:nvSpPr>
        <p:spPr>
          <a:xfrm>
            <a:off x="4517136" y="1545336"/>
            <a:ext cx="384048" cy="365760"/>
          </a:xfrm>
          <a:prstGeom prst="rect">
            <a:avLst/>
          </a:prstGeom>
          <a:noFill/>
        </p:spPr>
        <p:txBody>
          <a:bodyPr wrap="square" anchor="ctr">
            <a:spAutoFit/>
          </a:bodyPr>
          <a:lstStyle/>
          <a:p>
            <a:pPr algn="ctr"/>
            <a:r>
              <a:rPr sz="2400" b="1">
                <a:solidFill>
                  <a:srgbClr val="545C67"/>
                </a:solidFill>
                <a:latin typeface="Aptos"/>
              </a:rPr>
              <a:t>→</a:t>
            </a:r>
          </a:p>
        </p:txBody>
      </p:sp>
      <p:sp>
        <p:nvSpPr>
          <p:cNvPr id="14" name="Rounded Rectangle 13"/>
          <p:cNvSpPr/>
          <p:nvPr/>
        </p:nvSpPr>
        <p:spPr>
          <a:xfrm>
            <a:off x="4919472" y="1298448"/>
            <a:ext cx="1755648" cy="1024128"/>
          </a:xfrm>
          <a:prstGeom prst="roundRect">
            <a:avLst/>
          </a:prstGeom>
          <a:solidFill>
            <a:srgbClr val="FFFFFF"/>
          </a:solidFill>
          <a:ln w="10160">
            <a:solidFill>
              <a:srgbClr val="DD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19472" y="1408176"/>
            <a:ext cx="1755648" cy="384048"/>
          </a:xfrm>
          <a:prstGeom prst="rect">
            <a:avLst/>
          </a:prstGeom>
          <a:noFill/>
        </p:spPr>
        <p:txBody>
          <a:bodyPr wrap="square" anchor="ctr">
            <a:spAutoFit/>
          </a:bodyPr>
          <a:lstStyle/>
          <a:p>
            <a:pPr algn="ctr"/>
            <a:r>
              <a:rPr sz="2300" b="1">
                <a:solidFill>
                  <a:srgbClr val="123356"/>
                </a:solidFill>
                <a:latin typeface="Aptos"/>
              </a:rPr>
              <a:t>− 8</a:t>
            </a:r>
          </a:p>
        </p:txBody>
      </p:sp>
      <p:sp>
        <p:nvSpPr>
          <p:cNvPr id="16" name="TextBox 15"/>
          <p:cNvSpPr txBox="1"/>
          <p:nvPr/>
        </p:nvSpPr>
        <p:spPr>
          <a:xfrm>
            <a:off x="4919472" y="1847088"/>
            <a:ext cx="1755648" cy="228600"/>
          </a:xfrm>
          <a:prstGeom prst="rect">
            <a:avLst/>
          </a:prstGeom>
          <a:noFill/>
        </p:spPr>
        <p:txBody>
          <a:bodyPr wrap="square" anchor="ctr">
            <a:spAutoFit/>
          </a:bodyPr>
          <a:lstStyle/>
          <a:p>
            <a:pPr algn="ctr"/>
            <a:r>
              <a:rPr sz="1050" b="1">
                <a:solidFill>
                  <a:srgbClr val="1E2732"/>
                </a:solidFill>
                <a:latin typeface="Aptos"/>
              </a:rPr>
              <a:t>Cold starts</a:t>
            </a:r>
          </a:p>
        </p:txBody>
      </p:sp>
      <p:sp>
        <p:nvSpPr>
          <p:cNvPr id="17" name="TextBox 16"/>
          <p:cNvSpPr txBox="1"/>
          <p:nvPr/>
        </p:nvSpPr>
        <p:spPr>
          <a:xfrm>
            <a:off x="6693408" y="1545336"/>
            <a:ext cx="384048" cy="365760"/>
          </a:xfrm>
          <a:prstGeom prst="rect">
            <a:avLst/>
          </a:prstGeom>
          <a:noFill/>
        </p:spPr>
        <p:txBody>
          <a:bodyPr wrap="square" anchor="ctr">
            <a:spAutoFit/>
          </a:bodyPr>
          <a:lstStyle/>
          <a:p>
            <a:pPr algn="ctr"/>
            <a:r>
              <a:rPr sz="2400" b="1">
                <a:solidFill>
                  <a:srgbClr val="545C67"/>
                </a:solidFill>
                <a:latin typeface="Aptos"/>
              </a:rPr>
              <a:t>→</a:t>
            </a:r>
          </a:p>
        </p:txBody>
      </p:sp>
      <p:sp>
        <p:nvSpPr>
          <p:cNvPr id="18" name="Rounded Rectangle 17"/>
          <p:cNvSpPr/>
          <p:nvPr/>
        </p:nvSpPr>
        <p:spPr>
          <a:xfrm>
            <a:off x="7095744" y="1298448"/>
            <a:ext cx="1755648" cy="1024128"/>
          </a:xfrm>
          <a:prstGeom prst="roundRect">
            <a:avLst/>
          </a:prstGeom>
          <a:solidFill>
            <a:srgbClr val="FFFFFF"/>
          </a:solidFill>
          <a:ln w="10160">
            <a:solidFill>
              <a:srgbClr val="DD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095744" y="1408176"/>
            <a:ext cx="1755648" cy="384048"/>
          </a:xfrm>
          <a:prstGeom prst="rect">
            <a:avLst/>
          </a:prstGeom>
          <a:noFill/>
        </p:spPr>
        <p:txBody>
          <a:bodyPr wrap="square" anchor="ctr">
            <a:spAutoFit/>
          </a:bodyPr>
          <a:lstStyle/>
          <a:p>
            <a:pPr algn="ctr"/>
            <a:r>
              <a:rPr sz="2300" b="1">
                <a:solidFill>
                  <a:srgbClr val="E11421"/>
                </a:solidFill>
                <a:latin typeface="Aptos"/>
              </a:rPr>
              <a:t>2,602</a:t>
            </a:r>
          </a:p>
        </p:txBody>
      </p:sp>
      <p:sp>
        <p:nvSpPr>
          <p:cNvPr id="20" name="TextBox 19"/>
          <p:cNvSpPr txBox="1"/>
          <p:nvPr/>
        </p:nvSpPr>
        <p:spPr>
          <a:xfrm>
            <a:off x="7095744" y="1847088"/>
            <a:ext cx="1755648" cy="228600"/>
          </a:xfrm>
          <a:prstGeom prst="rect">
            <a:avLst/>
          </a:prstGeom>
          <a:noFill/>
        </p:spPr>
        <p:txBody>
          <a:bodyPr wrap="square" anchor="ctr">
            <a:spAutoFit/>
          </a:bodyPr>
          <a:lstStyle/>
          <a:p>
            <a:pPr algn="ctr"/>
            <a:r>
              <a:rPr sz="1050" b="1">
                <a:solidFill>
                  <a:srgbClr val="1E2732"/>
                </a:solidFill>
                <a:latin typeface="Aptos"/>
              </a:rPr>
              <a:t>Modeled sprints</a:t>
            </a:r>
          </a:p>
        </p:txBody>
      </p:sp>
      <p:sp>
        <p:nvSpPr>
          <p:cNvPr id="21" name="Rounded Rectangle 20"/>
          <p:cNvSpPr/>
          <p:nvPr/>
        </p:nvSpPr>
        <p:spPr>
          <a:xfrm>
            <a:off x="9253728" y="1298448"/>
            <a:ext cx="2359152" cy="960120"/>
          </a:xfrm>
          <a:prstGeom prst="roundRect">
            <a:avLst/>
          </a:prstGeom>
          <a:solidFill>
            <a:srgbClr val="FFFFFF"/>
          </a:solidFill>
          <a:ln w="10160">
            <a:solidFill>
              <a:srgbClr val="DD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253728" y="1298448"/>
            <a:ext cx="73152" cy="960120"/>
          </a:xfrm>
          <a:prstGeom prst="rect">
            <a:avLst/>
          </a:prstGeom>
          <a:solidFill>
            <a:srgbClr val="E114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36607" y="1408176"/>
            <a:ext cx="2084832" cy="384048"/>
          </a:xfrm>
          <a:prstGeom prst="rect">
            <a:avLst/>
          </a:prstGeom>
          <a:noFill/>
        </p:spPr>
        <p:txBody>
          <a:bodyPr wrap="square" anchor="ctr">
            <a:spAutoFit/>
          </a:bodyPr>
          <a:lstStyle/>
          <a:p>
            <a:pPr algn="l"/>
            <a:r>
              <a:rPr sz="2400" b="1">
                <a:solidFill>
                  <a:srgbClr val="E11421"/>
                </a:solidFill>
                <a:latin typeface="Aptos"/>
              </a:rPr>
              <a:t>20,603</a:t>
            </a:r>
          </a:p>
        </p:txBody>
      </p:sp>
      <p:sp>
        <p:nvSpPr>
          <p:cNvPr id="24" name="TextBox 23"/>
          <p:cNvSpPr txBox="1"/>
          <p:nvPr/>
        </p:nvSpPr>
        <p:spPr>
          <a:xfrm>
            <a:off x="9436607" y="1819655"/>
            <a:ext cx="2084832" cy="228600"/>
          </a:xfrm>
          <a:prstGeom prst="rect">
            <a:avLst/>
          </a:prstGeom>
          <a:noFill/>
        </p:spPr>
        <p:txBody>
          <a:bodyPr wrap="square" anchor="ctr">
            <a:spAutoFit/>
          </a:bodyPr>
          <a:lstStyle/>
          <a:p>
            <a:pPr algn="l"/>
            <a:r>
              <a:rPr sz="1100" b="1">
                <a:solidFill>
                  <a:srgbClr val="1E2732"/>
                </a:solidFill>
                <a:latin typeface="Aptos"/>
              </a:rPr>
              <a:t>reconstructed issue–sprint commitments</a:t>
            </a:r>
          </a:p>
        </p:txBody>
      </p:sp>
      <p:sp>
        <p:nvSpPr>
          <p:cNvPr id="25" name="Rounded Rectangle 24"/>
          <p:cNvSpPr/>
          <p:nvPr/>
        </p:nvSpPr>
        <p:spPr>
          <a:xfrm>
            <a:off x="566928" y="2788920"/>
            <a:ext cx="3456432" cy="1975104"/>
          </a:xfrm>
          <a:prstGeom prst="roundRect">
            <a:avLst/>
          </a:prstGeom>
          <a:solidFill>
            <a:srgbClr val="FFFFFF"/>
          </a:solidFill>
          <a:ln w="10160">
            <a:solidFill>
              <a:srgbClr val="DD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49808" y="2953512"/>
            <a:ext cx="3063240" cy="274320"/>
          </a:xfrm>
          <a:prstGeom prst="rect">
            <a:avLst/>
          </a:prstGeom>
          <a:noFill/>
        </p:spPr>
        <p:txBody>
          <a:bodyPr wrap="square" anchor="ctr">
            <a:spAutoFit/>
          </a:bodyPr>
          <a:lstStyle/>
          <a:p>
            <a:pPr algn="l"/>
            <a:r>
              <a:rPr sz="1300" b="1">
                <a:solidFill>
                  <a:srgbClr val="E11421"/>
                </a:solidFill>
                <a:latin typeface="Aptos"/>
              </a:rPr>
              <a:t>1  FILTER</a:t>
            </a:r>
          </a:p>
        </p:txBody>
      </p:sp>
      <p:sp>
        <p:nvSpPr>
          <p:cNvPr id="27" name="TextBox 26"/>
          <p:cNvSpPr txBox="1"/>
          <p:nvPr/>
        </p:nvSpPr>
        <p:spPr>
          <a:xfrm>
            <a:off x="749808" y="3319272"/>
            <a:ext cx="3035808" cy="1188720"/>
          </a:xfrm>
          <a:prstGeom prst="rect">
            <a:avLst/>
          </a:prstGeom>
          <a:noFill/>
        </p:spPr>
        <p:txBody>
          <a:bodyPr wrap="square" anchor="t">
            <a:spAutoFit/>
          </a:bodyPr>
          <a:lstStyle/>
          <a:p>
            <a:pPr algn="l"/>
            <a:r>
              <a:rPr sz="1250" b="0">
                <a:solidFill>
                  <a:srgbClr val="1E2732"/>
                </a:solidFill>
                <a:latin typeface="Aptos"/>
              </a:rPr>
              <a:t>Remove FUTURE and ACTIVE sprints; remove impossible timestamps; exclude one genuine cold start per project.</a:t>
            </a:r>
          </a:p>
        </p:txBody>
      </p:sp>
      <p:sp>
        <p:nvSpPr>
          <p:cNvPr id="28" name="Rounded Rectangle 27"/>
          <p:cNvSpPr/>
          <p:nvPr/>
        </p:nvSpPr>
        <p:spPr>
          <a:xfrm>
            <a:off x="4343400" y="2788920"/>
            <a:ext cx="3456432" cy="1975104"/>
          </a:xfrm>
          <a:prstGeom prst="roundRect">
            <a:avLst/>
          </a:prstGeom>
          <a:solidFill>
            <a:srgbClr val="FFFFFF"/>
          </a:solidFill>
          <a:ln w="10160">
            <a:solidFill>
              <a:srgbClr val="DD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26280" y="2953512"/>
            <a:ext cx="3063240" cy="274320"/>
          </a:xfrm>
          <a:prstGeom prst="rect">
            <a:avLst/>
          </a:prstGeom>
          <a:noFill/>
        </p:spPr>
        <p:txBody>
          <a:bodyPr wrap="square" anchor="ctr">
            <a:spAutoFit/>
          </a:bodyPr>
          <a:lstStyle/>
          <a:p>
            <a:pPr algn="l"/>
            <a:r>
              <a:rPr sz="1300" b="1">
                <a:solidFill>
                  <a:srgbClr val="123356"/>
                </a:solidFill>
                <a:latin typeface="Aptos"/>
              </a:rPr>
              <a:t>2  RECONSTRUCT</a:t>
            </a:r>
          </a:p>
        </p:txBody>
      </p:sp>
      <p:sp>
        <p:nvSpPr>
          <p:cNvPr id="30" name="TextBox 29"/>
          <p:cNvSpPr txBox="1"/>
          <p:nvPr/>
        </p:nvSpPr>
        <p:spPr>
          <a:xfrm>
            <a:off x="4526280" y="3319272"/>
            <a:ext cx="3035808" cy="1188720"/>
          </a:xfrm>
          <a:prstGeom prst="rect">
            <a:avLst/>
          </a:prstGeom>
          <a:noFill/>
        </p:spPr>
        <p:txBody>
          <a:bodyPr wrap="square" anchor="t">
            <a:spAutoFit/>
          </a:bodyPr>
          <a:lstStyle/>
          <a:p>
            <a:pPr algn="l"/>
            <a:r>
              <a:rPr sz="1250" b="0">
                <a:solidFill>
                  <a:srgbClr val="1E2732"/>
                </a:solidFill>
                <a:latin typeface="Aptos"/>
              </a:rPr>
              <a:t>Walk Jira change history backward to sprint start. Rebuild Sprint membership and Story Points at that timestamp.</a:t>
            </a:r>
          </a:p>
        </p:txBody>
      </p:sp>
      <p:sp>
        <p:nvSpPr>
          <p:cNvPr id="31" name="Rounded Rectangle 30"/>
          <p:cNvSpPr/>
          <p:nvPr/>
        </p:nvSpPr>
        <p:spPr>
          <a:xfrm>
            <a:off x="8119871" y="2788920"/>
            <a:ext cx="3456432" cy="1975104"/>
          </a:xfrm>
          <a:prstGeom prst="roundRect">
            <a:avLst/>
          </a:prstGeom>
          <a:solidFill>
            <a:srgbClr val="FFFFFF"/>
          </a:solidFill>
          <a:ln w="10160">
            <a:solidFill>
              <a:srgbClr val="DD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302751" y="2953512"/>
            <a:ext cx="3063240" cy="274320"/>
          </a:xfrm>
          <a:prstGeom prst="rect">
            <a:avLst/>
          </a:prstGeom>
          <a:noFill/>
        </p:spPr>
        <p:txBody>
          <a:bodyPr wrap="square" anchor="ctr">
            <a:spAutoFit/>
          </a:bodyPr>
          <a:lstStyle/>
          <a:p>
            <a:pPr algn="l"/>
            <a:r>
              <a:rPr sz="1300" b="1">
                <a:solidFill>
                  <a:srgbClr val="123356"/>
                </a:solidFill>
                <a:latin typeface="Aptos"/>
              </a:rPr>
              <a:t>3  PREVENT LEAKAGE</a:t>
            </a:r>
          </a:p>
        </p:txBody>
      </p:sp>
      <p:sp>
        <p:nvSpPr>
          <p:cNvPr id="33" name="TextBox 32"/>
          <p:cNvSpPr txBox="1"/>
          <p:nvPr/>
        </p:nvSpPr>
        <p:spPr>
          <a:xfrm>
            <a:off x="8302751" y="3319272"/>
            <a:ext cx="3035808" cy="1123384"/>
          </a:xfrm>
          <a:prstGeom prst="rect">
            <a:avLst/>
          </a:prstGeom>
          <a:noFill/>
        </p:spPr>
        <p:txBody>
          <a:bodyPr wrap="square" anchor="t">
            <a:spAutoFit/>
          </a:bodyPr>
          <a:lstStyle/>
          <a:p>
            <a:r>
              <a:rPr sz="1250" b="0" dirty="0">
                <a:solidFill>
                  <a:srgbClr val="1E2732"/>
                </a:solidFill>
                <a:latin typeface="Aptos"/>
              </a:rPr>
              <a:t>Use only information available at sprint start. </a:t>
            </a:r>
            <a:endParaRPr lang="en-US" sz="1250" b="0" dirty="0">
              <a:solidFill>
                <a:srgbClr val="1E2732"/>
              </a:solidFill>
              <a:latin typeface="Aptos"/>
            </a:endParaRPr>
          </a:p>
          <a:p>
            <a:r>
              <a:rPr lang="en-US" sz="1400" dirty="0"/>
              <a:t>Main evaluation: chronological split within each project - earlier 70% train, later 30% test.</a:t>
            </a:r>
            <a:endParaRPr sz="1250" b="0" dirty="0">
              <a:solidFill>
                <a:srgbClr val="1E2732"/>
              </a:solidFill>
              <a:latin typeface="Aptos"/>
            </a:endParaRPr>
          </a:p>
        </p:txBody>
      </p:sp>
      <p:sp>
        <p:nvSpPr>
          <p:cNvPr id="34" name="Rounded Rectangle 33"/>
          <p:cNvSpPr/>
          <p:nvPr/>
        </p:nvSpPr>
        <p:spPr>
          <a:xfrm>
            <a:off x="566928" y="5074920"/>
            <a:ext cx="11045952" cy="868680"/>
          </a:xfrm>
          <a:prstGeom prst="roundRect">
            <a:avLst/>
          </a:prstGeom>
          <a:solidFill>
            <a:srgbClr val="FFF7EB"/>
          </a:solidFill>
          <a:ln w="10160">
            <a:solidFill>
              <a:srgbClr val="EECD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49808" y="5280660"/>
            <a:ext cx="1600200" cy="256032"/>
          </a:xfrm>
          <a:prstGeom prst="rect">
            <a:avLst/>
          </a:prstGeom>
          <a:noFill/>
        </p:spPr>
        <p:txBody>
          <a:bodyPr wrap="square" anchor="ctr">
            <a:spAutoFit/>
          </a:bodyPr>
          <a:lstStyle/>
          <a:p>
            <a:pPr algn="l"/>
            <a:r>
              <a:rPr sz="1200" b="1" dirty="0">
                <a:solidFill>
                  <a:srgbClr val="B37014"/>
                </a:solidFill>
                <a:latin typeface="Aptos"/>
              </a:rPr>
              <a:t>Main data problem</a:t>
            </a:r>
          </a:p>
        </p:txBody>
      </p:sp>
      <p:sp>
        <p:nvSpPr>
          <p:cNvPr id="36" name="TextBox 35"/>
          <p:cNvSpPr txBox="1"/>
          <p:nvPr/>
        </p:nvSpPr>
        <p:spPr>
          <a:xfrm>
            <a:off x="2331720" y="5237500"/>
            <a:ext cx="8823960" cy="523220"/>
          </a:xfrm>
          <a:prstGeom prst="rect">
            <a:avLst/>
          </a:prstGeom>
          <a:noFill/>
        </p:spPr>
        <p:txBody>
          <a:bodyPr wrap="square" anchor="ctr">
            <a:spAutoFit/>
          </a:bodyPr>
          <a:lstStyle/>
          <a:p>
            <a:r>
              <a:rPr lang="en-US" sz="1400" dirty="0"/>
              <a:t>Some issues had missing Sprint or Story Points change history. We used the static Jira value as a documented fallback and later tested how this assumption affected the results.</a:t>
            </a:r>
            <a:endParaRPr sz="1220" b="0" dirty="0">
              <a:solidFill>
                <a:srgbClr val="1E2732"/>
              </a:solidFill>
              <a:latin typeface="Aptos"/>
            </a:endParaRPr>
          </a:p>
        </p:txBody>
      </p:sp>
      <p:sp>
        <p:nvSpPr>
          <p:cNvPr id="37" name="Rectangle 36"/>
          <p:cNvSpPr/>
          <p:nvPr/>
        </p:nvSpPr>
        <p:spPr>
          <a:xfrm>
            <a:off x="0" y="6565392"/>
            <a:ext cx="12191695" cy="292608"/>
          </a:xfrm>
          <a:prstGeom prst="rect">
            <a:avLst/>
          </a:prstGeom>
          <a:solidFill>
            <a:srgbClr val="E114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84048" y="6574536"/>
            <a:ext cx="8046720" cy="237744"/>
          </a:xfrm>
          <a:prstGeom prst="rect">
            <a:avLst/>
          </a:prstGeom>
          <a:noFill/>
        </p:spPr>
        <p:txBody>
          <a:bodyPr wrap="square" anchor="ctr">
            <a:spAutoFit/>
          </a:bodyPr>
          <a:lstStyle/>
          <a:p>
            <a:pPr algn="l"/>
            <a:r>
              <a:rPr sz="900" b="1" dirty="0">
                <a:solidFill>
                  <a:srgbClr val="FFFFFF"/>
                </a:solidFill>
                <a:latin typeface="Aptos"/>
              </a:rPr>
              <a:t>CSBP711 Advanced Artificial Intelligence  |  Datasets and Algorithm Comparison</a:t>
            </a:r>
          </a:p>
        </p:txBody>
      </p:sp>
      <p:sp>
        <p:nvSpPr>
          <p:cNvPr id="39" name="TextBox 38"/>
          <p:cNvSpPr txBox="1"/>
          <p:nvPr/>
        </p:nvSpPr>
        <p:spPr>
          <a:xfrm>
            <a:off x="11475720" y="6574536"/>
            <a:ext cx="320040" cy="237744"/>
          </a:xfrm>
          <a:prstGeom prst="rect">
            <a:avLst/>
          </a:prstGeom>
          <a:noFill/>
        </p:spPr>
        <p:txBody>
          <a:bodyPr wrap="square" anchor="ctr">
            <a:spAutoFit/>
          </a:bodyPr>
          <a:lstStyle/>
          <a:p>
            <a:pPr algn="ctr"/>
            <a:r>
              <a:rPr sz="900" b="1">
                <a:solidFill>
                  <a:srgbClr val="FFFFFF"/>
                </a:solidFill>
                <a:latin typeface="Apto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9857232" y="256032"/>
            <a:ext cx="1700784" cy="347472"/>
          </a:xfrm>
          <a:prstGeom prst="rect">
            <a:avLst/>
          </a:prstGeom>
        </p:spPr>
      </p:pic>
      <p:sp>
        <p:nvSpPr>
          <p:cNvPr id="3" name="TextBox 2"/>
          <p:cNvSpPr txBox="1"/>
          <p:nvPr/>
        </p:nvSpPr>
        <p:spPr>
          <a:xfrm>
            <a:off x="502920" y="164592"/>
            <a:ext cx="8869680" cy="438912"/>
          </a:xfrm>
          <a:prstGeom prst="rect">
            <a:avLst/>
          </a:prstGeom>
          <a:noFill/>
        </p:spPr>
        <p:txBody>
          <a:bodyPr wrap="square" anchor="ctr">
            <a:spAutoFit/>
          </a:bodyPr>
          <a:lstStyle/>
          <a:p>
            <a:pPr algn="l"/>
            <a:r>
              <a:rPr sz="2400" b="1">
                <a:solidFill>
                  <a:srgbClr val="1E2732"/>
                </a:solidFill>
                <a:latin typeface="Aptos"/>
              </a:rPr>
              <a:t>Algorithms &amp; Experimental Setup</a:t>
            </a:r>
          </a:p>
        </p:txBody>
      </p:sp>
      <p:sp>
        <p:nvSpPr>
          <p:cNvPr id="4" name="TextBox 3"/>
          <p:cNvSpPr txBox="1"/>
          <p:nvPr/>
        </p:nvSpPr>
        <p:spPr>
          <a:xfrm>
            <a:off x="521207" y="599990"/>
            <a:ext cx="8778240" cy="253916"/>
          </a:xfrm>
          <a:prstGeom prst="rect">
            <a:avLst/>
          </a:prstGeom>
          <a:noFill/>
        </p:spPr>
        <p:txBody>
          <a:bodyPr wrap="square" anchor="ctr">
            <a:spAutoFit/>
          </a:bodyPr>
          <a:lstStyle/>
          <a:p>
            <a:pPr algn="l"/>
            <a:r>
              <a:rPr sz="1050" b="0" dirty="0">
                <a:solidFill>
                  <a:srgbClr val="545C67"/>
                </a:solidFill>
                <a:latin typeface="Aptos"/>
              </a:rPr>
              <a:t>Simple baselines and flexible tree models are evaluated under the same time</a:t>
            </a:r>
            <a:r>
              <a:rPr lang="en-US" sz="1050" b="0" dirty="0">
                <a:solidFill>
                  <a:srgbClr val="545C67"/>
                </a:solidFill>
                <a:latin typeface="Aptos"/>
              </a:rPr>
              <a:t>-</a:t>
            </a:r>
            <a:r>
              <a:rPr sz="1050" b="0" dirty="0">
                <a:solidFill>
                  <a:srgbClr val="545C67"/>
                </a:solidFill>
                <a:latin typeface="Aptos"/>
              </a:rPr>
              <a:t>ordered framework</a:t>
            </a:r>
          </a:p>
        </p:txBody>
      </p:sp>
      <p:sp>
        <p:nvSpPr>
          <p:cNvPr id="5" name="Rectangle 4"/>
          <p:cNvSpPr/>
          <p:nvPr/>
        </p:nvSpPr>
        <p:spPr>
          <a:xfrm>
            <a:off x="0" y="932688"/>
            <a:ext cx="12191695" cy="32004"/>
          </a:xfrm>
          <a:prstGeom prst="rect">
            <a:avLst/>
          </a:prstGeom>
          <a:solidFill>
            <a:srgbClr val="123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298448"/>
            <a:ext cx="2487168" cy="2926080"/>
          </a:xfrm>
          <a:prstGeom prst="roundRect">
            <a:avLst/>
          </a:prstGeom>
          <a:solidFill>
            <a:srgbClr val="FFFFFF"/>
          </a:solidFill>
          <a:ln w="10160">
            <a:solidFill>
              <a:srgbClr val="DD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481328"/>
            <a:ext cx="2011680" cy="310896"/>
          </a:xfrm>
          <a:prstGeom prst="roundRect">
            <a:avLst/>
          </a:prstGeom>
          <a:solidFill>
            <a:srgbClr val="E114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481328"/>
            <a:ext cx="2011680" cy="310896"/>
          </a:xfrm>
          <a:prstGeom prst="rect">
            <a:avLst/>
          </a:prstGeom>
          <a:noFill/>
        </p:spPr>
        <p:txBody>
          <a:bodyPr wrap="square" anchor="ctr">
            <a:spAutoFit/>
          </a:bodyPr>
          <a:lstStyle/>
          <a:p>
            <a:pPr algn="ctr"/>
            <a:r>
              <a:rPr sz="1000" b="1">
                <a:solidFill>
                  <a:srgbClr val="FFFFFF"/>
                </a:solidFill>
                <a:latin typeface="Aptos"/>
              </a:rPr>
              <a:t>ALWAYS POSITIVE / PREVALENCE</a:t>
            </a:r>
          </a:p>
        </p:txBody>
      </p:sp>
      <p:sp>
        <p:nvSpPr>
          <p:cNvPr id="9" name="TextBox 8"/>
          <p:cNvSpPr txBox="1"/>
          <p:nvPr/>
        </p:nvSpPr>
        <p:spPr>
          <a:xfrm>
            <a:off x="731520" y="1938528"/>
            <a:ext cx="2139696" cy="438912"/>
          </a:xfrm>
          <a:prstGeom prst="rect">
            <a:avLst/>
          </a:prstGeom>
          <a:noFill/>
        </p:spPr>
        <p:txBody>
          <a:bodyPr wrap="square" anchor="ctr">
            <a:spAutoFit/>
          </a:bodyPr>
          <a:lstStyle/>
          <a:p>
            <a:pPr algn="l"/>
            <a:r>
              <a:rPr sz="1800" b="1">
                <a:solidFill>
                  <a:srgbClr val="1E2732"/>
                </a:solidFill>
                <a:latin typeface="Aptos"/>
              </a:rPr>
              <a:t>Baseline</a:t>
            </a:r>
          </a:p>
        </p:txBody>
      </p:sp>
      <p:sp>
        <p:nvSpPr>
          <p:cNvPr id="10" name="TextBox 9"/>
          <p:cNvSpPr txBox="1"/>
          <p:nvPr/>
        </p:nvSpPr>
        <p:spPr>
          <a:xfrm>
            <a:off x="731520" y="2514600"/>
            <a:ext cx="2139696" cy="738664"/>
          </a:xfrm>
          <a:prstGeom prst="rect">
            <a:avLst/>
          </a:prstGeom>
          <a:noFill/>
        </p:spPr>
        <p:txBody>
          <a:bodyPr wrap="square" anchor="t">
            <a:spAutoFit/>
          </a:bodyPr>
          <a:lstStyle/>
          <a:p>
            <a:r>
              <a:rPr lang="en-US" sz="1400" b="1" dirty="0"/>
              <a:t>Reference point:</a:t>
            </a:r>
            <a:r>
              <a:rPr lang="en-US" sz="1400" dirty="0"/>
              <a:t> shows performance without learned ranking</a:t>
            </a:r>
            <a:endParaRPr sz="1220" b="0" dirty="0">
              <a:solidFill>
                <a:srgbClr val="545C67"/>
              </a:solidFill>
              <a:latin typeface="Aptos"/>
            </a:endParaRPr>
          </a:p>
        </p:txBody>
      </p:sp>
      <p:sp>
        <p:nvSpPr>
          <p:cNvPr id="12" name="Rounded Rectangle 11"/>
          <p:cNvSpPr/>
          <p:nvPr/>
        </p:nvSpPr>
        <p:spPr>
          <a:xfrm>
            <a:off x="3346704" y="1298448"/>
            <a:ext cx="2487168" cy="2926080"/>
          </a:xfrm>
          <a:prstGeom prst="roundRect">
            <a:avLst/>
          </a:prstGeom>
          <a:solidFill>
            <a:srgbClr val="FFFFFF"/>
          </a:solidFill>
          <a:ln w="10160">
            <a:solidFill>
              <a:srgbClr val="DD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511296" y="1481328"/>
            <a:ext cx="1874519" cy="310896"/>
          </a:xfrm>
          <a:prstGeom prst="roundRect">
            <a:avLst/>
          </a:prstGeom>
          <a:solidFill>
            <a:srgbClr val="123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11296" y="1481328"/>
            <a:ext cx="1874519" cy="310896"/>
          </a:xfrm>
          <a:prstGeom prst="rect">
            <a:avLst/>
          </a:prstGeom>
          <a:noFill/>
        </p:spPr>
        <p:txBody>
          <a:bodyPr wrap="square" anchor="ctr">
            <a:spAutoFit/>
          </a:bodyPr>
          <a:lstStyle/>
          <a:p>
            <a:pPr algn="ctr"/>
            <a:r>
              <a:rPr sz="1000" b="1">
                <a:solidFill>
                  <a:srgbClr val="FFFFFF"/>
                </a:solidFill>
                <a:latin typeface="Aptos"/>
              </a:rPr>
              <a:t>SCOPE-ONLY</a:t>
            </a:r>
          </a:p>
        </p:txBody>
      </p:sp>
      <p:sp>
        <p:nvSpPr>
          <p:cNvPr id="15" name="TextBox 14"/>
          <p:cNvSpPr txBox="1"/>
          <p:nvPr/>
        </p:nvSpPr>
        <p:spPr>
          <a:xfrm>
            <a:off x="3511296" y="1938528"/>
            <a:ext cx="2139696" cy="438912"/>
          </a:xfrm>
          <a:prstGeom prst="rect">
            <a:avLst/>
          </a:prstGeom>
          <a:noFill/>
        </p:spPr>
        <p:txBody>
          <a:bodyPr wrap="square" anchor="ctr">
            <a:spAutoFit/>
          </a:bodyPr>
          <a:lstStyle/>
          <a:p>
            <a:pPr algn="l"/>
            <a:r>
              <a:rPr sz="1800" b="1">
                <a:solidFill>
                  <a:srgbClr val="1E2732"/>
                </a:solidFill>
                <a:latin typeface="Aptos"/>
              </a:rPr>
              <a:t>Logistic Regression</a:t>
            </a:r>
          </a:p>
        </p:txBody>
      </p:sp>
      <p:sp>
        <p:nvSpPr>
          <p:cNvPr id="16" name="TextBox 15"/>
          <p:cNvSpPr txBox="1"/>
          <p:nvPr/>
        </p:nvSpPr>
        <p:spPr>
          <a:xfrm>
            <a:off x="3511143" y="2415338"/>
            <a:ext cx="2322729" cy="1384995"/>
          </a:xfrm>
          <a:prstGeom prst="rect">
            <a:avLst/>
          </a:prstGeom>
          <a:noFill/>
        </p:spPr>
        <p:txBody>
          <a:bodyPr wrap="square" anchor="t">
            <a:spAutoFit/>
          </a:bodyPr>
          <a:lstStyle/>
          <a:p>
            <a:r>
              <a:rPr lang="en-US" sz="1400" dirty="0"/>
              <a:t>Issues + Story Points + sprint length</a:t>
            </a:r>
            <a:endParaRPr lang="en-US" sz="1400" b="1" dirty="0"/>
          </a:p>
          <a:p>
            <a:r>
              <a:rPr lang="en-US" sz="1400" b="1" dirty="0"/>
              <a:t>Simple, interpretable model:</a:t>
            </a:r>
            <a:r>
              <a:rPr lang="en-US" sz="1400" dirty="0"/>
              <a:t> tests whether starting scope alone carries most of the signal</a:t>
            </a:r>
          </a:p>
        </p:txBody>
      </p:sp>
      <p:sp>
        <p:nvSpPr>
          <p:cNvPr id="17" name="TextBox 16"/>
          <p:cNvSpPr txBox="1"/>
          <p:nvPr/>
        </p:nvSpPr>
        <p:spPr>
          <a:xfrm>
            <a:off x="3511296" y="3694176"/>
            <a:ext cx="2139696" cy="256032"/>
          </a:xfrm>
          <a:prstGeom prst="rect">
            <a:avLst/>
          </a:prstGeom>
          <a:noFill/>
        </p:spPr>
        <p:txBody>
          <a:bodyPr wrap="square" anchor="ctr">
            <a:spAutoFit/>
          </a:bodyPr>
          <a:lstStyle/>
          <a:p>
            <a:pPr algn="l"/>
            <a:r>
              <a:rPr sz="1050" b="1">
                <a:solidFill>
                  <a:srgbClr val="123356"/>
                </a:solidFill>
                <a:latin typeface="Aptos"/>
              </a:rPr>
              <a:t>transparent baseline</a:t>
            </a:r>
          </a:p>
        </p:txBody>
      </p:sp>
      <p:sp>
        <p:nvSpPr>
          <p:cNvPr id="18" name="Rounded Rectangle 17"/>
          <p:cNvSpPr/>
          <p:nvPr/>
        </p:nvSpPr>
        <p:spPr>
          <a:xfrm>
            <a:off x="6126480" y="1298448"/>
            <a:ext cx="2487168" cy="2926080"/>
          </a:xfrm>
          <a:prstGeom prst="roundRect">
            <a:avLst/>
          </a:prstGeom>
          <a:solidFill>
            <a:srgbClr val="FFFFFF"/>
          </a:solidFill>
          <a:ln w="10160">
            <a:solidFill>
              <a:srgbClr val="DD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291072" y="1481328"/>
            <a:ext cx="1874519" cy="310896"/>
          </a:xfrm>
          <a:prstGeom prst="roundRect">
            <a:avLst/>
          </a:prstGeom>
          <a:solidFill>
            <a:srgbClr val="E114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91072" y="1481328"/>
            <a:ext cx="1874519" cy="310896"/>
          </a:xfrm>
          <a:prstGeom prst="rect">
            <a:avLst/>
          </a:prstGeom>
          <a:noFill/>
        </p:spPr>
        <p:txBody>
          <a:bodyPr wrap="square" anchor="ctr">
            <a:spAutoFit/>
          </a:bodyPr>
          <a:lstStyle/>
          <a:p>
            <a:pPr algn="ctr"/>
            <a:r>
              <a:rPr sz="1000" b="1">
                <a:solidFill>
                  <a:srgbClr val="FFFFFF"/>
                </a:solidFill>
                <a:latin typeface="Aptos"/>
              </a:rPr>
              <a:t>FULL FEATURE MODEL</a:t>
            </a:r>
          </a:p>
        </p:txBody>
      </p:sp>
      <p:sp>
        <p:nvSpPr>
          <p:cNvPr id="21" name="TextBox 20"/>
          <p:cNvSpPr txBox="1"/>
          <p:nvPr/>
        </p:nvSpPr>
        <p:spPr>
          <a:xfrm>
            <a:off x="6291072" y="1938528"/>
            <a:ext cx="2139696" cy="438912"/>
          </a:xfrm>
          <a:prstGeom prst="rect">
            <a:avLst/>
          </a:prstGeom>
          <a:noFill/>
        </p:spPr>
        <p:txBody>
          <a:bodyPr wrap="square" anchor="ctr">
            <a:spAutoFit/>
          </a:bodyPr>
          <a:lstStyle/>
          <a:p>
            <a:pPr algn="l"/>
            <a:r>
              <a:rPr sz="1800" b="1">
                <a:solidFill>
                  <a:srgbClr val="1E2732"/>
                </a:solidFill>
                <a:latin typeface="Aptos"/>
              </a:rPr>
              <a:t>Random Forest</a:t>
            </a:r>
          </a:p>
        </p:txBody>
      </p:sp>
      <p:sp>
        <p:nvSpPr>
          <p:cNvPr id="22" name="TextBox 21"/>
          <p:cNvSpPr txBox="1"/>
          <p:nvPr/>
        </p:nvSpPr>
        <p:spPr>
          <a:xfrm>
            <a:off x="6291072" y="2281428"/>
            <a:ext cx="2139696" cy="1384995"/>
          </a:xfrm>
          <a:prstGeom prst="rect">
            <a:avLst/>
          </a:prstGeom>
          <a:noFill/>
        </p:spPr>
        <p:txBody>
          <a:bodyPr wrap="square" anchor="t">
            <a:spAutoFit/>
          </a:bodyPr>
          <a:lstStyle/>
          <a:p>
            <a:r>
              <a:rPr lang="en-US" sz="1400" dirty="0"/>
              <a:t>Scope + recent history + project identity</a:t>
            </a:r>
            <a:endParaRPr lang="en-US" sz="1400" b="1" dirty="0"/>
          </a:p>
          <a:p>
            <a:r>
              <a:rPr lang="en-US" sz="1400" b="1" dirty="0"/>
              <a:t>Flexible non-linear model:</a:t>
            </a:r>
            <a:r>
              <a:rPr lang="en-US" sz="1400" dirty="0"/>
              <a:t> tests whether scope, history and project context add predictive value</a:t>
            </a:r>
          </a:p>
        </p:txBody>
      </p:sp>
      <p:sp>
        <p:nvSpPr>
          <p:cNvPr id="23" name="TextBox 22"/>
          <p:cNvSpPr txBox="1"/>
          <p:nvPr/>
        </p:nvSpPr>
        <p:spPr>
          <a:xfrm>
            <a:off x="6291072" y="3694176"/>
            <a:ext cx="2139696" cy="256032"/>
          </a:xfrm>
          <a:prstGeom prst="rect">
            <a:avLst/>
          </a:prstGeom>
          <a:noFill/>
        </p:spPr>
        <p:txBody>
          <a:bodyPr wrap="square" anchor="ctr">
            <a:spAutoFit/>
          </a:bodyPr>
          <a:lstStyle/>
          <a:p>
            <a:pPr algn="l"/>
            <a:r>
              <a:rPr sz="1050" b="1">
                <a:solidFill>
                  <a:srgbClr val="E11421"/>
                </a:solidFill>
                <a:latin typeface="Aptos"/>
              </a:rPr>
              <a:t>300 trees • depth 5</a:t>
            </a:r>
          </a:p>
        </p:txBody>
      </p:sp>
      <p:sp>
        <p:nvSpPr>
          <p:cNvPr id="24" name="Rounded Rectangle 23"/>
          <p:cNvSpPr/>
          <p:nvPr/>
        </p:nvSpPr>
        <p:spPr>
          <a:xfrm>
            <a:off x="8906256" y="1298448"/>
            <a:ext cx="2487168" cy="2926080"/>
          </a:xfrm>
          <a:prstGeom prst="roundRect">
            <a:avLst/>
          </a:prstGeom>
          <a:solidFill>
            <a:srgbClr val="FFFFFF"/>
          </a:solidFill>
          <a:ln w="10160">
            <a:solidFill>
              <a:srgbClr val="DD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9070848" y="1481328"/>
            <a:ext cx="1874519" cy="310896"/>
          </a:xfrm>
          <a:prstGeom prst="roundRect">
            <a:avLst/>
          </a:prstGeom>
          <a:solidFill>
            <a:srgbClr val="123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070848" y="1481328"/>
            <a:ext cx="1874519" cy="310896"/>
          </a:xfrm>
          <a:prstGeom prst="rect">
            <a:avLst/>
          </a:prstGeom>
          <a:noFill/>
        </p:spPr>
        <p:txBody>
          <a:bodyPr wrap="square" anchor="ctr">
            <a:spAutoFit/>
          </a:bodyPr>
          <a:lstStyle/>
          <a:p>
            <a:pPr algn="ctr"/>
            <a:r>
              <a:rPr sz="1000" b="1">
                <a:solidFill>
                  <a:srgbClr val="FFFFFF"/>
                </a:solidFill>
                <a:latin typeface="Aptos"/>
              </a:rPr>
              <a:t>FULL FEATURE MODEL</a:t>
            </a:r>
          </a:p>
        </p:txBody>
      </p:sp>
      <p:sp>
        <p:nvSpPr>
          <p:cNvPr id="27" name="TextBox 26"/>
          <p:cNvSpPr txBox="1"/>
          <p:nvPr/>
        </p:nvSpPr>
        <p:spPr>
          <a:xfrm>
            <a:off x="9070848" y="1938528"/>
            <a:ext cx="2139696" cy="438912"/>
          </a:xfrm>
          <a:prstGeom prst="rect">
            <a:avLst/>
          </a:prstGeom>
          <a:noFill/>
        </p:spPr>
        <p:txBody>
          <a:bodyPr wrap="square" anchor="ctr">
            <a:spAutoFit/>
          </a:bodyPr>
          <a:lstStyle/>
          <a:p>
            <a:pPr algn="l"/>
            <a:r>
              <a:rPr sz="1800" b="1">
                <a:solidFill>
                  <a:srgbClr val="1E2732"/>
                </a:solidFill>
                <a:latin typeface="Aptos"/>
              </a:rPr>
              <a:t>XGBoost</a:t>
            </a:r>
          </a:p>
        </p:txBody>
      </p:sp>
      <p:sp>
        <p:nvSpPr>
          <p:cNvPr id="28" name="TextBox 27"/>
          <p:cNvSpPr txBox="1"/>
          <p:nvPr/>
        </p:nvSpPr>
        <p:spPr>
          <a:xfrm>
            <a:off x="9070848" y="2333239"/>
            <a:ext cx="2139696" cy="1169551"/>
          </a:xfrm>
          <a:prstGeom prst="rect">
            <a:avLst/>
          </a:prstGeom>
          <a:noFill/>
        </p:spPr>
        <p:txBody>
          <a:bodyPr wrap="square" anchor="t">
            <a:spAutoFit/>
          </a:bodyPr>
          <a:lstStyle/>
          <a:p>
            <a:r>
              <a:rPr lang="en-US" sz="1400" dirty="0"/>
              <a:t>Same full predictor set</a:t>
            </a:r>
            <a:endParaRPr lang="en-US" sz="1400" b="1" dirty="0"/>
          </a:p>
          <a:p>
            <a:r>
              <a:rPr lang="en-US" sz="1400" b="1" dirty="0"/>
              <a:t>Alternative tree-based model:</a:t>
            </a:r>
            <a:r>
              <a:rPr lang="en-US" sz="1400" dirty="0"/>
              <a:t> checks whether boosting improves on Random Forest</a:t>
            </a:r>
            <a:endParaRPr sz="1220" b="0" dirty="0">
              <a:solidFill>
                <a:srgbClr val="545C67"/>
              </a:solidFill>
              <a:latin typeface="Aptos"/>
            </a:endParaRPr>
          </a:p>
        </p:txBody>
      </p:sp>
      <p:sp>
        <p:nvSpPr>
          <p:cNvPr id="29" name="TextBox 28"/>
          <p:cNvSpPr txBox="1"/>
          <p:nvPr/>
        </p:nvSpPr>
        <p:spPr>
          <a:xfrm>
            <a:off x="9070848" y="3694176"/>
            <a:ext cx="2139696" cy="256032"/>
          </a:xfrm>
          <a:prstGeom prst="rect">
            <a:avLst/>
          </a:prstGeom>
          <a:noFill/>
        </p:spPr>
        <p:txBody>
          <a:bodyPr wrap="square" anchor="ctr">
            <a:spAutoFit/>
          </a:bodyPr>
          <a:lstStyle/>
          <a:p>
            <a:pPr algn="l"/>
            <a:r>
              <a:rPr sz="1050" b="1">
                <a:solidFill>
                  <a:srgbClr val="123356"/>
                </a:solidFill>
                <a:latin typeface="Aptos"/>
              </a:rPr>
              <a:t>300 trees • depth 4 • lr .05</a:t>
            </a:r>
          </a:p>
        </p:txBody>
      </p:sp>
      <p:sp>
        <p:nvSpPr>
          <p:cNvPr id="30" name="TextBox 29"/>
          <p:cNvSpPr txBox="1"/>
          <p:nvPr/>
        </p:nvSpPr>
        <p:spPr>
          <a:xfrm>
            <a:off x="566927" y="4579582"/>
            <a:ext cx="1309497" cy="323165"/>
          </a:xfrm>
          <a:prstGeom prst="rect">
            <a:avLst/>
          </a:prstGeom>
          <a:noFill/>
        </p:spPr>
        <p:txBody>
          <a:bodyPr wrap="square" anchor="ctr">
            <a:spAutoFit/>
          </a:bodyPr>
          <a:lstStyle/>
          <a:p>
            <a:pPr algn="l"/>
            <a:r>
              <a:rPr sz="1500" b="1" dirty="0">
                <a:solidFill>
                  <a:srgbClr val="123356"/>
                </a:solidFill>
                <a:latin typeface="Aptos"/>
              </a:rPr>
              <a:t>Evaluation</a:t>
            </a:r>
          </a:p>
        </p:txBody>
      </p:sp>
      <p:sp>
        <p:nvSpPr>
          <p:cNvPr id="31" name="Rounded Rectangle 30"/>
          <p:cNvSpPr/>
          <p:nvPr/>
        </p:nvSpPr>
        <p:spPr>
          <a:xfrm>
            <a:off x="566928" y="4965192"/>
            <a:ext cx="2487168" cy="786384"/>
          </a:xfrm>
          <a:prstGeom prst="roundRect">
            <a:avLst/>
          </a:prstGeom>
          <a:solidFill>
            <a:srgbClr val="F2F4F6"/>
          </a:solidFill>
          <a:ln w="10160">
            <a:solidFill>
              <a:srgbClr val="DD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76656" y="5038344"/>
            <a:ext cx="2267712" cy="256032"/>
          </a:xfrm>
          <a:prstGeom prst="rect">
            <a:avLst/>
          </a:prstGeom>
          <a:noFill/>
        </p:spPr>
        <p:txBody>
          <a:bodyPr wrap="square" anchor="ctr">
            <a:spAutoFit/>
          </a:bodyPr>
          <a:lstStyle/>
          <a:p>
            <a:pPr algn="ctr"/>
            <a:r>
              <a:rPr sz="1400" b="1">
                <a:solidFill>
                  <a:srgbClr val="E11421"/>
                </a:solidFill>
                <a:latin typeface="Aptos"/>
              </a:rPr>
              <a:t>ROC-AUC</a:t>
            </a:r>
          </a:p>
        </p:txBody>
      </p:sp>
      <p:sp>
        <p:nvSpPr>
          <p:cNvPr id="33" name="TextBox 32"/>
          <p:cNvSpPr txBox="1"/>
          <p:nvPr/>
        </p:nvSpPr>
        <p:spPr>
          <a:xfrm>
            <a:off x="676656" y="5321808"/>
            <a:ext cx="2267712" cy="201168"/>
          </a:xfrm>
          <a:prstGeom prst="rect">
            <a:avLst/>
          </a:prstGeom>
          <a:noFill/>
        </p:spPr>
        <p:txBody>
          <a:bodyPr wrap="square" anchor="ctr">
            <a:spAutoFit/>
          </a:bodyPr>
          <a:lstStyle/>
          <a:p>
            <a:pPr algn="ctr"/>
            <a:r>
              <a:rPr sz="950" b="0">
                <a:solidFill>
                  <a:srgbClr val="545C67"/>
                </a:solidFill>
                <a:latin typeface="Aptos"/>
              </a:rPr>
              <a:t>Primary ranking metric</a:t>
            </a:r>
          </a:p>
        </p:txBody>
      </p:sp>
      <p:sp>
        <p:nvSpPr>
          <p:cNvPr id="34" name="Rounded Rectangle 33"/>
          <p:cNvSpPr/>
          <p:nvPr/>
        </p:nvSpPr>
        <p:spPr>
          <a:xfrm>
            <a:off x="3346704" y="4965192"/>
            <a:ext cx="2487168" cy="786384"/>
          </a:xfrm>
          <a:prstGeom prst="roundRect">
            <a:avLst/>
          </a:prstGeom>
          <a:solidFill>
            <a:srgbClr val="F2F4F6"/>
          </a:solidFill>
          <a:ln w="10160">
            <a:solidFill>
              <a:srgbClr val="DD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456432" y="5038344"/>
            <a:ext cx="2267712" cy="256032"/>
          </a:xfrm>
          <a:prstGeom prst="rect">
            <a:avLst/>
          </a:prstGeom>
          <a:noFill/>
        </p:spPr>
        <p:txBody>
          <a:bodyPr wrap="square" anchor="ctr">
            <a:spAutoFit/>
          </a:bodyPr>
          <a:lstStyle/>
          <a:p>
            <a:pPr algn="ctr"/>
            <a:r>
              <a:rPr sz="1400" b="1">
                <a:solidFill>
                  <a:srgbClr val="123356"/>
                </a:solidFill>
                <a:latin typeface="Aptos"/>
              </a:rPr>
              <a:t>0.5</a:t>
            </a:r>
          </a:p>
        </p:txBody>
      </p:sp>
      <p:sp>
        <p:nvSpPr>
          <p:cNvPr id="36" name="TextBox 35"/>
          <p:cNvSpPr txBox="1"/>
          <p:nvPr/>
        </p:nvSpPr>
        <p:spPr>
          <a:xfrm>
            <a:off x="3456432" y="5321808"/>
            <a:ext cx="2267712" cy="201168"/>
          </a:xfrm>
          <a:prstGeom prst="rect">
            <a:avLst/>
          </a:prstGeom>
          <a:noFill/>
        </p:spPr>
        <p:txBody>
          <a:bodyPr wrap="square" anchor="ctr">
            <a:spAutoFit/>
          </a:bodyPr>
          <a:lstStyle/>
          <a:p>
            <a:pPr algn="ctr"/>
            <a:r>
              <a:rPr sz="950" b="0" dirty="0">
                <a:solidFill>
                  <a:srgbClr val="545C67"/>
                </a:solidFill>
                <a:latin typeface="Aptos"/>
              </a:rPr>
              <a:t>Fixed threshold</a:t>
            </a:r>
          </a:p>
        </p:txBody>
      </p:sp>
      <p:sp>
        <p:nvSpPr>
          <p:cNvPr id="37" name="Rounded Rectangle 36"/>
          <p:cNvSpPr/>
          <p:nvPr/>
        </p:nvSpPr>
        <p:spPr>
          <a:xfrm>
            <a:off x="6126480" y="4965192"/>
            <a:ext cx="2487168" cy="786384"/>
          </a:xfrm>
          <a:prstGeom prst="roundRect">
            <a:avLst/>
          </a:prstGeom>
          <a:solidFill>
            <a:srgbClr val="F2F4F6"/>
          </a:solidFill>
          <a:ln w="10160">
            <a:solidFill>
              <a:srgbClr val="DD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236208" y="5038344"/>
            <a:ext cx="2267712" cy="256032"/>
          </a:xfrm>
          <a:prstGeom prst="rect">
            <a:avLst/>
          </a:prstGeom>
          <a:noFill/>
        </p:spPr>
        <p:txBody>
          <a:bodyPr wrap="square" anchor="ctr">
            <a:spAutoFit/>
          </a:bodyPr>
          <a:lstStyle/>
          <a:p>
            <a:pPr algn="ctr"/>
            <a:r>
              <a:rPr sz="1400" b="1">
                <a:solidFill>
                  <a:srgbClr val="123356"/>
                </a:solidFill>
                <a:latin typeface="Aptos"/>
              </a:rPr>
              <a:t>70 / 30</a:t>
            </a:r>
          </a:p>
        </p:txBody>
      </p:sp>
      <p:sp>
        <p:nvSpPr>
          <p:cNvPr id="39" name="TextBox 38"/>
          <p:cNvSpPr txBox="1"/>
          <p:nvPr/>
        </p:nvSpPr>
        <p:spPr>
          <a:xfrm>
            <a:off x="6236208" y="5299282"/>
            <a:ext cx="2267712" cy="246221"/>
          </a:xfrm>
          <a:prstGeom prst="rect">
            <a:avLst/>
          </a:prstGeom>
          <a:noFill/>
        </p:spPr>
        <p:txBody>
          <a:bodyPr wrap="square" anchor="ctr">
            <a:spAutoFit/>
          </a:bodyPr>
          <a:lstStyle/>
          <a:p>
            <a:pPr algn="ctr"/>
            <a:r>
              <a:rPr sz="950" b="0" dirty="0">
                <a:solidFill>
                  <a:srgbClr val="545C67"/>
                </a:solidFill>
                <a:latin typeface="Aptos"/>
              </a:rPr>
              <a:t> </a:t>
            </a:r>
            <a:r>
              <a:rPr lang="en-US" sz="950" dirty="0">
                <a:latin typeface="Aptos" panose="020B0004020202020204" pitchFamily="34" charset="0"/>
              </a:rPr>
              <a:t>Earlier / later within each project</a:t>
            </a:r>
            <a:endParaRPr sz="950" dirty="0">
              <a:solidFill>
                <a:srgbClr val="545C67"/>
              </a:solidFill>
              <a:latin typeface="Aptos" panose="020B0004020202020204" pitchFamily="34" charset="0"/>
            </a:endParaRPr>
          </a:p>
        </p:txBody>
      </p:sp>
      <p:sp>
        <p:nvSpPr>
          <p:cNvPr id="40" name="Rounded Rectangle 39"/>
          <p:cNvSpPr/>
          <p:nvPr/>
        </p:nvSpPr>
        <p:spPr>
          <a:xfrm>
            <a:off x="8906256" y="4965192"/>
            <a:ext cx="2487168" cy="786384"/>
          </a:xfrm>
          <a:prstGeom prst="roundRect">
            <a:avLst/>
          </a:prstGeom>
          <a:solidFill>
            <a:srgbClr val="F2F4F6"/>
          </a:solidFill>
          <a:ln w="10160">
            <a:solidFill>
              <a:srgbClr val="DD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015984" y="5038344"/>
            <a:ext cx="2267712" cy="256032"/>
          </a:xfrm>
          <a:prstGeom prst="rect">
            <a:avLst/>
          </a:prstGeom>
          <a:noFill/>
        </p:spPr>
        <p:txBody>
          <a:bodyPr wrap="square" anchor="ctr">
            <a:spAutoFit/>
          </a:bodyPr>
          <a:lstStyle/>
          <a:p>
            <a:pPr algn="ctr"/>
            <a:r>
              <a:rPr sz="1400" b="1">
                <a:solidFill>
                  <a:srgbClr val="123356"/>
                </a:solidFill>
                <a:latin typeface="Aptos"/>
              </a:rPr>
              <a:t>Same pipeline</a:t>
            </a:r>
          </a:p>
        </p:txBody>
      </p:sp>
      <p:sp>
        <p:nvSpPr>
          <p:cNvPr id="42" name="TextBox 41"/>
          <p:cNvSpPr txBox="1"/>
          <p:nvPr/>
        </p:nvSpPr>
        <p:spPr>
          <a:xfrm>
            <a:off x="9015984" y="5321808"/>
            <a:ext cx="2267712" cy="201168"/>
          </a:xfrm>
          <a:prstGeom prst="rect">
            <a:avLst/>
          </a:prstGeom>
          <a:noFill/>
        </p:spPr>
        <p:txBody>
          <a:bodyPr wrap="square" anchor="ctr">
            <a:spAutoFit/>
          </a:bodyPr>
          <a:lstStyle/>
          <a:p>
            <a:pPr algn="ctr"/>
            <a:r>
              <a:rPr sz="950" b="0">
                <a:solidFill>
                  <a:srgbClr val="545C67"/>
                </a:solidFill>
                <a:latin typeface="Aptos"/>
              </a:rPr>
              <a:t>Fair preprocessing</a:t>
            </a:r>
          </a:p>
        </p:txBody>
      </p:sp>
      <p:sp>
        <p:nvSpPr>
          <p:cNvPr id="43" name="TextBox 42"/>
          <p:cNvSpPr txBox="1"/>
          <p:nvPr/>
        </p:nvSpPr>
        <p:spPr>
          <a:xfrm>
            <a:off x="566928" y="5961888"/>
            <a:ext cx="6400800" cy="237744"/>
          </a:xfrm>
          <a:prstGeom prst="rect">
            <a:avLst/>
          </a:prstGeom>
          <a:noFill/>
        </p:spPr>
        <p:txBody>
          <a:bodyPr wrap="square" anchor="ctr">
            <a:spAutoFit/>
          </a:bodyPr>
          <a:lstStyle/>
          <a:p>
            <a:pPr algn="l"/>
            <a:r>
              <a:rPr sz="1050" b="0">
                <a:solidFill>
                  <a:srgbClr val="545C67"/>
                </a:solidFill>
                <a:latin typeface="Aptos"/>
              </a:rPr>
              <a:t>Also reported: F1 • Precision • Recall • PR-AUC • Brier score</a:t>
            </a:r>
          </a:p>
        </p:txBody>
      </p:sp>
      <p:sp>
        <p:nvSpPr>
          <p:cNvPr id="44" name="Rectangle 43"/>
          <p:cNvSpPr/>
          <p:nvPr/>
        </p:nvSpPr>
        <p:spPr>
          <a:xfrm>
            <a:off x="0" y="6565392"/>
            <a:ext cx="12191695" cy="292608"/>
          </a:xfrm>
          <a:prstGeom prst="rect">
            <a:avLst/>
          </a:prstGeom>
          <a:solidFill>
            <a:srgbClr val="E114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6574536"/>
            <a:ext cx="8046720" cy="237744"/>
          </a:xfrm>
          <a:prstGeom prst="rect">
            <a:avLst/>
          </a:prstGeom>
          <a:noFill/>
        </p:spPr>
        <p:txBody>
          <a:bodyPr wrap="square" anchor="ctr">
            <a:spAutoFit/>
          </a:bodyPr>
          <a:lstStyle/>
          <a:p>
            <a:pPr algn="l"/>
            <a:r>
              <a:rPr sz="900" b="1" dirty="0">
                <a:solidFill>
                  <a:srgbClr val="FFFFFF"/>
                </a:solidFill>
                <a:latin typeface="Aptos"/>
              </a:rPr>
              <a:t>CSBP711 Advanced Artificial Intelligence  |  Datasets and Algorithm Comparison</a:t>
            </a:r>
          </a:p>
        </p:txBody>
      </p:sp>
      <p:sp>
        <p:nvSpPr>
          <p:cNvPr id="46" name="TextBox 45"/>
          <p:cNvSpPr txBox="1"/>
          <p:nvPr/>
        </p:nvSpPr>
        <p:spPr>
          <a:xfrm>
            <a:off x="11475720" y="6574536"/>
            <a:ext cx="320040" cy="237744"/>
          </a:xfrm>
          <a:prstGeom prst="rect">
            <a:avLst/>
          </a:prstGeom>
          <a:noFill/>
        </p:spPr>
        <p:txBody>
          <a:bodyPr wrap="square" anchor="ctr">
            <a:spAutoFit/>
          </a:bodyPr>
          <a:lstStyle/>
          <a:p>
            <a:pPr algn="ctr"/>
            <a:r>
              <a:rPr sz="900" b="1">
                <a:solidFill>
                  <a:srgbClr val="FFFFFF"/>
                </a:solidFill>
                <a:latin typeface="Apto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27F01BDE-80CA-361A-F822-736C3E5EC889}"/>
              </a:ext>
            </a:extLst>
          </p:cNvPr>
          <p:cNvSpPr txBox="1"/>
          <p:nvPr/>
        </p:nvSpPr>
        <p:spPr>
          <a:xfrm>
            <a:off x="594360" y="228600"/>
            <a:ext cx="5029200" cy="365760"/>
          </a:xfrm>
          <a:prstGeom prst="rect">
            <a:avLst/>
          </a:prstGeom>
          <a:noFill/>
        </p:spPr>
        <p:txBody>
          <a:bodyPr wrap="square">
            <a:spAutoFit/>
          </a:bodyPr>
          <a:lstStyle/>
          <a:p>
            <a:pPr algn="l"/>
            <a:r>
              <a:rPr sz="2400" b="1">
                <a:solidFill>
                  <a:srgbClr val="232C37"/>
                </a:solidFill>
                <a:latin typeface="Aptos"/>
              </a:rPr>
              <a:t>Results</a:t>
            </a:r>
          </a:p>
        </p:txBody>
      </p:sp>
      <p:sp>
        <p:nvSpPr>
          <p:cNvPr id="24" name="TextBox 23">
            <a:extLst>
              <a:ext uri="{FF2B5EF4-FFF2-40B4-BE49-F238E27FC236}">
                <a16:creationId xmlns:a16="http://schemas.microsoft.com/office/drawing/2014/main" id="{3FFE9A02-9B4B-9AC0-7FF2-C9AD6253E35E}"/>
              </a:ext>
            </a:extLst>
          </p:cNvPr>
          <p:cNvSpPr txBox="1"/>
          <p:nvPr/>
        </p:nvSpPr>
        <p:spPr>
          <a:xfrm>
            <a:off x="612648" y="658368"/>
            <a:ext cx="7772400" cy="228600"/>
          </a:xfrm>
          <a:prstGeom prst="rect">
            <a:avLst/>
          </a:prstGeom>
          <a:noFill/>
        </p:spPr>
        <p:txBody>
          <a:bodyPr wrap="square">
            <a:spAutoFit/>
          </a:bodyPr>
          <a:lstStyle/>
          <a:p>
            <a:pPr algn="l"/>
            <a:r>
              <a:rPr sz="950" b="0">
                <a:solidFill>
                  <a:srgbClr val="525B69"/>
                </a:solidFill>
                <a:latin typeface="Aptos"/>
              </a:rPr>
              <a:t>The two outcomes behave differently: late closure needs context; unfinished scope is mostly a scope story</a:t>
            </a:r>
          </a:p>
        </p:txBody>
      </p:sp>
      <p:pic>
        <p:nvPicPr>
          <p:cNvPr id="26" name="Picture 25" descr="image.png">
            <a:extLst>
              <a:ext uri="{FF2B5EF4-FFF2-40B4-BE49-F238E27FC236}">
                <a16:creationId xmlns:a16="http://schemas.microsoft.com/office/drawing/2014/main" id="{6FF49F78-C506-9F4B-9238-30D13CE21BCF}"/>
              </a:ext>
            </a:extLst>
          </p:cNvPr>
          <p:cNvPicPr>
            <a:picLocks noChangeAspect="1"/>
          </p:cNvPicPr>
          <p:nvPr/>
        </p:nvPicPr>
        <p:blipFill>
          <a:blip r:embed="rId2"/>
          <a:stretch>
            <a:fillRect/>
          </a:stretch>
        </p:blipFill>
        <p:spPr>
          <a:xfrm>
            <a:off x="9829800" y="256032"/>
            <a:ext cx="1737360" cy="347472"/>
          </a:xfrm>
          <a:prstGeom prst="rect">
            <a:avLst/>
          </a:prstGeom>
        </p:spPr>
      </p:pic>
      <p:sp>
        <p:nvSpPr>
          <p:cNvPr id="28" name="Rectangle 27">
            <a:extLst>
              <a:ext uri="{FF2B5EF4-FFF2-40B4-BE49-F238E27FC236}">
                <a16:creationId xmlns:a16="http://schemas.microsoft.com/office/drawing/2014/main" id="{453B9AE2-BCAC-50B4-F44D-9347A6BB69D9}"/>
              </a:ext>
            </a:extLst>
          </p:cNvPr>
          <p:cNvSpPr/>
          <p:nvPr/>
        </p:nvSpPr>
        <p:spPr>
          <a:xfrm>
            <a:off x="0" y="950976"/>
            <a:ext cx="12191695" cy="32004"/>
          </a:xfrm>
          <a:prstGeom prst="rect">
            <a:avLst/>
          </a:prstGeom>
          <a:solidFill>
            <a:srgbClr val="173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a:extLst>
              <a:ext uri="{FF2B5EF4-FFF2-40B4-BE49-F238E27FC236}">
                <a16:creationId xmlns:a16="http://schemas.microsoft.com/office/drawing/2014/main" id="{9AC3EA47-B5D3-4093-8D36-A3FDB0E42F9A}"/>
              </a:ext>
            </a:extLst>
          </p:cNvPr>
          <p:cNvSpPr/>
          <p:nvPr/>
        </p:nvSpPr>
        <p:spPr>
          <a:xfrm>
            <a:off x="566928" y="1298448"/>
            <a:ext cx="1783080" cy="448056"/>
          </a:xfrm>
          <a:prstGeom prst="rect">
            <a:avLst/>
          </a:prstGeom>
          <a:solidFill>
            <a:srgbClr val="173A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55E34130-B599-49B3-B3EA-CDC4DD7CFC81}"/>
              </a:ext>
            </a:extLst>
          </p:cNvPr>
          <p:cNvSpPr txBox="1"/>
          <p:nvPr/>
        </p:nvSpPr>
        <p:spPr>
          <a:xfrm>
            <a:off x="594360" y="1408176"/>
            <a:ext cx="1728216" cy="201168"/>
          </a:xfrm>
          <a:prstGeom prst="rect">
            <a:avLst/>
          </a:prstGeom>
          <a:noFill/>
        </p:spPr>
        <p:txBody>
          <a:bodyPr wrap="square">
            <a:spAutoFit/>
          </a:bodyPr>
          <a:lstStyle/>
          <a:p>
            <a:pPr algn="l"/>
            <a:r>
              <a:rPr sz="900" b="1">
                <a:solidFill>
                  <a:srgbClr val="FFFFFF"/>
                </a:solidFill>
                <a:latin typeface="Aptos"/>
              </a:rPr>
              <a:t>Outcome</a:t>
            </a:r>
          </a:p>
        </p:txBody>
      </p:sp>
      <p:sp>
        <p:nvSpPr>
          <p:cNvPr id="34" name="Rectangle 33">
            <a:extLst>
              <a:ext uri="{FF2B5EF4-FFF2-40B4-BE49-F238E27FC236}">
                <a16:creationId xmlns:a16="http://schemas.microsoft.com/office/drawing/2014/main" id="{5401CB27-F085-355C-F909-46BC7CAE060E}"/>
              </a:ext>
            </a:extLst>
          </p:cNvPr>
          <p:cNvSpPr/>
          <p:nvPr/>
        </p:nvSpPr>
        <p:spPr>
          <a:xfrm>
            <a:off x="2350008" y="1298448"/>
            <a:ext cx="1417320" cy="448056"/>
          </a:xfrm>
          <a:prstGeom prst="rect">
            <a:avLst/>
          </a:prstGeom>
          <a:solidFill>
            <a:srgbClr val="173A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a:extLst>
              <a:ext uri="{FF2B5EF4-FFF2-40B4-BE49-F238E27FC236}">
                <a16:creationId xmlns:a16="http://schemas.microsoft.com/office/drawing/2014/main" id="{D7360250-A6F2-A6B4-D2D0-9CAF46FA43D0}"/>
              </a:ext>
            </a:extLst>
          </p:cNvPr>
          <p:cNvSpPr txBox="1"/>
          <p:nvPr/>
        </p:nvSpPr>
        <p:spPr>
          <a:xfrm>
            <a:off x="2377439" y="1408176"/>
            <a:ext cx="1362456" cy="201168"/>
          </a:xfrm>
          <a:prstGeom prst="rect">
            <a:avLst/>
          </a:prstGeom>
          <a:noFill/>
        </p:spPr>
        <p:txBody>
          <a:bodyPr wrap="square">
            <a:spAutoFit/>
          </a:bodyPr>
          <a:lstStyle/>
          <a:p>
            <a:pPr algn="ctr"/>
            <a:r>
              <a:rPr sz="900" b="1">
                <a:solidFill>
                  <a:srgbClr val="FFFFFF"/>
                </a:solidFill>
                <a:latin typeface="Aptos"/>
              </a:rPr>
              <a:t>Model</a:t>
            </a:r>
          </a:p>
        </p:txBody>
      </p:sp>
      <p:sp>
        <p:nvSpPr>
          <p:cNvPr id="38" name="Rectangle 37">
            <a:extLst>
              <a:ext uri="{FF2B5EF4-FFF2-40B4-BE49-F238E27FC236}">
                <a16:creationId xmlns:a16="http://schemas.microsoft.com/office/drawing/2014/main" id="{C467397E-6F35-906A-210C-C4DFC0592662}"/>
              </a:ext>
            </a:extLst>
          </p:cNvPr>
          <p:cNvSpPr/>
          <p:nvPr/>
        </p:nvSpPr>
        <p:spPr>
          <a:xfrm>
            <a:off x="3767328" y="1298448"/>
            <a:ext cx="594360" cy="448056"/>
          </a:xfrm>
          <a:prstGeom prst="rect">
            <a:avLst/>
          </a:prstGeom>
          <a:solidFill>
            <a:srgbClr val="173A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58932D93-7332-D1B6-11C4-8F7D0FA63276}"/>
              </a:ext>
            </a:extLst>
          </p:cNvPr>
          <p:cNvSpPr txBox="1"/>
          <p:nvPr/>
        </p:nvSpPr>
        <p:spPr>
          <a:xfrm>
            <a:off x="3794760" y="1408176"/>
            <a:ext cx="539496" cy="201168"/>
          </a:xfrm>
          <a:prstGeom prst="rect">
            <a:avLst/>
          </a:prstGeom>
          <a:noFill/>
        </p:spPr>
        <p:txBody>
          <a:bodyPr wrap="square">
            <a:spAutoFit/>
          </a:bodyPr>
          <a:lstStyle/>
          <a:p>
            <a:pPr algn="ctr"/>
            <a:r>
              <a:rPr sz="900" b="1">
                <a:solidFill>
                  <a:srgbClr val="FFFFFF"/>
                </a:solidFill>
                <a:latin typeface="Aptos"/>
              </a:rPr>
              <a:t>F1</a:t>
            </a:r>
          </a:p>
        </p:txBody>
      </p:sp>
      <p:sp>
        <p:nvSpPr>
          <p:cNvPr id="42" name="Rectangle 41">
            <a:extLst>
              <a:ext uri="{FF2B5EF4-FFF2-40B4-BE49-F238E27FC236}">
                <a16:creationId xmlns:a16="http://schemas.microsoft.com/office/drawing/2014/main" id="{EAE1768E-B4FA-D749-76A4-89C1119AF802}"/>
              </a:ext>
            </a:extLst>
          </p:cNvPr>
          <p:cNvSpPr/>
          <p:nvPr/>
        </p:nvSpPr>
        <p:spPr>
          <a:xfrm>
            <a:off x="4361688" y="1298448"/>
            <a:ext cx="749808" cy="448056"/>
          </a:xfrm>
          <a:prstGeom prst="rect">
            <a:avLst/>
          </a:prstGeom>
          <a:solidFill>
            <a:srgbClr val="173A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3BAE423B-406E-FF11-BD5E-7792F6AC9187}"/>
              </a:ext>
            </a:extLst>
          </p:cNvPr>
          <p:cNvSpPr txBox="1"/>
          <p:nvPr/>
        </p:nvSpPr>
        <p:spPr>
          <a:xfrm>
            <a:off x="4389120" y="1408176"/>
            <a:ext cx="694944" cy="201168"/>
          </a:xfrm>
          <a:prstGeom prst="rect">
            <a:avLst/>
          </a:prstGeom>
          <a:noFill/>
        </p:spPr>
        <p:txBody>
          <a:bodyPr wrap="square">
            <a:spAutoFit/>
          </a:bodyPr>
          <a:lstStyle/>
          <a:p>
            <a:pPr algn="ctr"/>
            <a:r>
              <a:rPr sz="900" b="1">
                <a:solidFill>
                  <a:srgbClr val="FFFFFF"/>
                </a:solidFill>
                <a:latin typeface="Aptos"/>
              </a:rPr>
              <a:t>ROC-AUC</a:t>
            </a:r>
          </a:p>
        </p:txBody>
      </p:sp>
      <p:sp>
        <p:nvSpPr>
          <p:cNvPr id="46" name="Rectangle 45">
            <a:extLst>
              <a:ext uri="{FF2B5EF4-FFF2-40B4-BE49-F238E27FC236}">
                <a16:creationId xmlns:a16="http://schemas.microsoft.com/office/drawing/2014/main" id="{690EB9D6-5037-2074-6F67-BCCB6CED81D9}"/>
              </a:ext>
            </a:extLst>
          </p:cNvPr>
          <p:cNvSpPr/>
          <p:nvPr/>
        </p:nvSpPr>
        <p:spPr>
          <a:xfrm>
            <a:off x="5111496" y="1298448"/>
            <a:ext cx="822960" cy="448056"/>
          </a:xfrm>
          <a:prstGeom prst="rect">
            <a:avLst/>
          </a:prstGeom>
          <a:solidFill>
            <a:srgbClr val="173A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a:extLst>
              <a:ext uri="{FF2B5EF4-FFF2-40B4-BE49-F238E27FC236}">
                <a16:creationId xmlns:a16="http://schemas.microsoft.com/office/drawing/2014/main" id="{71216B04-C7BE-E8F7-D051-7C60D9F7B616}"/>
              </a:ext>
            </a:extLst>
          </p:cNvPr>
          <p:cNvSpPr txBox="1"/>
          <p:nvPr/>
        </p:nvSpPr>
        <p:spPr>
          <a:xfrm>
            <a:off x="5138928" y="1408176"/>
            <a:ext cx="768096" cy="201168"/>
          </a:xfrm>
          <a:prstGeom prst="rect">
            <a:avLst/>
          </a:prstGeom>
          <a:noFill/>
        </p:spPr>
        <p:txBody>
          <a:bodyPr wrap="square">
            <a:spAutoFit/>
          </a:bodyPr>
          <a:lstStyle/>
          <a:p>
            <a:pPr algn="ctr"/>
            <a:r>
              <a:rPr sz="900" b="1">
                <a:solidFill>
                  <a:srgbClr val="FFFFFF"/>
                </a:solidFill>
                <a:latin typeface="Aptos"/>
              </a:rPr>
              <a:t>Train time</a:t>
            </a:r>
          </a:p>
        </p:txBody>
      </p:sp>
      <p:sp>
        <p:nvSpPr>
          <p:cNvPr id="50" name="Rectangle 49">
            <a:extLst>
              <a:ext uri="{FF2B5EF4-FFF2-40B4-BE49-F238E27FC236}">
                <a16:creationId xmlns:a16="http://schemas.microsoft.com/office/drawing/2014/main" id="{EFC11AC7-5E44-6E92-06F6-F7F08F503F09}"/>
              </a:ext>
            </a:extLst>
          </p:cNvPr>
          <p:cNvSpPr/>
          <p:nvPr/>
        </p:nvSpPr>
        <p:spPr>
          <a:xfrm>
            <a:off x="5934456" y="1298448"/>
            <a:ext cx="1417320" cy="448056"/>
          </a:xfrm>
          <a:prstGeom prst="rect">
            <a:avLst/>
          </a:prstGeom>
          <a:solidFill>
            <a:srgbClr val="173A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a:extLst>
              <a:ext uri="{FF2B5EF4-FFF2-40B4-BE49-F238E27FC236}">
                <a16:creationId xmlns:a16="http://schemas.microsoft.com/office/drawing/2014/main" id="{98F61446-DE96-DA2B-DE2D-C7EA72A9900F}"/>
              </a:ext>
            </a:extLst>
          </p:cNvPr>
          <p:cNvSpPr txBox="1"/>
          <p:nvPr/>
        </p:nvSpPr>
        <p:spPr>
          <a:xfrm>
            <a:off x="5961888" y="1408176"/>
            <a:ext cx="1362456" cy="201168"/>
          </a:xfrm>
          <a:prstGeom prst="rect">
            <a:avLst/>
          </a:prstGeom>
          <a:noFill/>
        </p:spPr>
        <p:txBody>
          <a:bodyPr wrap="square">
            <a:spAutoFit/>
          </a:bodyPr>
          <a:lstStyle/>
          <a:p>
            <a:pPr algn="ctr"/>
            <a:r>
              <a:rPr sz="900" b="1">
                <a:solidFill>
                  <a:srgbClr val="FFFFFF"/>
                </a:solidFill>
                <a:latin typeface="Aptos"/>
              </a:rPr>
              <a:t>Model size / setup</a:t>
            </a:r>
          </a:p>
        </p:txBody>
      </p:sp>
      <p:sp>
        <p:nvSpPr>
          <p:cNvPr id="54" name="Rectangle 53">
            <a:extLst>
              <a:ext uri="{FF2B5EF4-FFF2-40B4-BE49-F238E27FC236}">
                <a16:creationId xmlns:a16="http://schemas.microsoft.com/office/drawing/2014/main" id="{53D6EBA9-D039-6629-EB24-964D7902046C}"/>
              </a:ext>
            </a:extLst>
          </p:cNvPr>
          <p:cNvSpPr/>
          <p:nvPr/>
        </p:nvSpPr>
        <p:spPr>
          <a:xfrm>
            <a:off x="566928" y="1746504"/>
            <a:ext cx="1783080" cy="44805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a:extLst>
              <a:ext uri="{FF2B5EF4-FFF2-40B4-BE49-F238E27FC236}">
                <a16:creationId xmlns:a16="http://schemas.microsoft.com/office/drawing/2014/main" id="{19C70268-1838-8763-2394-C5F392188001}"/>
              </a:ext>
            </a:extLst>
          </p:cNvPr>
          <p:cNvSpPr txBox="1"/>
          <p:nvPr/>
        </p:nvSpPr>
        <p:spPr>
          <a:xfrm>
            <a:off x="603504" y="1874519"/>
            <a:ext cx="1709928" cy="182880"/>
          </a:xfrm>
          <a:prstGeom prst="rect">
            <a:avLst/>
          </a:prstGeom>
          <a:noFill/>
        </p:spPr>
        <p:txBody>
          <a:bodyPr wrap="square">
            <a:spAutoFit/>
          </a:bodyPr>
          <a:lstStyle/>
          <a:p>
            <a:pPr algn="l"/>
            <a:r>
              <a:rPr sz="840" b="0">
                <a:solidFill>
                  <a:srgbClr val="232C37"/>
                </a:solidFill>
                <a:latin typeface="Aptos"/>
              </a:rPr>
              <a:t>Late closure</a:t>
            </a:r>
          </a:p>
        </p:txBody>
      </p:sp>
      <p:sp>
        <p:nvSpPr>
          <p:cNvPr id="58" name="Rectangle 57">
            <a:extLst>
              <a:ext uri="{FF2B5EF4-FFF2-40B4-BE49-F238E27FC236}">
                <a16:creationId xmlns:a16="http://schemas.microsoft.com/office/drawing/2014/main" id="{1330A251-6276-C74D-44FB-C45A078A62FE}"/>
              </a:ext>
            </a:extLst>
          </p:cNvPr>
          <p:cNvSpPr/>
          <p:nvPr/>
        </p:nvSpPr>
        <p:spPr>
          <a:xfrm>
            <a:off x="2350008" y="1746504"/>
            <a:ext cx="1417320" cy="44805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a:extLst>
              <a:ext uri="{FF2B5EF4-FFF2-40B4-BE49-F238E27FC236}">
                <a16:creationId xmlns:a16="http://schemas.microsoft.com/office/drawing/2014/main" id="{8011D5DE-1FBE-67A9-9DB7-C751FD8FA0FC}"/>
              </a:ext>
            </a:extLst>
          </p:cNvPr>
          <p:cNvSpPr txBox="1"/>
          <p:nvPr/>
        </p:nvSpPr>
        <p:spPr>
          <a:xfrm>
            <a:off x="2386584" y="1874519"/>
            <a:ext cx="1344168" cy="182880"/>
          </a:xfrm>
          <a:prstGeom prst="rect">
            <a:avLst/>
          </a:prstGeom>
          <a:noFill/>
        </p:spPr>
        <p:txBody>
          <a:bodyPr wrap="square">
            <a:spAutoFit/>
          </a:bodyPr>
          <a:lstStyle/>
          <a:p>
            <a:pPr algn="ctr"/>
            <a:r>
              <a:rPr sz="840" b="0">
                <a:solidFill>
                  <a:srgbClr val="232C37"/>
                </a:solidFill>
                <a:latin typeface="Aptos"/>
              </a:rPr>
              <a:t>Always positive</a:t>
            </a:r>
          </a:p>
        </p:txBody>
      </p:sp>
      <p:sp>
        <p:nvSpPr>
          <p:cNvPr id="62" name="Rectangle 61">
            <a:extLst>
              <a:ext uri="{FF2B5EF4-FFF2-40B4-BE49-F238E27FC236}">
                <a16:creationId xmlns:a16="http://schemas.microsoft.com/office/drawing/2014/main" id="{4165C20D-33DF-3E8E-B0F6-44FC4B3C15A7}"/>
              </a:ext>
            </a:extLst>
          </p:cNvPr>
          <p:cNvSpPr/>
          <p:nvPr/>
        </p:nvSpPr>
        <p:spPr>
          <a:xfrm>
            <a:off x="3767328" y="1746504"/>
            <a:ext cx="594360" cy="44805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a:extLst>
              <a:ext uri="{FF2B5EF4-FFF2-40B4-BE49-F238E27FC236}">
                <a16:creationId xmlns:a16="http://schemas.microsoft.com/office/drawing/2014/main" id="{475B34C5-7D1F-94E1-64EF-413089894BC1}"/>
              </a:ext>
            </a:extLst>
          </p:cNvPr>
          <p:cNvSpPr txBox="1"/>
          <p:nvPr/>
        </p:nvSpPr>
        <p:spPr>
          <a:xfrm>
            <a:off x="3803904" y="1874519"/>
            <a:ext cx="521208" cy="182880"/>
          </a:xfrm>
          <a:prstGeom prst="rect">
            <a:avLst/>
          </a:prstGeom>
          <a:noFill/>
        </p:spPr>
        <p:txBody>
          <a:bodyPr wrap="square">
            <a:spAutoFit/>
          </a:bodyPr>
          <a:lstStyle/>
          <a:p>
            <a:pPr algn="ctr"/>
            <a:r>
              <a:rPr sz="840" b="0">
                <a:solidFill>
                  <a:srgbClr val="232C37"/>
                </a:solidFill>
                <a:latin typeface="Aptos"/>
              </a:rPr>
              <a:t>.477</a:t>
            </a:r>
          </a:p>
        </p:txBody>
      </p:sp>
      <p:sp>
        <p:nvSpPr>
          <p:cNvPr id="66" name="Rectangle 65">
            <a:extLst>
              <a:ext uri="{FF2B5EF4-FFF2-40B4-BE49-F238E27FC236}">
                <a16:creationId xmlns:a16="http://schemas.microsoft.com/office/drawing/2014/main" id="{A0B13FF9-EEB0-1D63-F2EE-0A7BFD408F46}"/>
              </a:ext>
            </a:extLst>
          </p:cNvPr>
          <p:cNvSpPr/>
          <p:nvPr/>
        </p:nvSpPr>
        <p:spPr>
          <a:xfrm>
            <a:off x="4361688" y="1746504"/>
            <a:ext cx="749808" cy="44805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a:extLst>
              <a:ext uri="{FF2B5EF4-FFF2-40B4-BE49-F238E27FC236}">
                <a16:creationId xmlns:a16="http://schemas.microsoft.com/office/drawing/2014/main" id="{E49AACC2-BF0C-03A7-2187-44315C649D60}"/>
              </a:ext>
            </a:extLst>
          </p:cNvPr>
          <p:cNvSpPr txBox="1"/>
          <p:nvPr/>
        </p:nvSpPr>
        <p:spPr>
          <a:xfrm>
            <a:off x="4398264" y="1874519"/>
            <a:ext cx="676656" cy="182880"/>
          </a:xfrm>
          <a:prstGeom prst="rect">
            <a:avLst/>
          </a:prstGeom>
          <a:noFill/>
        </p:spPr>
        <p:txBody>
          <a:bodyPr wrap="square">
            <a:spAutoFit/>
          </a:bodyPr>
          <a:lstStyle/>
          <a:p>
            <a:pPr algn="ctr"/>
            <a:r>
              <a:rPr sz="840" b="0">
                <a:solidFill>
                  <a:srgbClr val="232C37"/>
                </a:solidFill>
                <a:latin typeface="Aptos"/>
              </a:rPr>
              <a:t>.500</a:t>
            </a:r>
          </a:p>
        </p:txBody>
      </p:sp>
      <p:sp>
        <p:nvSpPr>
          <p:cNvPr id="70" name="Rectangle 69">
            <a:extLst>
              <a:ext uri="{FF2B5EF4-FFF2-40B4-BE49-F238E27FC236}">
                <a16:creationId xmlns:a16="http://schemas.microsoft.com/office/drawing/2014/main" id="{8FDC74FA-E9F4-6316-4318-07C5F4C29A87}"/>
              </a:ext>
            </a:extLst>
          </p:cNvPr>
          <p:cNvSpPr/>
          <p:nvPr/>
        </p:nvSpPr>
        <p:spPr>
          <a:xfrm>
            <a:off x="5111496" y="1746504"/>
            <a:ext cx="822960" cy="44805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a:extLst>
              <a:ext uri="{FF2B5EF4-FFF2-40B4-BE49-F238E27FC236}">
                <a16:creationId xmlns:a16="http://schemas.microsoft.com/office/drawing/2014/main" id="{4507CAF8-272A-6C66-32EE-32612F3C0A7C}"/>
              </a:ext>
            </a:extLst>
          </p:cNvPr>
          <p:cNvSpPr txBox="1"/>
          <p:nvPr/>
        </p:nvSpPr>
        <p:spPr>
          <a:xfrm>
            <a:off x="5148072" y="1874519"/>
            <a:ext cx="749808" cy="182880"/>
          </a:xfrm>
          <a:prstGeom prst="rect">
            <a:avLst/>
          </a:prstGeom>
          <a:noFill/>
        </p:spPr>
        <p:txBody>
          <a:bodyPr wrap="square">
            <a:spAutoFit/>
          </a:bodyPr>
          <a:lstStyle/>
          <a:p>
            <a:pPr algn="ctr"/>
            <a:r>
              <a:rPr sz="840" b="0">
                <a:solidFill>
                  <a:srgbClr val="232C37"/>
                </a:solidFill>
                <a:latin typeface="Aptos"/>
              </a:rPr>
              <a:t>0 s</a:t>
            </a:r>
          </a:p>
        </p:txBody>
      </p:sp>
      <p:sp>
        <p:nvSpPr>
          <p:cNvPr id="74" name="Rectangle 73">
            <a:extLst>
              <a:ext uri="{FF2B5EF4-FFF2-40B4-BE49-F238E27FC236}">
                <a16:creationId xmlns:a16="http://schemas.microsoft.com/office/drawing/2014/main" id="{7A4B60BC-E172-A87E-E6C9-8388B1615541}"/>
              </a:ext>
            </a:extLst>
          </p:cNvPr>
          <p:cNvSpPr/>
          <p:nvPr/>
        </p:nvSpPr>
        <p:spPr>
          <a:xfrm>
            <a:off x="5934456" y="1746504"/>
            <a:ext cx="1417320" cy="44805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a:extLst>
              <a:ext uri="{FF2B5EF4-FFF2-40B4-BE49-F238E27FC236}">
                <a16:creationId xmlns:a16="http://schemas.microsoft.com/office/drawing/2014/main" id="{C59EEDB2-4566-BB24-0F8C-6C2661E48CA5}"/>
              </a:ext>
            </a:extLst>
          </p:cNvPr>
          <p:cNvSpPr txBox="1"/>
          <p:nvPr/>
        </p:nvSpPr>
        <p:spPr>
          <a:xfrm>
            <a:off x="5971032" y="1874519"/>
            <a:ext cx="1344168" cy="182880"/>
          </a:xfrm>
          <a:prstGeom prst="rect">
            <a:avLst/>
          </a:prstGeom>
          <a:noFill/>
        </p:spPr>
        <p:txBody>
          <a:bodyPr wrap="square">
            <a:spAutoFit/>
          </a:bodyPr>
          <a:lstStyle/>
          <a:p>
            <a:pPr algn="ctr"/>
            <a:r>
              <a:rPr sz="840" b="0">
                <a:solidFill>
                  <a:srgbClr val="232C37"/>
                </a:solidFill>
                <a:latin typeface="Aptos"/>
              </a:rPr>
              <a:t>No fitted model</a:t>
            </a:r>
          </a:p>
        </p:txBody>
      </p:sp>
      <p:sp>
        <p:nvSpPr>
          <p:cNvPr id="78" name="Rectangle 77">
            <a:extLst>
              <a:ext uri="{FF2B5EF4-FFF2-40B4-BE49-F238E27FC236}">
                <a16:creationId xmlns:a16="http://schemas.microsoft.com/office/drawing/2014/main" id="{5630F5AD-25A5-6696-DC82-D9B5945F245A}"/>
              </a:ext>
            </a:extLst>
          </p:cNvPr>
          <p:cNvSpPr/>
          <p:nvPr/>
        </p:nvSpPr>
        <p:spPr>
          <a:xfrm>
            <a:off x="566928" y="2194560"/>
            <a:ext cx="1783080" cy="448056"/>
          </a:xfrm>
          <a:prstGeom prst="rect">
            <a:avLst/>
          </a:prstGeom>
          <a:solidFill>
            <a:srgbClr val="F6F8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a:extLst>
              <a:ext uri="{FF2B5EF4-FFF2-40B4-BE49-F238E27FC236}">
                <a16:creationId xmlns:a16="http://schemas.microsoft.com/office/drawing/2014/main" id="{2E05ED24-0CAC-E468-7446-90AC6BD3A08E}"/>
              </a:ext>
            </a:extLst>
          </p:cNvPr>
          <p:cNvSpPr txBox="1"/>
          <p:nvPr/>
        </p:nvSpPr>
        <p:spPr>
          <a:xfrm>
            <a:off x="603504" y="2322576"/>
            <a:ext cx="1709928" cy="182880"/>
          </a:xfrm>
          <a:prstGeom prst="rect">
            <a:avLst/>
          </a:prstGeom>
          <a:noFill/>
        </p:spPr>
        <p:txBody>
          <a:bodyPr wrap="square">
            <a:spAutoFit/>
          </a:bodyPr>
          <a:lstStyle/>
          <a:p>
            <a:pPr algn="l"/>
            <a:r>
              <a:rPr sz="840" b="0">
                <a:solidFill>
                  <a:srgbClr val="232C37"/>
                </a:solidFill>
                <a:latin typeface="Aptos"/>
              </a:rPr>
              <a:t>Late closure</a:t>
            </a:r>
          </a:p>
        </p:txBody>
      </p:sp>
      <p:sp>
        <p:nvSpPr>
          <p:cNvPr id="82" name="Rectangle 81">
            <a:extLst>
              <a:ext uri="{FF2B5EF4-FFF2-40B4-BE49-F238E27FC236}">
                <a16:creationId xmlns:a16="http://schemas.microsoft.com/office/drawing/2014/main" id="{BE8F842A-6E68-1D2A-61F8-0965262D28D6}"/>
              </a:ext>
            </a:extLst>
          </p:cNvPr>
          <p:cNvSpPr/>
          <p:nvPr/>
        </p:nvSpPr>
        <p:spPr>
          <a:xfrm>
            <a:off x="2350008" y="2194560"/>
            <a:ext cx="1417320" cy="448056"/>
          </a:xfrm>
          <a:prstGeom prst="rect">
            <a:avLst/>
          </a:prstGeom>
          <a:solidFill>
            <a:srgbClr val="F6F8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a:extLst>
              <a:ext uri="{FF2B5EF4-FFF2-40B4-BE49-F238E27FC236}">
                <a16:creationId xmlns:a16="http://schemas.microsoft.com/office/drawing/2014/main" id="{719939E8-0747-4CF5-D6E1-412F9EC9B436}"/>
              </a:ext>
            </a:extLst>
          </p:cNvPr>
          <p:cNvSpPr txBox="1"/>
          <p:nvPr/>
        </p:nvSpPr>
        <p:spPr>
          <a:xfrm>
            <a:off x="2386584" y="2322576"/>
            <a:ext cx="1344168" cy="182880"/>
          </a:xfrm>
          <a:prstGeom prst="rect">
            <a:avLst/>
          </a:prstGeom>
          <a:noFill/>
        </p:spPr>
        <p:txBody>
          <a:bodyPr wrap="square">
            <a:spAutoFit/>
          </a:bodyPr>
          <a:lstStyle/>
          <a:p>
            <a:pPr algn="ctr"/>
            <a:r>
              <a:rPr sz="840" b="0">
                <a:solidFill>
                  <a:srgbClr val="232C37"/>
                </a:solidFill>
                <a:latin typeface="Aptos"/>
              </a:rPr>
              <a:t>Scope-only LR</a:t>
            </a:r>
          </a:p>
        </p:txBody>
      </p:sp>
      <p:sp>
        <p:nvSpPr>
          <p:cNvPr id="86" name="Rectangle 85">
            <a:extLst>
              <a:ext uri="{FF2B5EF4-FFF2-40B4-BE49-F238E27FC236}">
                <a16:creationId xmlns:a16="http://schemas.microsoft.com/office/drawing/2014/main" id="{D6C43722-6860-C526-2E90-FE38B5196E81}"/>
              </a:ext>
            </a:extLst>
          </p:cNvPr>
          <p:cNvSpPr/>
          <p:nvPr/>
        </p:nvSpPr>
        <p:spPr>
          <a:xfrm>
            <a:off x="3767328" y="2194560"/>
            <a:ext cx="594360" cy="448056"/>
          </a:xfrm>
          <a:prstGeom prst="rect">
            <a:avLst/>
          </a:prstGeom>
          <a:solidFill>
            <a:srgbClr val="F6F8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a:extLst>
              <a:ext uri="{FF2B5EF4-FFF2-40B4-BE49-F238E27FC236}">
                <a16:creationId xmlns:a16="http://schemas.microsoft.com/office/drawing/2014/main" id="{DA8BAC1D-7678-D86A-4AAF-EF995AFD2126}"/>
              </a:ext>
            </a:extLst>
          </p:cNvPr>
          <p:cNvSpPr txBox="1"/>
          <p:nvPr/>
        </p:nvSpPr>
        <p:spPr>
          <a:xfrm>
            <a:off x="3803904" y="2322576"/>
            <a:ext cx="521208" cy="182880"/>
          </a:xfrm>
          <a:prstGeom prst="rect">
            <a:avLst/>
          </a:prstGeom>
          <a:noFill/>
        </p:spPr>
        <p:txBody>
          <a:bodyPr wrap="square">
            <a:spAutoFit/>
          </a:bodyPr>
          <a:lstStyle/>
          <a:p>
            <a:pPr algn="ctr"/>
            <a:r>
              <a:rPr sz="840" b="0">
                <a:solidFill>
                  <a:srgbClr val="232C37"/>
                </a:solidFill>
                <a:latin typeface="Aptos"/>
              </a:rPr>
              <a:t>.336</a:t>
            </a:r>
          </a:p>
        </p:txBody>
      </p:sp>
      <p:sp>
        <p:nvSpPr>
          <p:cNvPr id="90" name="Rectangle 89">
            <a:extLst>
              <a:ext uri="{FF2B5EF4-FFF2-40B4-BE49-F238E27FC236}">
                <a16:creationId xmlns:a16="http://schemas.microsoft.com/office/drawing/2014/main" id="{373EABAA-2612-02F6-2682-4D55AFA766A1}"/>
              </a:ext>
            </a:extLst>
          </p:cNvPr>
          <p:cNvSpPr/>
          <p:nvPr/>
        </p:nvSpPr>
        <p:spPr>
          <a:xfrm>
            <a:off x="4361688" y="2194560"/>
            <a:ext cx="749808" cy="448056"/>
          </a:xfrm>
          <a:prstGeom prst="rect">
            <a:avLst/>
          </a:prstGeom>
          <a:solidFill>
            <a:srgbClr val="F6F8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a:extLst>
              <a:ext uri="{FF2B5EF4-FFF2-40B4-BE49-F238E27FC236}">
                <a16:creationId xmlns:a16="http://schemas.microsoft.com/office/drawing/2014/main" id="{C2E7D936-830A-15EF-A32E-6C265C5ED44F}"/>
              </a:ext>
            </a:extLst>
          </p:cNvPr>
          <p:cNvSpPr txBox="1"/>
          <p:nvPr/>
        </p:nvSpPr>
        <p:spPr>
          <a:xfrm>
            <a:off x="4398264" y="2322576"/>
            <a:ext cx="676656" cy="182880"/>
          </a:xfrm>
          <a:prstGeom prst="rect">
            <a:avLst/>
          </a:prstGeom>
          <a:noFill/>
        </p:spPr>
        <p:txBody>
          <a:bodyPr wrap="square">
            <a:spAutoFit/>
          </a:bodyPr>
          <a:lstStyle/>
          <a:p>
            <a:pPr algn="ctr"/>
            <a:r>
              <a:rPr sz="840" b="0">
                <a:solidFill>
                  <a:srgbClr val="232C37"/>
                </a:solidFill>
                <a:latin typeface="Aptos"/>
              </a:rPr>
              <a:t>.530</a:t>
            </a:r>
          </a:p>
        </p:txBody>
      </p:sp>
      <p:sp>
        <p:nvSpPr>
          <p:cNvPr id="94" name="Rectangle 93">
            <a:extLst>
              <a:ext uri="{FF2B5EF4-FFF2-40B4-BE49-F238E27FC236}">
                <a16:creationId xmlns:a16="http://schemas.microsoft.com/office/drawing/2014/main" id="{EF66F2FB-835F-8923-B678-0636EADC3890}"/>
              </a:ext>
            </a:extLst>
          </p:cNvPr>
          <p:cNvSpPr/>
          <p:nvPr/>
        </p:nvSpPr>
        <p:spPr>
          <a:xfrm>
            <a:off x="5111496" y="2194560"/>
            <a:ext cx="822960" cy="448056"/>
          </a:xfrm>
          <a:prstGeom prst="rect">
            <a:avLst/>
          </a:prstGeom>
          <a:solidFill>
            <a:srgbClr val="F6F8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a:extLst>
              <a:ext uri="{FF2B5EF4-FFF2-40B4-BE49-F238E27FC236}">
                <a16:creationId xmlns:a16="http://schemas.microsoft.com/office/drawing/2014/main" id="{8397101E-3DD7-2E1B-2216-C4C214EB66BE}"/>
              </a:ext>
            </a:extLst>
          </p:cNvPr>
          <p:cNvSpPr txBox="1"/>
          <p:nvPr/>
        </p:nvSpPr>
        <p:spPr>
          <a:xfrm>
            <a:off x="5148072" y="2322576"/>
            <a:ext cx="749808" cy="182880"/>
          </a:xfrm>
          <a:prstGeom prst="rect">
            <a:avLst/>
          </a:prstGeom>
          <a:noFill/>
        </p:spPr>
        <p:txBody>
          <a:bodyPr wrap="square">
            <a:spAutoFit/>
          </a:bodyPr>
          <a:lstStyle/>
          <a:p>
            <a:pPr algn="ctr"/>
            <a:r>
              <a:rPr sz="840" b="0">
                <a:solidFill>
                  <a:srgbClr val="232C37"/>
                </a:solidFill>
                <a:latin typeface="Aptos"/>
              </a:rPr>
              <a:t>0.0202 s</a:t>
            </a:r>
          </a:p>
        </p:txBody>
      </p:sp>
      <p:sp>
        <p:nvSpPr>
          <p:cNvPr id="98" name="Rectangle 97">
            <a:extLst>
              <a:ext uri="{FF2B5EF4-FFF2-40B4-BE49-F238E27FC236}">
                <a16:creationId xmlns:a16="http://schemas.microsoft.com/office/drawing/2014/main" id="{B97B4D28-8E74-87D6-6155-E0FA5231D915}"/>
              </a:ext>
            </a:extLst>
          </p:cNvPr>
          <p:cNvSpPr/>
          <p:nvPr/>
        </p:nvSpPr>
        <p:spPr>
          <a:xfrm>
            <a:off x="5934456" y="2194560"/>
            <a:ext cx="1417320" cy="448056"/>
          </a:xfrm>
          <a:prstGeom prst="rect">
            <a:avLst/>
          </a:prstGeom>
          <a:solidFill>
            <a:srgbClr val="F6F8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a:extLst>
              <a:ext uri="{FF2B5EF4-FFF2-40B4-BE49-F238E27FC236}">
                <a16:creationId xmlns:a16="http://schemas.microsoft.com/office/drawing/2014/main" id="{7BBDA14C-DFC7-D53A-D792-3B584C8CB169}"/>
              </a:ext>
            </a:extLst>
          </p:cNvPr>
          <p:cNvSpPr txBox="1"/>
          <p:nvPr/>
        </p:nvSpPr>
        <p:spPr>
          <a:xfrm>
            <a:off x="5971032" y="2322576"/>
            <a:ext cx="1344168" cy="182880"/>
          </a:xfrm>
          <a:prstGeom prst="rect">
            <a:avLst/>
          </a:prstGeom>
          <a:noFill/>
        </p:spPr>
        <p:txBody>
          <a:bodyPr wrap="square">
            <a:spAutoFit/>
          </a:bodyPr>
          <a:lstStyle/>
          <a:p>
            <a:pPr algn="ctr"/>
            <a:r>
              <a:rPr sz="840" b="0">
                <a:solidFill>
                  <a:srgbClr val="232C37"/>
                </a:solidFill>
                <a:latin typeface="Aptos"/>
              </a:rPr>
              <a:t>3 predictors</a:t>
            </a:r>
          </a:p>
        </p:txBody>
      </p:sp>
      <p:sp>
        <p:nvSpPr>
          <p:cNvPr id="102" name="Rectangle 101">
            <a:extLst>
              <a:ext uri="{FF2B5EF4-FFF2-40B4-BE49-F238E27FC236}">
                <a16:creationId xmlns:a16="http://schemas.microsoft.com/office/drawing/2014/main" id="{BA85E581-8D8A-8957-5839-6C82A2D748AC}"/>
              </a:ext>
            </a:extLst>
          </p:cNvPr>
          <p:cNvSpPr/>
          <p:nvPr/>
        </p:nvSpPr>
        <p:spPr>
          <a:xfrm>
            <a:off x="566928" y="2642615"/>
            <a:ext cx="1783080" cy="448056"/>
          </a:xfrm>
          <a:prstGeom prst="rect">
            <a:avLst/>
          </a:prstGeom>
          <a:solidFill>
            <a:srgbClr val="E6F0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a:extLst>
              <a:ext uri="{FF2B5EF4-FFF2-40B4-BE49-F238E27FC236}">
                <a16:creationId xmlns:a16="http://schemas.microsoft.com/office/drawing/2014/main" id="{D2A0351F-50CB-EA3A-7E55-70C45BC3B467}"/>
              </a:ext>
            </a:extLst>
          </p:cNvPr>
          <p:cNvSpPr txBox="1"/>
          <p:nvPr/>
        </p:nvSpPr>
        <p:spPr>
          <a:xfrm>
            <a:off x="603504" y="2770632"/>
            <a:ext cx="1709928" cy="182880"/>
          </a:xfrm>
          <a:prstGeom prst="rect">
            <a:avLst/>
          </a:prstGeom>
          <a:noFill/>
        </p:spPr>
        <p:txBody>
          <a:bodyPr wrap="square">
            <a:spAutoFit/>
          </a:bodyPr>
          <a:lstStyle/>
          <a:p>
            <a:pPr algn="l"/>
            <a:r>
              <a:rPr sz="840" b="1">
                <a:solidFill>
                  <a:srgbClr val="232C37"/>
                </a:solidFill>
                <a:latin typeface="Aptos"/>
              </a:rPr>
              <a:t>Late closure</a:t>
            </a:r>
          </a:p>
        </p:txBody>
      </p:sp>
      <p:sp>
        <p:nvSpPr>
          <p:cNvPr id="106" name="Rectangle 105">
            <a:extLst>
              <a:ext uri="{FF2B5EF4-FFF2-40B4-BE49-F238E27FC236}">
                <a16:creationId xmlns:a16="http://schemas.microsoft.com/office/drawing/2014/main" id="{416BC8D1-BCD6-D2F6-FFA5-AECD265F231B}"/>
              </a:ext>
            </a:extLst>
          </p:cNvPr>
          <p:cNvSpPr/>
          <p:nvPr/>
        </p:nvSpPr>
        <p:spPr>
          <a:xfrm>
            <a:off x="2350008" y="2642615"/>
            <a:ext cx="1417320" cy="448056"/>
          </a:xfrm>
          <a:prstGeom prst="rect">
            <a:avLst/>
          </a:prstGeom>
          <a:solidFill>
            <a:srgbClr val="E6F0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a:extLst>
              <a:ext uri="{FF2B5EF4-FFF2-40B4-BE49-F238E27FC236}">
                <a16:creationId xmlns:a16="http://schemas.microsoft.com/office/drawing/2014/main" id="{CFACD002-A715-92AA-0954-D3D7A414C263}"/>
              </a:ext>
            </a:extLst>
          </p:cNvPr>
          <p:cNvSpPr txBox="1"/>
          <p:nvPr/>
        </p:nvSpPr>
        <p:spPr>
          <a:xfrm>
            <a:off x="2386584" y="2770632"/>
            <a:ext cx="1344168" cy="182880"/>
          </a:xfrm>
          <a:prstGeom prst="rect">
            <a:avLst/>
          </a:prstGeom>
          <a:noFill/>
        </p:spPr>
        <p:txBody>
          <a:bodyPr wrap="square">
            <a:spAutoFit/>
          </a:bodyPr>
          <a:lstStyle/>
          <a:p>
            <a:pPr algn="ctr"/>
            <a:r>
              <a:rPr sz="840" b="1">
                <a:solidFill>
                  <a:srgbClr val="232C37"/>
                </a:solidFill>
                <a:latin typeface="Aptos"/>
              </a:rPr>
              <a:t>Random Forest</a:t>
            </a:r>
          </a:p>
        </p:txBody>
      </p:sp>
      <p:sp>
        <p:nvSpPr>
          <p:cNvPr id="110" name="Rectangle 109">
            <a:extLst>
              <a:ext uri="{FF2B5EF4-FFF2-40B4-BE49-F238E27FC236}">
                <a16:creationId xmlns:a16="http://schemas.microsoft.com/office/drawing/2014/main" id="{533357E5-BFAF-C063-6510-F77D18FE42A4}"/>
              </a:ext>
            </a:extLst>
          </p:cNvPr>
          <p:cNvSpPr/>
          <p:nvPr/>
        </p:nvSpPr>
        <p:spPr>
          <a:xfrm>
            <a:off x="3767328" y="2642615"/>
            <a:ext cx="594360" cy="448056"/>
          </a:xfrm>
          <a:prstGeom prst="rect">
            <a:avLst/>
          </a:prstGeom>
          <a:solidFill>
            <a:srgbClr val="E6F0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a:extLst>
              <a:ext uri="{FF2B5EF4-FFF2-40B4-BE49-F238E27FC236}">
                <a16:creationId xmlns:a16="http://schemas.microsoft.com/office/drawing/2014/main" id="{DFBC90CA-A1E3-9AEE-64E1-C041FD5BBD52}"/>
              </a:ext>
            </a:extLst>
          </p:cNvPr>
          <p:cNvSpPr txBox="1"/>
          <p:nvPr/>
        </p:nvSpPr>
        <p:spPr>
          <a:xfrm>
            <a:off x="3803904" y="2770632"/>
            <a:ext cx="521208" cy="182880"/>
          </a:xfrm>
          <a:prstGeom prst="rect">
            <a:avLst/>
          </a:prstGeom>
          <a:noFill/>
        </p:spPr>
        <p:txBody>
          <a:bodyPr wrap="square">
            <a:spAutoFit/>
          </a:bodyPr>
          <a:lstStyle/>
          <a:p>
            <a:pPr algn="ctr"/>
            <a:r>
              <a:rPr sz="840" b="1">
                <a:solidFill>
                  <a:srgbClr val="232C37"/>
                </a:solidFill>
                <a:latin typeface="Aptos"/>
              </a:rPr>
              <a:t>.562</a:t>
            </a:r>
          </a:p>
        </p:txBody>
      </p:sp>
      <p:sp>
        <p:nvSpPr>
          <p:cNvPr id="114" name="Rectangle 113">
            <a:extLst>
              <a:ext uri="{FF2B5EF4-FFF2-40B4-BE49-F238E27FC236}">
                <a16:creationId xmlns:a16="http://schemas.microsoft.com/office/drawing/2014/main" id="{85FD7AD3-9404-3D96-F62A-3EAAA5103223}"/>
              </a:ext>
            </a:extLst>
          </p:cNvPr>
          <p:cNvSpPr/>
          <p:nvPr/>
        </p:nvSpPr>
        <p:spPr>
          <a:xfrm>
            <a:off x="4361688" y="2642615"/>
            <a:ext cx="749808" cy="448056"/>
          </a:xfrm>
          <a:prstGeom prst="rect">
            <a:avLst/>
          </a:prstGeom>
          <a:solidFill>
            <a:srgbClr val="E6F0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a:extLst>
              <a:ext uri="{FF2B5EF4-FFF2-40B4-BE49-F238E27FC236}">
                <a16:creationId xmlns:a16="http://schemas.microsoft.com/office/drawing/2014/main" id="{84EF9790-D14D-83D1-1EC0-606F63F09628}"/>
              </a:ext>
            </a:extLst>
          </p:cNvPr>
          <p:cNvSpPr txBox="1"/>
          <p:nvPr/>
        </p:nvSpPr>
        <p:spPr>
          <a:xfrm>
            <a:off x="4398264" y="2770632"/>
            <a:ext cx="676656" cy="182880"/>
          </a:xfrm>
          <a:prstGeom prst="rect">
            <a:avLst/>
          </a:prstGeom>
          <a:noFill/>
        </p:spPr>
        <p:txBody>
          <a:bodyPr wrap="square">
            <a:spAutoFit/>
          </a:bodyPr>
          <a:lstStyle/>
          <a:p>
            <a:pPr algn="ctr"/>
            <a:r>
              <a:rPr sz="840" b="1">
                <a:solidFill>
                  <a:srgbClr val="232C37"/>
                </a:solidFill>
                <a:latin typeface="Aptos"/>
              </a:rPr>
              <a:t>.705</a:t>
            </a:r>
          </a:p>
        </p:txBody>
      </p:sp>
      <p:sp>
        <p:nvSpPr>
          <p:cNvPr id="118" name="Rectangle 117">
            <a:extLst>
              <a:ext uri="{FF2B5EF4-FFF2-40B4-BE49-F238E27FC236}">
                <a16:creationId xmlns:a16="http://schemas.microsoft.com/office/drawing/2014/main" id="{02C2C207-F2B9-1BAF-3E7B-ED3D44F96EA3}"/>
              </a:ext>
            </a:extLst>
          </p:cNvPr>
          <p:cNvSpPr/>
          <p:nvPr/>
        </p:nvSpPr>
        <p:spPr>
          <a:xfrm>
            <a:off x="5111496" y="2642615"/>
            <a:ext cx="822960" cy="448056"/>
          </a:xfrm>
          <a:prstGeom prst="rect">
            <a:avLst/>
          </a:prstGeom>
          <a:solidFill>
            <a:srgbClr val="E6F0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a:extLst>
              <a:ext uri="{FF2B5EF4-FFF2-40B4-BE49-F238E27FC236}">
                <a16:creationId xmlns:a16="http://schemas.microsoft.com/office/drawing/2014/main" id="{B73DDFC6-BAFC-57DE-15E9-C70A029DBB36}"/>
              </a:ext>
            </a:extLst>
          </p:cNvPr>
          <p:cNvSpPr txBox="1"/>
          <p:nvPr/>
        </p:nvSpPr>
        <p:spPr>
          <a:xfrm>
            <a:off x="5148072" y="2770632"/>
            <a:ext cx="749808" cy="182880"/>
          </a:xfrm>
          <a:prstGeom prst="rect">
            <a:avLst/>
          </a:prstGeom>
          <a:noFill/>
        </p:spPr>
        <p:txBody>
          <a:bodyPr wrap="square">
            <a:spAutoFit/>
          </a:bodyPr>
          <a:lstStyle/>
          <a:p>
            <a:pPr algn="ctr"/>
            <a:r>
              <a:rPr sz="840" b="1">
                <a:solidFill>
                  <a:srgbClr val="232C37"/>
                </a:solidFill>
                <a:latin typeface="Aptos"/>
              </a:rPr>
              <a:t>1.2510 s</a:t>
            </a:r>
          </a:p>
        </p:txBody>
      </p:sp>
      <p:sp>
        <p:nvSpPr>
          <p:cNvPr id="122" name="Rectangle 121">
            <a:extLst>
              <a:ext uri="{FF2B5EF4-FFF2-40B4-BE49-F238E27FC236}">
                <a16:creationId xmlns:a16="http://schemas.microsoft.com/office/drawing/2014/main" id="{9F785816-63E1-16A2-28C2-2961C87AABA6}"/>
              </a:ext>
            </a:extLst>
          </p:cNvPr>
          <p:cNvSpPr/>
          <p:nvPr/>
        </p:nvSpPr>
        <p:spPr>
          <a:xfrm>
            <a:off x="5934456" y="2642615"/>
            <a:ext cx="1417320" cy="448056"/>
          </a:xfrm>
          <a:prstGeom prst="rect">
            <a:avLst/>
          </a:prstGeom>
          <a:solidFill>
            <a:srgbClr val="E6F0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a:extLst>
              <a:ext uri="{FF2B5EF4-FFF2-40B4-BE49-F238E27FC236}">
                <a16:creationId xmlns:a16="http://schemas.microsoft.com/office/drawing/2014/main" id="{6CC33C91-FC5F-1A21-A119-E28CD3B9542D}"/>
              </a:ext>
            </a:extLst>
          </p:cNvPr>
          <p:cNvSpPr txBox="1"/>
          <p:nvPr/>
        </p:nvSpPr>
        <p:spPr>
          <a:xfrm>
            <a:off x="5971032" y="2770632"/>
            <a:ext cx="1344168" cy="182880"/>
          </a:xfrm>
          <a:prstGeom prst="rect">
            <a:avLst/>
          </a:prstGeom>
          <a:noFill/>
        </p:spPr>
        <p:txBody>
          <a:bodyPr wrap="square">
            <a:spAutoFit/>
          </a:bodyPr>
          <a:lstStyle/>
          <a:p>
            <a:pPr algn="ctr"/>
            <a:r>
              <a:rPr sz="840" b="1">
                <a:solidFill>
                  <a:srgbClr val="232C37"/>
                </a:solidFill>
                <a:latin typeface="Aptos"/>
              </a:rPr>
              <a:t>300 trees</a:t>
            </a:r>
          </a:p>
        </p:txBody>
      </p:sp>
      <p:sp>
        <p:nvSpPr>
          <p:cNvPr id="126" name="Rectangle 125">
            <a:extLst>
              <a:ext uri="{FF2B5EF4-FFF2-40B4-BE49-F238E27FC236}">
                <a16:creationId xmlns:a16="http://schemas.microsoft.com/office/drawing/2014/main" id="{3EDD5C4C-DC59-237A-DFA5-E4833BE19651}"/>
              </a:ext>
            </a:extLst>
          </p:cNvPr>
          <p:cNvSpPr/>
          <p:nvPr/>
        </p:nvSpPr>
        <p:spPr>
          <a:xfrm>
            <a:off x="566928" y="3090672"/>
            <a:ext cx="1783080" cy="448056"/>
          </a:xfrm>
          <a:prstGeom prst="rect">
            <a:avLst/>
          </a:prstGeom>
          <a:solidFill>
            <a:srgbClr val="F6F8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a:extLst>
              <a:ext uri="{FF2B5EF4-FFF2-40B4-BE49-F238E27FC236}">
                <a16:creationId xmlns:a16="http://schemas.microsoft.com/office/drawing/2014/main" id="{5FA05484-5CC8-CA42-06A3-A75BE277D705}"/>
              </a:ext>
            </a:extLst>
          </p:cNvPr>
          <p:cNvSpPr txBox="1"/>
          <p:nvPr/>
        </p:nvSpPr>
        <p:spPr>
          <a:xfrm>
            <a:off x="603504" y="3218688"/>
            <a:ext cx="1709928" cy="182880"/>
          </a:xfrm>
          <a:prstGeom prst="rect">
            <a:avLst/>
          </a:prstGeom>
          <a:noFill/>
        </p:spPr>
        <p:txBody>
          <a:bodyPr wrap="square">
            <a:spAutoFit/>
          </a:bodyPr>
          <a:lstStyle/>
          <a:p>
            <a:pPr algn="l"/>
            <a:r>
              <a:rPr sz="840" b="0">
                <a:solidFill>
                  <a:srgbClr val="232C37"/>
                </a:solidFill>
                <a:latin typeface="Aptos"/>
              </a:rPr>
              <a:t>Late closure</a:t>
            </a:r>
          </a:p>
        </p:txBody>
      </p:sp>
      <p:sp>
        <p:nvSpPr>
          <p:cNvPr id="130" name="Rectangle 129">
            <a:extLst>
              <a:ext uri="{FF2B5EF4-FFF2-40B4-BE49-F238E27FC236}">
                <a16:creationId xmlns:a16="http://schemas.microsoft.com/office/drawing/2014/main" id="{15B00BFF-EF46-F181-F504-7BC3A01578C0}"/>
              </a:ext>
            </a:extLst>
          </p:cNvPr>
          <p:cNvSpPr/>
          <p:nvPr/>
        </p:nvSpPr>
        <p:spPr>
          <a:xfrm>
            <a:off x="2350008" y="3090672"/>
            <a:ext cx="1417320" cy="448056"/>
          </a:xfrm>
          <a:prstGeom prst="rect">
            <a:avLst/>
          </a:prstGeom>
          <a:solidFill>
            <a:srgbClr val="F6F8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a:extLst>
              <a:ext uri="{FF2B5EF4-FFF2-40B4-BE49-F238E27FC236}">
                <a16:creationId xmlns:a16="http://schemas.microsoft.com/office/drawing/2014/main" id="{94EFB9E6-F5A1-89D9-4A09-EA8BB12873AC}"/>
              </a:ext>
            </a:extLst>
          </p:cNvPr>
          <p:cNvSpPr txBox="1"/>
          <p:nvPr/>
        </p:nvSpPr>
        <p:spPr>
          <a:xfrm>
            <a:off x="2386584" y="3218688"/>
            <a:ext cx="1344168" cy="182880"/>
          </a:xfrm>
          <a:prstGeom prst="rect">
            <a:avLst/>
          </a:prstGeom>
          <a:noFill/>
        </p:spPr>
        <p:txBody>
          <a:bodyPr wrap="square">
            <a:spAutoFit/>
          </a:bodyPr>
          <a:lstStyle/>
          <a:p>
            <a:pPr algn="ctr"/>
            <a:r>
              <a:rPr sz="840" b="0">
                <a:solidFill>
                  <a:srgbClr val="232C37"/>
                </a:solidFill>
                <a:latin typeface="Aptos"/>
              </a:rPr>
              <a:t>XGBoost</a:t>
            </a:r>
          </a:p>
        </p:txBody>
      </p:sp>
      <p:sp>
        <p:nvSpPr>
          <p:cNvPr id="134" name="Rectangle 133">
            <a:extLst>
              <a:ext uri="{FF2B5EF4-FFF2-40B4-BE49-F238E27FC236}">
                <a16:creationId xmlns:a16="http://schemas.microsoft.com/office/drawing/2014/main" id="{675CA699-4EE3-CE0A-CCB5-D9D411860030}"/>
              </a:ext>
            </a:extLst>
          </p:cNvPr>
          <p:cNvSpPr/>
          <p:nvPr/>
        </p:nvSpPr>
        <p:spPr>
          <a:xfrm>
            <a:off x="3767328" y="3090672"/>
            <a:ext cx="594360" cy="448056"/>
          </a:xfrm>
          <a:prstGeom prst="rect">
            <a:avLst/>
          </a:prstGeom>
          <a:solidFill>
            <a:srgbClr val="F6F8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a:extLst>
              <a:ext uri="{FF2B5EF4-FFF2-40B4-BE49-F238E27FC236}">
                <a16:creationId xmlns:a16="http://schemas.microsoft.com/office/drawing/2014/main" id="{BD3BF424-2E1E-F12C-9497-B371BE9AB09F}"/>
              </a:ext>
            </a:extLst>
          </p:cNvPr>
          <p:cNvSpPr txBox="1"/>
          <p:nvPr/>
        </p:nvSpPr>
        <p:spPr>
          <a:xfrm>
            <a:off x="3803904" y="3218688"/>
            <a:ext cx="521208" cy="182880"/>
          </a:xfrm>
          <a:prstGeom prst="rect">
            <a:avLst/>
          </a:prstGeom>
          <a:noFill/>
        </p:spPr>
        <p:txBody>
          <a:bodyPr wrap="square">
            <a:spAutoFit/>
          </a:bodyPr>
          <a:lstStyle/>
          <a:p>
            <a:pPr algn="ctr"/>
            <a:r>
              <a:rPr sz="840" b="0">
                <a:solidFill>
                  <a:srgbClr val="232C37"/>
                </a:solidFill>
                <a:latin typeface="Aptos"/>
              </a:rPr>
              <a:t>.535</a:t>
            </a:r>
          </a:p>
        </p:txBody>
      </p:sp>
      <p:sp>
        <p:nvSpPr>
          <p:cNvPr id="138" name="Rectangle 137">
            <a:extLst>
              <a:ext uri="{FF2B5EF4-FFF2-40B4-BE49-F238E27FC236}">
                <a16:creationId xmlns:a16="http://schemas.microsoft.com/office/drawing/2014/main" id="{7294F57E-E23A-627E-31A3-5B601E5C3FF9}"/>
              </a:ext>
            </a:extLst>
          </p:cNvPr>
          <p:cNvSpPr/>
          <p:nvPr/>
        </p:nvSpPr>
        <p:spPr>
          <a:xfrm>
            <a:off x="4361688" y="3090672"/>
            <a:ext cx="749808" cy="448056"/>
          </a:xfrm>
          <a:prstGeom prst="rect">
            <a:avLst/>
          </a:prstGeom>
          <a:solidFill>
            <a:srgbClr val="F6F8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a:extLst>
              <a:ext uri="{FF2B5EF4-FFF2-40B4-BE49-F238E27FC236}">
                <a16:creationId xmlns:a16="http://schemas.microsoft.com/office/drawing/2014/main" id="{C4F0EDAB-88D8-0FF3-9971-5AFBFD9389E1}"/>
              </a:ext>
            </a:extLst>
          </p:cNvPr>
          <p:cNvSpPr txBox="1"/>
          <p:nvPr/>
        </p:nvSpPr>
        <p:spPr>
          <a:xfrm>
            <a:off x="4398264" y="3218688"/>
            <a:ext cx="676656" cy="182880"/>
          </a:xfrm>
          <a:prstGeom prst="rect">
            <a:avLst/>
          </a:prstGeom>
          <a:noFill/>
        </p:spPr>
        <p:txBody>
          <a:bodyPr wrap="square">
            <a:spAutoFit/>
          </a:bodyPr>
          <a:lstStyle/>
          <a:p>
            <a:pPr algn="ctr"/>
            <a:r>
              <a:rPr sz="840" b="0">
                <a:solidFill>
                  <a:srgbClr val="232C37"/>
                </a:solidFill>
                <a:latin typeface="Aptos"/>
              </a:rPr>
              <a:t>.695</a:t>
            </a:r>
          </a:p>
        </p:txBody>
      </p:sp>
      <p:sp>
        <p:nvSpPr>
          <p:cNvPr id="142" name="Rectangle 141">
            <a:extLst>
              <a:ext uri="{FF2B5EF4-FFF2-40B4-BE49-F238E27FC236}">
                <a16:creationId xmlns:a16="http://schemas.microsoft.com/office/drawing/2014/main" id="{E5F04FC9-C499-5A3E-E038-5FD9991213CD}"/>
              </a:ext>
            </a:extLst>
          </p:cNvPr>
          <p:cNvSpPr/>
          <p:nvPr/>
        </p:nvSpPr>
        <p:spPr>
          <a:xfrm>
            <a:off x="5111496" y="3090672"/>
            <a:ext cx="822960" cy="448056"/>
          </a:xfrm>
          <a:prstGeom prst="rect">
            <a:avLst/>
          </a:prstGeom>
          <a:solidFill>
            <a:srgbClr val="F6F8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143">
            <a:extLst>
              <a:ext uri="{FF2B5EF4-FFF2-40B4-BE49-F238E27FC236}">
                <a16:creationId xmlns:a16="http://schemas.microsoft.com/office/drawing/2014/main" id="{1165B1F8-C7CD-0265-D65C-BDD9DDC50FC7}"/>
              </a:ext>
            </a:extLst>
          </p:cNvPr>
          <p:cNvSpPr txBox="1"/>
          <p:nvPr/>
        </p:nvSpPr>
        <p:spPr>
          <a:xfrm>
            <a:off x="5148072" y="3218688"/>
            <a:ext cx="749808" cy="182880"/>
          </a:xfrm>
          <a:prstGeom prst="rect">
            <a:avLst/>
          </a:prstGeom>
          <a:noFill/>
        </p:spPr>
        <p:txBody>
          <a:bodyPr wrap="square">
            <a:spAutoFit/>
          </a:bodyPr>
          <a:lstStyle/>
          <a:p>
            <a:pPr algn="ctr"/>
            <a:r>
              <a:rPr sz="840" b="0">
                <a:solidFill>
                  <a:srgbClr val="232C37"/>
                </a:solidFill>
                <a:latin typeface="Aptos"/>
              </a:rPr>
              <a:t>1.7950 s</a:t>
            </a:r>
          </a:p>
        </p:txBody>
      </p:sp>
      <p:sp>
        <p:nvSpPr>
          <p:cNvPr id="146" name="Rectangle 145">
            <a:extLst>
              <a:ext uri="{FF2B5EF4-FFF2-40B4-BE49-F238E27FC236}">
                <a16:creationId xmlns:a16="http://schemas.microsoft.com/office/drawing/2014/main" id="{D8716332-B687-658F-4954-9D0F706E2C18}"/>
              </a:ext>
            </a:extLst>
          </p:cNvPr>
          <p:cNvSpPr/>
          <p:nvPr/>
        </p:nvSpPr>
        <p:spPr>
          <a:xfrm>
            <a:off x="5934456" y="3090672"/>
            <a:ext cx="1417320" cy="448056"/>
          </a:xfrm>
          <a:prstGeom prst="rect">
            <a:avLst/>
          </a:prstGeom>
          <a:solidFill>
            <a:srgbClr val="F6F8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147">
            <a:extLst>
              <a:ext uri="{FF2B5EF4-FFF2-40B4-BE49-F238E27FC236}">
                <a16:creationId xmlns:a16="http://schemas.microsoft.com/office/drawing/2014/main" id="{9569F5E7-8E0A-3AF0-196F-6BFDF1F205EF}"/>
              </a:ext>
            </a:extLst>
          </p:cNvPr>
          <p:cNvSpPr txBox="1"/>
          <p:nvPr/>
        </p:nvSpPr>
        <p:spPr>
          <a:xfrm>
            <a:off x="5971032" y="3218688"/>
            <a:ext cx="1344168" cy="182880"/>
          </a:xfrm>
          <a:prstGeom prst="rect">
            <a:avLst/>
          </a:prstGeom>
          <a:noFill/>
        </p:spPr>
        <p:txBody>
          <a:bodyPr wrap="square">
            <a:spAutoFit/>
          </a:bodyPr>
          <a:lstStyle/>
          <a:p>
            <a:pPr algn="ctr"/>
            <a:r>
              <a:rPr sz="840" b="0">
                <a:solidFill>
                  <a:srgbClr val="232C37"/>
                </a:solidFill>
                <a:latin typeface="Aptos"/>
              </a:rPr>
              <a:t>300 trees</a:t>
            </a:r>
          </a:p>
        </p:txBody>
      </p:sp>
      <p:sp>
        <p:nvSpPr>
          <p:cNvPr id="150" name="Rectangle 149">
            <a:extLst>
              <a:ext uri="{FF2B5EF4-FFF2-40B4-BE49-F238E27FC236}">
                <a16:creationId xmlns:a16="http://schemas.microsoft.com/office/drawing/2014/main" id="{2BEF8342-4AC6-2E60-4D72-4AC7ABD7D5FE}"/>
              </a:ext>
            </a:extLst>
          </p:cNvPr>
          <p:cNvSpPr/>
          <p:nvPr/>
        </p:nvSpPr>
        <p:spPr>
          <a:xfrm>
            <a:off x="566928" y="3538728"/>
            <a:ext cx="1783080" cy="44805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151">
            <a:extLst>
              <a:ext uri="{FF2B5EF4-FFF2-40B4-BE49-F238E27FC236}">
                <a16:creationId xmlns:a16="http://schemas.microsoft.com/office/drawing/2014/main" id="{132EC030-9E74-6BCA-060F-7C8A9FCED9BC}"/>
              </a:ext>
            </a:extLst>
          </p:cNvPr>
          <p:cNvSpPr txBox="1"/>
          <p:nvPr/>
        </p:nvSpPr>
        <p:spPr>
          <a:xfrm>
            <a:off x="603504" y="3666744"/>
            <a:ext cx="1709928" cy="182880"/>
          </a:xfrm>
          <a:prstGeom prst="rect">
            <a:avLst/>
          </a:prstGeom>
          <a:noFill/>
        </p:spPr>
        <p:txBody>
          <a:bodyPr wrap="square">
            <a:spAutoFit/>
          </a:bodyPr>
          <a:lstStyle/>
          <a:p>
            <a:pPr algn="l"/>
            <a:r>
              <a:rPr sz="840" b="0">
                <a:solidFill>
                  <a:srgbClr val="232C37"/>
                </a:solidFill>
                <a:latin typeface="Aptos"/>
              </a:rPr>
              <a:t>Unfinished scope</a:t>
            </a:r>
          </a:p>
        </p:txBody>
      </p:sp>
      <p:sp>
        <p:nvSpPr>
          <p:cNvPr id="154" name="Rectangle 153">
            <a:extLst>
              <a:ext uri="{FF2B5EF4-FFF2-40B4-BE49-F238E27FC236}">
                <a16:creationId xmlns:a16="http://schemas.microsoft.com/office/drawing/2014/main" id="{944C91DF-F2DB-FA17-BC8E-083F354DA547}"/>
              </a:ext>
            </a:extLst>
          </p:cNvPr>
          <p:cNvSpPr/>
          <p:nvPr/>
        </p:nvSpPr>
        <p:spPr>
          <a:xfrm>
            <a:off x="2350008" y="3538728"/>
            <a:ext cx="1417320" cy="44805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a:extLst>
              <a:ext uri="{FF2B5EF4-FFF2-40B4-BE49-F238E27FC236}">
                <a16:creationId xmlns:a16="http://schemas.microsoft.com/office/drawing/2014/main" id="{86018835-FDAC-0BAC-D3C5-5A94E8C43260}"/>
              </a:ext>
            </a:extLst>
          </p:cNvPr>
          <p:cNvSpPr txBox="1"/>
          <p:nvPr/>
        </p:nvSpPr>
        <p:spPr>
          <a:xfrm>
            <a:off x="2386584" y="3666744"/>
            <a:ext cx="1344168" cy="182880"/>
          </a:xfrm>
          <a:prstGeom prst="rect">
            <a:avLst/>
          </a:prstGeom>
          <a:noFill/>
        </p:spPr>
        <p:txBody>
          <a:bodyPr wrap="square">
            <a:spAutoFit/>
          </a:bodyPr>
          <a:lstStyle/>
          <a:p>
            <a:pPr algn="ctr"/>
            <a:r>
              <a:rPr sz="840" b="0">
                <a:solidFill>
                  <a:srgbClr val="232C37"/>
                </a:solidFill>
                <a:latin typeface="Aptos"/>
              </a:rPr>
              <a:t>Always positive</a:t>
            </a:r>
          </a:p>
        </p:txBody>
      </p:sp>
      <p:sp>
        <p:nvSpPr>
          <p:cNvPr id="158" name="Rectangle 157">
            <a:extLst>
              <a:ext uri="{FF2B5EF4-FFF2-40B4-BE49-F238E27FC236}">
                <a16:creationId xmlns:a16="http://schemas.microsoft.com/office/drawing/2014/main" id="{43AD74AE-C8C7-7233-2559-156D828DCCB1}"/>
              </a:ext>
            </a:extLst>
          </p:cNvPr>
          <p:cNvSpPr/>
          <p:nvPr/>
        </p:nvSpPr>
        <p:spPr>
          <a:xfrm>
            <a:off x="3767328" y="3538728"/>
            <a:ext cx="594360" cy="44805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TextBox 159">
            <a:extLst>
              <a:ext uri="{FF2B5EF4-FFF2-40B4-BE49-F238E27FC236}">
                <a16:creationId xmlns:a16="http://schemas.microsoft.com/office/drawing/2014/main" id="{412F4A33-71E0-418E-5527-8C8B428B77EE}"/>
              </a:ext>
            </a:extLst>
          </p:cNvPr>
          <p:cNvSpPr txBox="1"/>
          <p:nvPr/>
        </p:nvSpPr>
        <p:spPr>
          <a:xfrm>
            <a:off x="3803904" y="3666744"/>
            <a:ext cx="521208" cy="182880"/>
          </a:xfrm>
          <a:prstGeom prst="rect">
            <a:avLst/>
          </a:prstGeom>
          <a:noFill/>
        </p:spPr>
        <p:txBody>
          <a:bodyPr wrap="square">
            <a:spAutoFit/>
          </a:bodyPr>
          <a:lstStyle/>
          <a:p>
            <a:pPr algn="ctr"/>
            <a:r>
              <a:rPr sz="840" b="0">
                <a:solidFill>
                  <a:srgbClr val="232C37"/>
                </a:solidFill>
                <a:latin typeface="Aptos"/>
              </a:rPr>
              <a:t>.971</a:t>
            </a:r>
          </a:p>
        </p:txBody>
      </p:sp>
      <p:sp>
        <p:nvSpPr>
          <p:cNvPr id="162" name="Rectangle 161">
            <a:extLst>
              <a:ext uri="{FF2B5EF4-FFF2-40B4-BE49-F238E27FC236}">
                <a16:creationId xmlns:a16="http://schemas.microsoft.com/office/drawing/2014/main" id="{F1E8A702-B9C1-D4F4-ED78-B68C8368775C}"/>
              </a:ext>
            </a:extLst>
          </p:cNvPr>
          <p:cNvSpPr/>
          <p:nvPr/>
        </p:nvSpPr>
        <p:spPr>
          <a:xfrm>
            <a:off x="4361688" y="3538728"/>
            <a:ext cx="749808" cy="44805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163">
            <a:extLst>
              <a:ext uri="{FF2B5EF4-FFF2-40B4-BE49-F238E27FC236}">
                <a16:creationId xmlns:a16="http://schemas.microsoft.com/office/drawing/2014/main" id="{63129062-D10D-1C39-1C28-415535561918}"/>
              </a:ext>
            </a:extLst>
          </p:cNvPr>
          <p:cNvSpPr txBox="1"/>
          <p:nvPr/>
        </p:nvSpPr>
        <p:spPr>
          <a:xfrm>
            <a:off x="4398264" y="3666744"/>
            <a:ext cx="676656" cy="182880"/>
          </a:xfrm>
          <a:prstGeom prst="rect">
            <a:avLst/>
          </a:prstGeom>
          <a:noFill/>
        </p:spPr>
        <p:txBody>
          <a:bodyPr wrap="square">
            <a:spAutoFit/>
          </a:bodyPr>
          <a:lstStyle/>
          <a:p>
            <a:pPr algn="ctr"/>
            <a:r>
              <a:rPr sz="840" b="0">
                <a:solidFill>
                  <a:srgbClr val="232C37"/>
                </a:solidFill>
                <a:latin typeface="Aptos"/>
              </a:rPr>
              <a:t>.500</a:t>
            </a:r>
          </a:p>
        </p:txBody>
      </p:sp>
      <p:sp>
        <p:nvSpPr>
          <p:cNvPr id="166" name="Rectangle 165">
            <a:extLst>
              <a:ext uri="{FF2B5EF4-FFF2-40B4-BE49-F238E27FC236}">
                <a16:creationId xmlns:a16="http://schemas.microsoft.com/office/drawing/2014/main" id="{5F70133B-E6C1-40DF-F8FD-233764CEA5EC}"/>
              </a:ext>
            </a:extLst>
          </p:cNvPr>
          <p:cNvSpPr/>
          <p:nvPr/>
        </p:nvSpPr>
        <p:spPr>
          <a:xfrm>
            <a:off x="5111496" y="3538728"/>
            <a:ext cx="822960" cy="44805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TextBox 167">
            <a:extLst>
              <a:ext uri="{FF2B5EF4-FFF2-40B4-BE49-F238E27FC236}">
                <a16:creationId xmlns:a16="http://schemas.microsoft.com/office/drawing/2014/main" id="{9A22DF01-B6BA-C7AF-FB17-B5BCF4812C8F}"/>
              </a:ext>
            </a:extLst>
          </p:cNvPr>
          <p:cNvSpPr txBox="1"/>
          <p:nvPr/>
        </p:nvSpPr>
        <p:spPr>
          <a:xfrm>
            <a:off x="5148072" y="3666744"/>
            <a:ext cx="749808" cy="182880"/>
          </a:xfrm>
          <a:prstGeom prst="rect">
            <a:avLst/>
          </a:prstGeom>
          <a:noFill/>
        </p:spPr>
        <p:txBody>
          <a:bodyPr wrap="square">
            <a:spAutoFit/>
          </a:bodyPr>
          <a:lstStyle/>
          <a:p>
            <a:pPr algn="ctr"/>
            <a:r>
              <a:rPr sz="840" b="0">
                <a:solidFill>
                  <a:srgbClr val="232C37"/>
                </a:solidFill>
                <a:latin typeface="Aptos"/>
              </a:rPr>
              <a:t>0 s</a:t>
            </a:r>
          </a:p>
        </p:txBody>
      </p:sp>
      <p:sp>
        <p:nvSpPr>
          <p:cNvPr id="170" name="Rectangle 169">
            <a:extLst>
              <a:ext uri="{FF2B5EF4-FFF2-40B4-BE49-F238E27FC236}">
                <a16:creationId xmlns:a16="http://schemas.microsoft.com/office/drawing/2014/main" id="{476A29E7-1210-2BD3-F8AF-DD3BEA041BC7}"/>
              </a:ext>
            </a:extLst>
          </p:cNvPr>
          <p:cNvSpPr/>
          <p:nvPr/>
        </p:nvSpPr>
        <p:spPr>
          <a:xfrm>
            <a:off x="5934456" y="3538728"/>
            <a:ext cx="1417320" cy="44805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TextBox 171">
            <a:extLst>
              <a:ext uri="{FF2B5EF4-FFF2-40B4-BE49-F238E27FC236}">
                <a16:creationId xmlns:a16="http://schemas.microsoft.com/office/drawing/2014/main" id="{A2D60E12-26B5-7D76-0531-016AB23F31C2}"/>
              </a:ext>
            </a:extLst>
          </p:cNvPr>
          <p:cNvSpPr txBox="1"/>
          <p:nvPr/>
        </p:nvSpPr>
        <p:spPr>
          <a:xfrm>
            <a:off x="5971032" y="3666744"/>
            <a:ext cx="1344168" cy="182880"/>
          </a:xfrm>
          <a:prstGeom prst="rect">
            <a:avLst/>
          </a:prstGeom>
          <a:noFill/>
        </p:spPr>
        <p:txBody>
          <a:bodyPr wrap="square">
            <a:spAutoFit/>
          </a:bodyPr>
          <a:lstStyle/>
          <a:p>
            <a:pPr algn="ctr"/>
            <a:r>
              <a:rPr sz="840" b="0">
                <a:solidFill>
                  <a:srgbClr val="232C37"/>
                </a:solidFill>
                <a:latin typeface="Aptos"/>
              </a:rPr>
              <a:t>No fitted model</a:t>
            </a:r>
          </a:p>
        </p:txBody>
      </p:sp>
      <p:sp>
        <p:nvSpPr>
          <p:cNvPr id="174" name="Rectangle 173">
            <a:extLst>
              <a:ext uri="{FF2B5EF4-FFF2-40B4-BE49-F238E27FC236}">
                <a16:creationId xmlns:a16="http://schemas.microsoft.com/office/drawing/2014/main" id="{63D2C881-0281-311E-CFB3-C2E2D8F705B4}"/>
              </a:ext>
            </a:extLst>
          </p:cNvPr>
          <p:cNvSpPr/>
          <p:nvPr/>
        </p:nvSpPr>
        <p:spPr>
          <a:xfrm>
            <a:off x="566928" y="3986783"/>
            <a:ext cx="1783080" cy="448056"/>
          </a:xfrm>
          <a:prstGeom prst="rect">
            <a:avLst/>
          </a:prstGeom>
          <a:solidFill>
            <a:srgbClr val="F6F8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TextBox 175">
            <a:extLst>
              <a:ext uri="{FF2B5EF4-FFF2-40B4-BE49-F238E27FC236}">
                <a16:creationId xmlns:a16="http://schemas.microsoft.com/office/drawing/2014/main" id="{D75EBF0F-4CF7-D457-C19E-892A943763F8}"/>
              </a:ext>
            </a:extLst>
          </p:cNvPr>
          <p:cNvSpPr txBox="1"/>
          <p:nvPr/>
        </p:nvSpPr>
        <p:spPr>
          <a:xfrm>
            <a:off x="603504" y="4114799"/>
            <a:ext cx="1709928" cy="182880"/>
          </a:xfrm>
          <a:prstGeom prst="rect">
            <a:avLst/>
          </a:prstGeom>
          <a:noFill/>
        </p:spPr>
        <p:txBody>
          <a:bodyPr wrap="square">
            <a:spAutoFit/>
          </a:bodyPr>
          <a:lstStyle/>
          <a:p>
            <a:pPr algn="l"/>
            <a:r>
              <a:rPr sz="840" b="0">
                <a:solidFill>
                  <a:srgbClr val="232C37"/>
                </a:solidFill>
                <a:latin typeface="Aptos"/>
              </a:rPr>
              <a:t>Unfinished scope</a:t>
            </a:r>
          </a:p>
        </p:txBody>
      </p:sp>
      <p:sp>
        <p:nvSpPr>
          <p:cNvPr id="178" name="Rectangle 177">
            <a:extLst>
              <a:ext uri="{FF2B5EF4-FFF2-40B4-BE49-F238E27FC236}">
                <a16:creationId xmlns:a16="http://schemas.microsoft.com/office/drawing/2014/main" id="{E36F389A-E32C-FD46-0868-CE1B6454C495}"/>
              </a:ext>
            </a:extLst>
          </p:cNvPr>
          <p:cNvSpPr/>
          <p:nvPr/>
        </p:nvSpPr>
        <p:spPr>
          <a:xfrm>
            <a:off x="2350008" y="3986783"/>
            <a:ext cx="1417320" cy="448056"/>
          </a:xfrm>
          <a:prstGeom prst="rect">
            <a:avLst/>
          </a:prstGeom>
          <a:solidFill>
            <a:srgbClr val="F6F8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TextBox 179">
            <a:extLst>
              <a:ext uri="{FF2B5EF4-FFF2-40B4-BE49-F238E27FC236}">
                <a16:creationId xmlns:a16="http://schemas.microsoft.com/office/drawing/2014/main" id="{B7389FF0-1871-760F-F39C-E8225AE96C4B}"/>
              </a:ext>
            </a:extLst>
          </p:cNvPr>
          <p:cNvSpPr txBox="1"/>
          <p:nvPr/>
        </p:nvSpPr>
        <p:spPr>
          <a:xfrm>
            <a:off x="2386584" y="4114799"/>
            <a:ext cx="1344168" cy="182880"/>
          </a:xfrm>
          <a:prstGeom prst="rect">
            <a:avLst/>
          </a:prstGeom>
          <a:noFill/>
        </p:spPr>
        <p:txBody>
          <a:bodyPr wrap="square">
            <a:spAutoFit/>
          </a:bodyPr>
          <a:lstStyle/>
          <a:p>
            <a:pPr algn="ctr"/>
            <a:r>
              <a:rPr sz="840" b="0">
                <a:solidFill>
                  <a:srgbClr val="232C37"/>
                </a:solidFill>
                <a:latin typeface="Aptos"/>
              </a:rPr>
              <a:t>Count-only LR</a:t>
            </a:r>
          </a:p>
        </p:txBody>
      </p:sp>
      <p:sp>
        <p:nvSpPr>
          <p:cNvPr id="182" name="Rectangle 181">
            <a:extLst>
              <a:ext uri="{FF2B5EF4-FFF2-40B4-BE49-F238E27FC236}">
                <a16:creationId xmlns:a16="http://schemas.microsoft.com/office/drawing/2014/main" id="{FA6F5538-9A29-1E6A-A2E7-8F3AA839E959}"/>
              </a:ext>
            </a:extLst>
          </p:cNvPr>
          <p:cNvSpPr/>
          <p:nvPr/>
        </p:nvSpPr>
        <p:spPr>
          <a:xfrm>
            <a:off x="3767328" y="3986783"/>
            <a:ext cx="594360" cy="448056"/>
          </a:xfrm>
          <a:prstGeom prst="rect">
            <a:avLst/>
          </a:prstGeom>
          <a:solidFill>
            <a:srgbClr val="F6F8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TextBox 183">
            <a:extLst>
              <a:ext uri="{FF2B5EF4-FFF2-40B4-BE49-F238E27FC236}">
                <a16:creationId xmlns:a16="http://schemas.microsoft.com/office/drawing/2014/main" id="{EE747323-BA90-DB91-A623-2805BFAE1E05}"/>
              </a:ext>
            </a:extLst>
          </p:cNvPr>
          <p:cNvSpPr txBox="1"/>
          <p:nvPr/>
        </p:nvSpPr>
        <p:spPr>
          <a:xfrm>
            <a:off x="3803904" y="4114799"/>
            <a:ext cx="521208" cy="182880"/>
          </a:xfrm>
          <a:prstGeom prst="rect">
            <a:avLst/>
          </a:prstGeom>
          <a:noFill/>
        </p:spPr>
        <p:txBody>
          <a:bodyPr wrap="square">
            <a:spAutoFit/>
          </a:bodyPr>
          <a:lstStyle/>
          <a:p>
            <a:pPr algn="ctr"/>
            <a:r>
              <a:rPr sz="840" b="0">
                <a:solidFill>
                  <a:srgbClr val="232C37"/>
                </a:solidFill>
                <a:latin typeface="Aptos"/>
              </a:rPr>
              <a:t>.650</a:t>
            </a:r>
          </a:p>
        </p:txBody>
      </p:sp>
      <p:sp>
        <p:nvSpPr>
          <p:cNvPr id="186" name="Rectangle 185">
            <a:extLst>
              <a:ext uri="{FF2B5EF4-FFF2-40B4-BE49-F238E27FC236}">
                <a16:creationId xmlns:a16="http://schemas.microsoft.com/office/drawing/2014/main" id="{85D17E73-F18C-DC3A-5B45-E8FC6DA39BAE}"/>
              </a:ext>
            </a:extLst>
          </p:cNvPr>
          <p:cNvSpPr/>
          <p:nvPr/>
        </p:nvSpPr>
        <p:spPr>
          <a:xfrm>
            <a:off x="4361688" y="3986783"/>
            <a:ext cx="749808" cy="448056"/>
          </a:xfrm>
          <a:prstGeom prst="rect">
            <a:avLst/>
          </a:prstGeom>
          <a:solidFill>
            <a:srgbClr val="F6F8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TextBox 187">
            <a:extLst>
              <a:ext uri="{FF2B5EF4-FFF2-40B4-BE49-F238E27FC236}">
                <a16:creationId xmlns:a16="http://schemas.microsoft.com/office/drawing/2014/main" id="{630302D7-CD5D-F0CA-E97F-C671D9379DFE}"/>
              </a:ext>
            </a:extLst>
          </p:cNvPr>
          <p:cNvSpPr txBox="1"/>
          <p:nvPr/>
        </p:nvSpPr>
        <p:spPr>
          <a:xfrm>
            <a:off x="4398264" y="4114799"/>
            <a:ext cx="676656" cy="182880"/>
          </a:xfrm>
          <a:prstGeom prst="rect">
            <a:avLst/>
          </a:prstGeom>
          <a:noFill/>
        </p:spPr>
        <p:txBody>
          <a:bodyPr wrap="square">
            <a:spAutoFit/>
          </a:bodyPr>
          <a:lstStyle/>
          <a:p>
            <a:pPr algn="ctr"/>
            <a:r>
              <a:rPr sz="840" b="0">
                <a:solidFill>
                  <a:srgbClr val="232C37"/>
                </a:solidFill>
                <a:latin typeface="Aptos"/>
              </a:rPr>
              <a:t>.881</a:t>
            </a:r>
          </a:p>
        </p:txBody>
      </p:sp>
      <p:sp>
        <p:nvSpPr>
          <p:cNvPr id="190" name="Rectangle 189">
            <a:extLst>
              <a:ext uri="{FF2B5EF4-FFF2-40B4-BE49-F238E27FC236}">
                <a16:creationId xmlns:a16="http://schemas.microsoft.com/office/drawing/2014/main" id="{108D165E-C465-3154-E72A-B004CFEE484D}"/>
              </a:ext>
            </a:extLst>
          </p:cNvPr>
          <p:cNvSpPr/>
          <p:nvPr/>
        </p:nvSpPr>
        <p:spPr>
          <a:xfrm>
            <a:off x="5111496" y="3986783"/>
            <a:ext cx="822960" cy="448056"/>
          </a:xfrm>
          <a:prstGeom prst="rect">
            <a:avLst/>
          </a:prstGeom>
          <a:solidFill>
            <a:srgbClr val="F6F8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TextBox 191">
            <a:extLst>
              <a:ext uri="{FF2B5EF4-FFF2-40B4-BE49-F238E27FC236}">
                <a16:creationId xmlns:a16="http://schemas.microsoft.com/office/drawing/2014/main" id="{BEEEFB6A-81A9-6E1C-7ABF-241AE1B1BAE8}"/>
              </a:ext>
            </a:extLst>
          </p:cNvPr>
          <p:cNvSpPr txBox="1"/>
          <p:nvPr/>
        </p:nvSpPr>
        <p:spPr>
          <a:xfrm>
            <a:off x="5148072" y="4114799"/>
            <a:ext cx="749808" cy="182880"/>
          </a:xfrm>
          <a:prstGeom prst="rect">
            <a:avLst/>
          </a:prstGeom>
          <a:noFill/>
        </p:spPr>
        <p:txBody>
          <a:bodyPr wrap="square">
            <a:spAutoFit/>
          </a:bodyPr>
          <a:lstStyle/>
          <a:p>
            <a:pPr algn="ctr"/>
            <a:r>
              <a:rPr sz="840" b="0">
                <a:solidFill>
                  <a:srgbClr val="232C37"/>
                </a:solidFill>
                <a:latin typeface="Aptos"/>
              </a:rPr>
              <a:t>0.0198 s</a:t>
            </a:r>
          </a:p>
        </p:txBody>
      </p:sp>
      <p:sp>
        <p:nvSpPr>
          <p:cNvPr id="194" name="Rectangle 193">
            <a:extLst>
              <a:ext uri="{FF2B5EF4-FFF2-40B4-BE49-F238E27FC236}">
                <a16:creationId xmlns:a16="http://schemas.microsoft.com/office/drawing/2014/main" id="{C8B9C867-2FBA-189B-9840-5FA20289F956}"/>
              </a:ext>
            </a:extLst>
          </p:cNvPr>
          <p:cNvSpPr/>
          <p:nvPr/>
        </p:nvSpPr>
        <p:spPr>
          <a:xfrm>
            <a:off x="5934456" y="3986783"/>
            <a:ext cx="1417320" cy="448056"/>
          </a:xfrm>
          <a:prstGeom prst="rect">
            <a:avLst/>
          </a:prstGeom>
          <a:solidFill>
            <a:srgbClr val="F6F8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TextBox 195">
            <a:extLst>
              <a:ext uri="{FF2B5EF4-FFF2-40B4-BE49-F238E27FC236}">
                <a16:creationId xmlns:a16="http://schemas.microsoft.com/office/drawing/2014/main" id="{AE321F9D-A6BC-1B7D-DD38-02C52253BEAA}"/>
              </a:ext>
            </a:extLst>
          </p:cNvPr>
          <p:cNvSpPr txBox="1"/>
          <p:nvPr/>
        </p:nvSpPr>
        <p:spPr>
          <a:xfrm>
            <a:off x="5971032" y="4114799"/>
            <a:ext cx="1344168" cy="182880"/>
          </a:xfrm>
          <a:prstGeom prst="rect">
            <a:avLst/>
          </a:prstGeom>
          <a:noFill/>
        </p:spPr>
        <p:txBody>
          <a:bodyPr wrap="square">
            <a:spAutoFit/>
          </a:bodyPr>
          <a:lstStyle/>
          <a:p>
            <a:pPr algn="ctr"/>
            <a:r>
              <a:rPr sz="840" b="0">
                <a:solidFill>
                  <a:srgbClr val="232C37"/>
                </a:solidFill>
                <a:latin typeface="Aptos"/>
              </a:rPr>
              <a:t>1 predictor</a:t>
            </a:r>
          </a:p>
        </p:txBody>
      </p:sp>
      <p:sp>
        <p:nvSpPr>
          <p:cNvPr id="198" name="Rectangle 197">
            <a:extLst>
              <a:ext uri="{FF2B5EF4-FFF2-40B4-BE49-F238E27FC236}">
                <a16:creationId xmlns:a16="http://schemas.microsoft.com/office/drawing/2014/main" id="{B7FA26F2-CDF2-8089-7E21-8F53948FA086}"/>
              </a:ext>
            </a:extLst>
          </p:cNvPr>
          <p:cNvSpPr/>
          <p:nvPr/>
        </p:nvSpPr>
        <p:spPr>
          <a:xfrm>
            <a:off x="566928" y="4434840"/>
            <a:ext cx="1783080" cy="448056"/>
          </a:xfrm>
          <a:prstGeom prst="rect">
            <a:avLst/>
          </a:prstGeom>
          <a:solidFill>
            <a:srgbClr val="E6F0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TextBox 199">
            <a:extLst>
              <a:ext uri="{FF2B5EF4-FFF2-40B4-BE49-F238E27FC236}">
                <a16:creationId xmlns:a16="http://schemas.microsoft.com/office/drawing/2014/main" id="{C127A170-2CD8-5B58-3E8A-79EACCE9D501}"/>
              </a:ext>
            </a:extLst>
          </p:cNvPr>
          <p:cNvSpPr txBox="1"/>
          <p:nvPr/>
        </p:nvSpPr>
        <p:spPr>
          <a:xfrm>
            <a:off x="603504" y="4562855"/>
            <a:ext cx="1709928" cy="182880"/>
          </a:xfrm>
          <a:prstGeom prst="rect">
            <a:avLst/>
          </a:prstGeom>
          <a:noFill/>
        </p:spPr>
        <p:txBody>
          <a:bodyPr wrap="square">
            <a:spAutoFit/>
          </a:bodyPr>
          <a:lstStyle/>
          <a:p>
            <a:pPr algn="l"/>
            <a:r>
              <a:rPr sz="840" b="1">
                <a:solidFill>
                  <a:srgbClr val="232C37"/>
                </a:solidFill>
                <a:latin typeface="Aptos"/>
              </a:rPr>
              <a:t>Unfinished scope</a:t>
            </a:r>
          </a:p>
        </p:txBody>
      </p:sp>
      <p:sp>
        <p:nvSpPr>
          <p:cNvPr id="202" name="Rectangle 201">
            <a:extLst>
              <a:ext uri="{FF2B5EF4-FFF2-40B4-BE49-F238E27FC236}">
                <a16:creationId xmlns:a16="http://schemas.microsoft.com/office/drawing/2014/main" id="{D6B30608-00ED-3FF6-64BE-12E2A7386356}"/>
              </a:ext>
            </a:extLst>
          </p:cNvPr>
          <p:cNvSpPr/>
          <p:nvPr/>
        </p:nvSpPr>
        <p:spPr>
          <a:xfrm>
            <a:off x="2350008" y="4434840"/>
            <a:ext cx="1417320" cy="448056"/>
          </a:xfrm>
          <a:prstGeom prst="rect">
            <a:avLst/>
          </a:prstGeom>
          <a:solidFill>
            <a:srgbClr val="E6F0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TextBox 203">
            <a:extLst>
              <a:ext uri="{FF2B5EF4-FFF2-40B4-BE49-F238E27FC236}">
                <a16:creationId xmlns:a16="http://schemas.microsoft.com/office/drawing/2014/main" id="{2A2B9019-666E-E72B-19AB-C0990881A145}"/>
              </a:ext>
            </a:extLst>
          </p:cNvPr>
          <p:cNvSpPr txBox="1"/>
          <p:nvPr/>
        </p:nvSpPr>
        <p:spPr>
          <a:xfrm>
            <a:off x="2386584" y="4562855"/>
            <a:ext cx="1344168" cy="182880"/>
          </a:xfrm>
          <a:prstGeom prst="rect">
            <a:avLst/>
          </a:prstGeom>
          <a:noFill/>
        </p:spPr>
        <p:txBody>
          <a:bodyPr wrap="square">
            <a:spAutoFit/>
          </a:bodyPr>
          <a:lstStyle/>
          <a:p>
            <a:pPr algn="ctr"/>
            <a:r>
              <a:rPr sz="840" b="1">
                <a:solidFill>
                  <a:srgbClr val="232C37"/>
                </a:solidFill>
                <a:latin typeface="Aptos"/>
              </a:rPr>
              <a:t>Scope-only LR</a:t>
            </a:r>
          </a:p>
        </p:txBody>
      </p:sp>
      <p:sp>
        <p:nvSpPr>
          <p:cNvPr id="206" name="Rectangle 205">
            <a:extLst>
              <a:ext uri="{FF2B5EF4-FFF2-40B4-BE49-F238E27FC236}">
                <a16:creationId xmlns:a16="http://schemas.microsoft.com/office/drawing/2014/main" id="{AEDF394F-9212-64CD-0D4F-9EFB5844F9F2}"/>
              </a:ext>
            </a:extLst>
          </p:cNvPr>
          <p:cNvSpPr/>
          <p:nvPr/>
        </p:nvSpPr>
        <p:spPr>
          <a:xfrm>
            <a:off x="3767328" y="4434840"/>
            <a:ext cx="594360" cy="448056"/>
          </a:xfrm>
          <a:prstGeom prst="rect">
            <a:avLst/>
          </a:prstGeom>
          <a:solidFill>
            <a:srgbClr val="E6F0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TextBox 207">
            <a:extLst>
              <a:ext uri="{FF2B5EF4-FFF2-40B4-BE49-F238E27FC236}">
                <a16:creationId xmlns:a16="http://schemas.microsoft.com/office/drawing/2014/main" id="{426DEE9B-9347-F1B9-81CD-86BC0BDF92D8}"/>
              </a:ext>
            </a:extLst>
          </p:cNvPr>
          <p:cNvSpPr txBox="1"/>
          <p:nvPr/>
        </p:nvSpPr>
        <p:spPr>
          <a:xfrm>
            <a:off x="3803904" y="4562855"/>
            <a:ext cx="521208" cy="182880"/>
          </a:xfrm>
          <a:prstGeom prst="rect">
            <a:avLst/>
          </a:prstGeom>
          <a:noFill/>
        </p:spPr>
        <p:txBody>
          <a:bodyPr wrap="square">
            <a:spAutoFit/>
          </a:bodyPr>
          <a:lstStyle/>
          <a:p>
            <a:pPr algn="ctr"/>
            <a:r>
              <a:rPr sz="840" b="1">
                <a:solidFill>
                  <a:srgbClr val="232C37"/>
                </a:solidFill>
                <a:latin typeface="Aptos"/>
              </a:rPr>
              <a:t>.696</a:t>
            </a:r>
          </a:p>
        </p:txBody>
      </p:sp>
      <p:sp>
        <p:nvSpPr>
          <p:cNvPr id="210" name="Rectangle 209">
            <a:extLst>
              <a:ext uri="{FF2B5EF4-FFF2-40B4-BE49-F238E27FC236}">
                <a16:creationId xmlns:a16="http://schemas.microsoft.com/office/drawing/2014/main" id="{B43A1DA1-9E6A-146B-133C-29088F3888DA}"/>
              </a:ext>
            </a:extLst>
          </p:cNvPr>
          <p:cNvSpPr/>
          <p:nvPr/>
        </p:nvSpPr>
        <p:spPr>
          <a:xfrm>
            <a:off x="4361688" y="4434840"/>
            <a:ext cx="749808" cy="448056"/>
          </a:xfrm>
          <a:prstGeom prst="rect">
            <a:avLst/>
          </a:prstGeom>
          <a:solidFill>
            <a:srgbClr val="E6F0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TextBox 211">
            <a:extLst>
              <a:ext uri="{FF2B5EF4-FFF2-40B4-BE49-F238E27FC236}">
                <a16:creationId xmlns:a16="http://schemas.microsoft.com/office/drawing/2014/main" id="{AD18AF99-61B5-1CB7-AB3E-7238B086217C}"/>
              </a:ext>
            </a:extLst>
          </p:cNvPr>
          <p:cNvSpPr txBox="1"/>
          <p:nvPr/>
        </p:nvSpPr>
        <p:spPr>
          <a:xfrm>
            <a:off x="4398264" y="4562855"/>
            <a:ext cx="676656" cy="182880"/>
          </a:xfrm>
          <a:prstGeom prst="rect">
            <a:avLst/>
          </a:prstGeom>
          <a:noFill/>
        </p:spPr>
        <p:txBody>
          <a:bodyPr wrap="square">
            <a:spAutoFit/>
          </a:bodyPr>
          <a:lstStyle/>
          <a:p>
            <a:pPr algn="ctr"/>
            <a:r>
              <a:rPr sz="840" b="1">
                <a:solidFill>
                  <a:srgbClr val="232C37"/>
                </a:solidFill>
                <a:latin typeface="Aptos"/>
              </a:rPr>
              <a:t>.885</a:t>
            </a:r>
          </a:p>
        </p:txBody>
      </p:sp>
      <p:sp>
        <p:nvSpPr>
          <p:cNvPr id="214" name="Rectangle 213">
            <a:extLst>
              <a:ext uri="{FF2B5EF4-FFF2-40B4-BE49-F238E27FC236}">
                <a16:creationId xmlns:a16="http://schemas.microsoft.com/office/drawing/2014/main" id="{F106107E-E6D2-E53D-FC62-6F154137E0C3}"/>
              </a:ext>
            </a:extLst>
          </p:cNvPr>
          <p:cNvSpPr/>
          <p:nvPr/>
        </p:nvSpPr>
        <p:spPr>
          <a:xfrm>
            <a:off x="5111496" y="4434840"/>
            <a:ext cx="822960" cy="448056"/>
          </a:xfrm>
          <a:prstGeom prst="rect">
            <a:avLst/>
          </a:prstGeom>
          <a:solidFill>
            <a:srgbClr val="E6F0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TextBox 215">
            <a:extLst>
              <a:ext uri="{FF2B5EF4-FFF2-40B4-BE49-F238E27FC236}">
                <a16:creationId xmlns:a16="http://schemas.microsoft.com/office/drawing/2014/main" id="{02DA301E-5386-78DC-C9B4-892A6B09BA86}"/>
              </a:ext>
            </a:extLst>
          </p:cNvPr>
          <p:cNvSpPr txBox="1"/>
          <p:nvPr/>
        </p:nvSpPr>
        <p:spPr>
          <a:xfrm>
            <a:off x="5148072" y="4562855"/>
            <a:ext cx="749808" cy="182880"/>
          </a:xfrm>
          <a:prstGeom prst="rect">
            <a:avLst/>
          </a:prstGeom>
          <a:noFill/>
        </p:spPr>
        <p:txBody>
          <a:bodyPr wrap="square">
            <a:spAutoFit/>
          </a:bodyPr>
          <a:lstStyle/>
          <a:p>
            <a:pPr algn="ctr"/>
            <a:r>
              <a:rPr sz="840" b="1">
                <a:solidFill>
                  <a:srgbClr val="232C37"/>
                </a:solidFill>
                <a:latin typeface="Aptos"/>
              </a:rPr>
              <a:t>0.0195 s</a:t>
            </a:r>
          </a:p>
        </p:txBody>
      </p:sp>
      <p:sp>
        <p:nvSpPr>
          <p:cNvPr id="218" name="Rectangle 217">
            <a:extLst>
              <a:ext uri="{FF2B5EF4-FFF2-40B4-BE49-F238E27FC236}">
                <a16:creationId xmlns:a16="http://schemas.microsoft.com/office/drawing/2014/main" id="{ACD604AB-EB5D-C0CE-06B8-330F924CF8A5}"/>
              </a:ext>
            </a:extLst>
          </p:cNvPr>
          <p:cNvSpPr/>
          <p:nvPr/>
        </p:nvSpPr>
        <p:spPr>
          <a:xfrm>
            <a:off x="5934456" y="4434840"/>
            <a:ext cx="1417320" cy="448056"/>
          </a:xfrm>
          <a:prstGeom prst="rect">
            <a:avLst/>
          </a:prstGeom>
          <a:solidFill>
            <a:srgbClr val="E6F0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TextBox 219">
            <a:extLst>
              <a:ext uri="{FF2B5EF4-FFF2-40B4-BE49-F238E27FC236}">
                <a16:creationId xmlns:a16="http://schemas.microsoft.com/office/drawing/2014/main" id="{B37C5D34-7869-A347-4BB3-BFF736698EE6}"/>
              </a:ext>
            </a:extLst>
          </p:cNvPr>
          <p:cNvSpPr txBox="1"/>
          <p:nvPr/>
        </p:nvSpPr>
        <p:spPr>
          <a:xfrm>
            <a:off x="5971032" y="4562855"/>
            <a:ext cx="1344168" cy="182880"/>
          </a:xfrm>
          <a:prstGeom prst="rect">
            <a:avLst/>
          </a:prstGeom>
          <a:noFill/>
        </p:spPr>
        <p:txBody>
          <a:bodyPr wrap="square">
            <a:spAutoFit/>
          </a:bodyPr>
          <a:lstStyle/>
          <a:p>
            <a:pPr algn="ctr"/>
            <a:r>
              <a:rPr sz="840" b="1">
                <a:solidFill>
                  <a:srgbClr val="232C37"/>
                </a:solidFill>
                <a:latin typeface="Aptos"/>
              </a:rPr>
              <a:t>3 predictors</a:t>
            </a:r>
          </a:p>
        </p:txBody>
      </p:sp>
      <p:sp>
        <p:nvSpPr>
          <p:cNvPr id="222" name="Rectangle 221">
            <a:extLst>
              <a:ext uri="{FF2B5EF4-FFF2-40B4-BE49-F238E27FC236}">
                <a16:creationId xmlns:a16="http://schemas.microsoft.com/office/drawing/2014/main" id="{9BC42163-1699-7510-EFBC-ABA9080AF3D9}"/>
              </a:ext>
            </a:extLst>
          </p:cNvPr>
          <p:cNvSpPr/>
          <p:nvPr/>
        </p:nvSpPr>
        <p:spPr>
          <a:xfrm>
            <a:off x="566928" y="4882896"/>
            <a:ext cx="1783080" cy="448056"/>
          </a:xfrm>
          <a:prstGeom prst="rect">
            <a:avLst/>
          </a:prstGeom>
          <a:solidFill>
            <a:srgbClr val="F6F8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TextBox 223">
            <a:extLst>
              <a:ext uri="{FF2B5EF4-FFF2-40B4-BE49-F238E27FC236}">
                <a16:creationId xmlns:a16="http://schemas.microsoft.com/office/drawing/2014/main" id="{1149E2B8-AA12-BE54-9D18-9391D1708462}"/>
              </a:ext>
            </a:extLst>
          </p:cNvPr>
          <p:cNvSpPr txBox="1"/>
          <p:nvPr/>
        </p:nvSpPr>
        <p:spPr>
          <a:xfrm>
            <a:off x="603504" y="5010912"/>
            <a:ext cx="1709928" cy="182880"/>
          </a:xfrm>
          <a:prstGeom prst="rect">
            <a:avLst/>
          </a:prstGeom>
          <a:noFill/>
        </p:spPr>
        <p:txBody>
          <a:bodyPr wrap="square">
            <a:spAutoFit/>
          </a:bodyPr>
          <a:lstStyle/>
          <a:p>
            <a:pPr algn="l"/>
            <a:r>
              <a:rPr sz="840" b="0">
                <a:solidFill>
                  <a:srgbClr val="232C37"/>
                </a:solidFill>
                <a:latin typeface="Aptos"/>
              </a:rPr>
              <a:t>Unfinished scope</a:t>
            </a:r>
          </a:p>
        </p:txBody>
      </p:sp>
      <p:sp>
        <p:nvSpPr>
          <p:cNvPr id="226" name="Rectangle 225">
            <a:extLst>
              <a:ext uri="{FF2B5EF4-FFF2-40B4-BE49-F238E27FC236}">
                <a16:creationId xmlns:a16="http://schemas.microsoft.com/office/drawing/2014/main" id="{AE35FC21-87D9-4C0F-CD10-174870F89999}"/>
              </a:ext>
            </a:extLst>
          </p:cNvPr>
          <p:cNvSpPr/>
          <p:nvPr/>
        </p:nvSpPr>
        <p:spPr>
          <a:xfrm>
            <a:off x="2350008" y="4882896"/>
            <a:ext cx="1417320" cy="448056"/>
          </a:xfrm>
          <a:prstGeom prst="rect">
            <a:avLst/>
          </a:prstGeom>
          <a:solidFill>
            <a:srgbClr val="F6F8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TextBox 227">
            <a:extLst>
              <a:ext uri="{FF2B5EF4-FFF2-40B4-BE49-F238E27FC236}">
                <a16:creationId xmlns:a16="http://schemas.microsoft.com/office/drawing/2014/main" id="{ACC2FC31-4581-EACF-966C-072FAB9D3844}"/>
              </a:ext>
            </a:extLst>
          </p:cNvPr>
          <p:cNvSpPr txBox="1"/>
          <p:nvPr/>
        </p:nvSpPr>
        <p:spPr>
          <a:xfrm>
            <a:off x="2386584" y="5010912"/>
            <a:ext cx="1344168" cy="182880"/>
          </a:xfrm>
          <a:prstGeom prst="rect">
            <a:avLst/>
          </a:prstGeom>
          <a:noFill/>
        </p:spPr>
        <p:txBody>
          <a:bodyPr wrap="square">
            <a:spAutoFit/>
          </a:bodyPr>
          <a:lstStyle/>
          <a:p>
            <a:pPr algn="ctr"/>
            <a:r>
              <a:rPr sz="840" b="0">
                <a:solidFill>
                  <a:srgbClr val="232C37"/>
                </a:solidFill>
                <a:latin typeface="Aptos"/>
              </a:rPr>
              <a:t>Random Forest</a:t>
            </a:r>
          </a:p>
        </p:txBody>
      </p:sp>
      <p:sp>
        <p:nvSpPr>
          <p:cNvPr id="230" name="Rectangle 229">
            <a:extLst>
              <a:ext uri="{FF2B5EF4-FFF2-40B4-BE49-F238E27FC236}">
                <a16:creationId xmlns:a16="http://schemas.microsoft.com/office/drawing/2014/main" id="{712A3BC5-691A-FF59-659E-31157EDB770B}"/>
              </a:ext>
            </a:extLst>
          </p:cNvPr>
          <p:cNvSpPr/>
          <p:nvPr/>
        </p:nvSpPr>
        <p:spPr>
          <a:xfrm>
            <a:off x="3767328" y="4882896"/>
            <a:ext cx="594360" cy="448056"/>
          </a:xfrm>
          <a:prstGeom prst="rect">
            <a:avLst/>
          </a:prstGeom>
          <a:solidFill>
            <a:srgbClr val="F6F8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 name="TextBox 231">
            <a:extLst>
              <a:ext uri="{FF2B5EF4-FFF2-40B4-BE49-F238E27FC236}">
                <a16:creationId xmlns:a16="http://schemas.microsoft.com/office/drawing/2014/main" id="{F274B8AF-763E-DC55-D989-3AC82F815FD8}"/>
              </a:ext>
            </a:extLst>
          </p:cNvPr>
          <p:cNvSpPr txBox="1"/>
          <p:nvPr/>
        </p:nvSpPr>
        <p:spPr>
          <a:xfrm>
            <a:off x="3803904" y="5010912"/>
            <a:ext cx="521208" cy="182880"/>
          </a:xfrm>
          <a:prstGeom prst="rect">
            <a:avLst/>
          </a:prstGeom>
          <a:noFill/>
        </p:spPr>
        <p:txBody>
          <a:bodyPr wrap="square">
            <a:spAutoFit/>
          </a:bodyPr>
          <a:lstStyle/>
          <a:p>
            <a:pPr algn="ctr"/>
            <a:r>
              <a:rPr sz="840" b="0">
                <a:solidFill>
                  <a:srgbClr val="232C37"/>
                </a:solidFill>
                <a:latin typeface="Aptos"/>
              </a:rPr>
              <a:t>.875</a:t>
            </a:r>
          </a:p>
        </p:txBody>
      </p:sp>
      <p:sp>
        <p:nvSpPr>
          <p:cNvPr id="234" name="Rectangle 233">
            <a:extLst>
              <a:ext uri="{FF2B5EF4-FFF2-40B4-BE49-F238E27FC236}">
                <a16:creationId xmlns:a16="http://schemas.microsoft.com/office/drawing/2014/main" id="{47C49EFD-4E2E-128E-6648-34E8B4781479}"/>
              </a:ext>
            </a:extLst>
          </p:cNvPr>
          <p:cNvSpPr/>
          <p:nvPr/>
        </p:nvSpPr>
        <p:spPr>
          <a:xfrm>
            <a:off x="4361688" y="4882896"/>
            <a:ext cx="749808" cy="448056"/>
          </a:xfrm>
          <a:prstGeom prst="rect">
            <a:avLst/>
          </a:prstGeom>
          <a:solidFill>
            <a:srgbClr val="F6F8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TextBox 235">
            <a:extLst>
              <a:ext uri="{FF2B5EF4-FFF2-40B4-BE49-F238E27FC236}">
                <a16:creationId xmlns:a16="http://schemas.microsoft.com/office/drawing/2014/main" id="{681A585F-F01C-D75D-6895-AA8976F91E34}"/>
              </a:ext>
            </a:extLst>
          </p:cNvPr>
          <p:cNvSpPr txBox="1"/>
          <p:nvPr/>
        </p:nvSpPr>
        <p:spPr>
          <a:xfrm>
            <a:off x="4398264" y="5010912"/>
            <a:ext cx="676656" cy="182880"/>
          </a:xfrm>
          <a:prstGeom prst="rect">
            <a:avLst/>
          </a:prstGeom>
          <a:noFill/>
        </p:spPr>
        <p:txBody>
          <a:bodyPr wrap="square">
            <a:spAutoFit/>
          </a:bodyPr>
          <a:lstStyle/>
          <a:p>
            <a:pPr algn="ctr"/>
            <a:r>
              <a:rPr sz="840" b="0">
                <a:solidFill>
                  <a:srgbClr val="232C37"/>
                </a:solidFill>
                <a:latin typeface="Aptos"/>
              </a:rPr>
              <a:t>.852</a:t>
            </a:r>
          </a:p>
        </p:txBody>
      </p:sp>
      <p:sp>
        <p:nvSpPr>
          <p:cNvPr id="238" name="Rectangle 237">
            <a:extLst>
              <a:ext uri="{FF2B5EF4-FFF2-40B4-BE49-F238E27FC236}">
                <a16:creationId xmlns:a16="http://schemas.microsoft.com/office/drawing/2014/main" id="{0CC1B680-8250-4458-020D-2F0ED3040DD3}"/>
              </a:ext>
            </a:extLst>
          </p:cNvPr>
          <p:cNvSpPr/>
          <p:nvPr/>
        </p:nvSpPr>
        <p:spPr>
          <a:xfrm>
            <a:off x="5111496" y="4882896"/>
            <a:ext cx="822960" cy="448056"/>
          </a:xfrm>
          <a:prstGeom prst="rect">
            <a:avLst/>
          </a:prstGeom>
          <a:solidFill>
            <a:srgbClr val="F6F8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TextBox 239">
            <a:extLst>
              <a:ext uri="{FF2B5EF4-FFF2-40B4-BE49-F238E27FC236}">
                <a16:creationId xmlns:a16="http://schemas.microsoft.com/office/drawing/2014/main" id="{21497C20-0662-953F-9C1F-00CCE234EC60}"/>
              </a:ext>
            </a:extLst>
          </p:cNvPr>
          <p:cNvSpPr txBox="1"/>
          <p:nvPr/>
        </p:nvSpPr>
        <p:spPr>
          <a:xfrm>
            <a:off x="5148072" y="5010912"/>
            <a:ext cx="749808" cy="182880"/>
          </a:xfrm>
          <a:prstGeom prst="rect">
            <a:avLst/>
          </a:prstGeom>
          <a:noFill/>
        </p:spPr>
        <p:txBody>
          <a:bodyPr wrap="square">
            <a:spAutoFit/>
          </a:bodyPr>
          <a:lstStyle/>
          <a:p>
            <a:pPr algn="ctr"/>
            <a:r>
              <a:rPr sz="840" b="0">
                <a:solidFill>
                  <a:srgbClr val="232C37"/>
                </a:solidFill>
                <a:latin typeface="Aptos"/>
              </a:rPr>
              <a:t>1.1374 s</a:t>
            </a:r>
          </a:p>
        </p:txBody>
      </p:sp>
      <p:sp>
        <p:nvSpPr>
          <p:cNvPr id="242" name="Rectangle 241">
            <a:extLst>
              <a:ext uri="{FF2B5EF4-FFF2-40B4-BE49-F238E27FC236}">
                <a16:creationId xmlns:a16="http://schemas.microsoft.com/office/drawing/2014/main" id="{719A4D29-A908-1E08-3D53-5C49016E4262}"/>
              </a:ext>
            </a:extLst>
          </p:cNvPr>
          <p:cNvSpPr/>
          <p:nvPr/>
        </p:nvSpPr>
        <p:spPr>
          <a:xfrm>
            <a:off x="5934456" y="4882896"/>
            <a:ext cx="1417320" cy="448056"/>
          </a:xfrm>
          <a:prstGeom prst="rect">
            <a:avLst/>
          </a:prstGeom>
          <a:solidFill>
            <a:srgbClr val="F6F8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TextBox 243">
            <a:extLst>
              <a:ext uri="{FF2B5EF4-FFF2-40B4-BE49-F238E27FC236}">
                <a16:creationId xmlns:a16="http://schemas.microsoft.com/office/drawing/2014/main" id="{8794FB30-4C4A-6432-D2CA-D34ED01B89CA}"/>
              </a:ext>
            </a:extLst>
          </p:cNvPr>
          <p:cNvSpPr txBox="1"/>
          <p:nvPr/>
        </p:nvSpPr>
        <p:spPr>
          <a:xfrm>
            <a:off x="5971032" y="5010912"/>
            <a:ext cx="1344168" cy="182880"/>
          </a:xfrm>
          <a:prstGeom prst="rect">
            <a:avLst/>
          </a:prstGeom>
          <a:noFill/>
        </p:spPr>
        <p:txBody>
          <a:bodyPr wrap="square">
            <a:spAutoFit/>
          </a:bodyPr>
          <a:lstStyle/>
          <a:p>
            <a:pPr algn="ctr"/>
            <a:r>
              <a:rPr sz="840" b="0">
                <a:solidFill>
                  <a:srgbClr val="232C37"/>
                </a:solidFill>
                <a:latin typeface="Aptos"/>
              </a:rPr>
              <a:t>300 trees</a:t>
            </a:r>
          </a:p>
        </p:txBody>
      </p:sp>
      <p:sp>
        <p:nvSpPr>
          <p:cNvPr id="246" name="Rounded Rectangle 113">
            <a:extLst>
              <a:ext uri="{FF2B5EF4-FFF2-40B4-BE49-F238E27FC236}">
                <a16:creationId xmlns:a16="http://schemas.microsoft.com/office/drawing/2014/main" id="{F1329BA2-2DAA-3F92-C581-24BADD633BF1}"/>
              </a:ext>
            </a:extLst>
          </p:cNvPr>
          <p:cNvSpPr/>
          <p:nvPr/>
        </p:nvSpPr>
        <p:spPr>
          <a:xfrm>
            <a:off x="7818120" y="1298448"/>
            <a:ext cx="3703320" cy="1600200"/>
          </a:xfrm>
          <a:prstGeom prst="roundRect">
            <a:avLst/>
          </a:prstGeom>
          <a:solidFill>
            <a:srgbClr val="FFFFFF"/>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TextBox 247">
            <a:extLst>
              <a:ext uri="{FF2B5EF4-FFF2-40B4-BE49-F238E27FC236}">
                <a16:creationId xmlns:a16="http://schemas.microsoft.com/office/drawing/2014/main" id="{C7F2F87C-2380-12A0-9435-EB283A1566EA}"/>
              </a:ext>
            </a:extLst>
          </p:cNvPr>
          <p:cNvSpPr txBox="1"/>
          <p:nvPr/>
        </p:nvSpPr>
        <p:spPr>
          <a:xfrm>
            <a:off x="8138160" y="1554480"/>
            <a:ext cx="2011680" cy="228600"/>
          </a:xfrm>
          <a:prstGeom prst="rect">
            <a:avLst/>
          </a:prstGeom>
          <a:noFill/>
        </p:spPr>
        <p:txBody>
          <a:bodyPr wrap="square">
            <a:spAutoFit/>
          </a:bodyPr>
          <a:lstStyle/>
          <a:p>
            <a:pPr algn="l"/>
            <a:r>
              <a:rPr sz="1000" b="1">
                <a:solidFill>
                  <a:srgbClr val="ED1423"/>
                </a:solidFill>
                <a:latin typeface="Aptos"/>
              </a:rPr>
              <a:t>LATE CLOSURE</a:t>
            </a:r>
          </a:p>
        </p:txBody>
      </p:sp>
      <p:sp>
        <p:nvSpPr>
          <p:cNvPr id="250" name="TextBox 249">
            <a:extLst>
              <a:ext uri="{FF2B5EF4-FFF2-40B4-BE49-F238E27FC236}">
                <a16:creationId xmlns:a16="http://schemas.microsoft.com/office/drawing/2014/main" id="{7613A7EE-A7CD-274B-8CD2-BC5D388D41F7}"/>
              </a:ext>
            </a:extLst>
          </p:cNvPr>
          <p:cNvSpPr txBox="1"/>
          <p:nvPr/>
        </p:nvSpPr>
        <p:spPr>
          <a:xfrm>
            <a:off x="8138160" y="1874519"/>
            <a:ext cx="2194560" cy="365760"/>
          </a:xfrm>
          <a:prstGeom prst="rect">
            <a:avLst/>
          </a:prstGeom>
          <a:noFill/>
        </p:spPr>
        <p:txBody>
          <a:bodyPr wrap="square">
            <a:spAutoFit/>
          </a:bodyPr>
          <a:lstStyle/>
          <a:p>
            <a:pPr algn="l"/>
            <a:r>
              <a:rPr sz="2200" b="1">
                <a:solidFill>
                  <a:srgbClr val="173A5B"/>
                </a:solidFill>
                <a:latin typeface="Aptos"/>
              </a:rPr>
              <a:t>0.705 AUC</a:t>
            </a:r>
          </a:p>
        </p:txBody>
      </p:sp>
      <p:sp>
        <p:nvSpPr>
          <p:cNvPr id="252" name="TextBox 251">
            <a:extLst>
              <a:ext uri="{FF2B5EF4-FFF2-40B4-BE49-F238E27FC236}">
                <a16:creationId xmlns:a16="http://schemas.microsoft.com/office/drawing/2014/main" id="{1432CF7B-1022-B0FD-EC98-0D7DF96D65D8}"/>
              </a:ext>
            </a:extLst>
          </p:cNvPr>
          <p:cNvSpPr txBox="1"/>
          <p:nvPr/>
        </p:nvSpPr>
        <p:spPr>
          <a:xfrm>
            <a:off x="8138160" y="2331720"/>
            <a:ext cx="3063240" cy="502920"/>
          </a:xfrm>
          <a:prstGeom prst="rect">
            <a:avLst/>
          </a:prstGeom>
          <a:noFill/>
        </p:spPr>
        <p:txBody>
          <a:bodyPr wrap="square">
            <a:spAutoFit/>
          </a:bodyPr>
          <a:lstStyle/>
          <a:p>
            <a:pPr algn="l"/>
            <a:r>
              <a:rPr sz="1000" b="0">
                <a:solidFill>
                  <a:srgbClr val="525B69"/>
                </a:solidFill>
                <a:latin typeface="Aptos"/>
              </a:rPr>
              <a:t>Random Forest gives the strongest ranking performance; XGBoost is close at 0.695.</a:t>
            </a:r>
          </a:p>
        </p:txBody>
      </p:sp>
      <p:sp>
        <p:nvSpPr>
          <p:cNvPr id="254" name="Rounded Rectangle 117">
            <a:extLst>
              <a:ext uri="{FF2B5EF4-FFF2-40B4-BE49-F238E27FC236}">
                <a16:creationId xmlns:a16="http://schemas.microsoft.com/office/drawing/2014/main" id="{9DA1E340-5203-D2E8-91F9-97B13012A286}"/>
              </a:ext>
            </a:extLst>
          </p:cNvPr>
          <p:cNvSpPr/>
          <p:nvPr/>
        </p:nvSpPr>
        <p:spPr>
          <a:xfrm>
            <a:off x="7818120" y="3154680"/>
            <a:ext cx="3703320" cy="1600200"/>
          </a:xfrm>
          <a:prstGeom prst="roundRect">
            <a:avLst/>
          </a:prstGeom>
          <a:solidFill>
            <a:srgbClr val="FFFFFF"/>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TextBox 255">
            <a:extLst>
              <a:ext uri="{FF2B5EF4-FFF2-40B4-BE49-F238E27FC236}">
                <a16:creationId xmlns:a16="http://schemas.microsoft.com/office/drawing/2014/main" id="{7DF5C93D-37A4-21D1-34A7-EEA1E8D2CBA2}"/>
              </a:ext>
            </a:extLst>
          </p:cNvPr>
          <p:cNvSpPr txBox="1"/>
          <p:nvPr/>
        </p:nvSpPr>
        <p:spPr>
          <a:xfrm>
            <a:off x="8138160" y="3410712"/>
            <a:ext cx="2194560" cy="228600"/>
          </a:xfrm>
          <a:prstGeom prst="rect">
            <a:avLst/>
          </a:prstGeom>
          <a:noFill/>
        </p:spPr>
        <p:txBody>
          <a:bodyPr wrap="square">
            <a:spAutoFit/>
          </a:bodyPr>
          <a:lstStyle/>
          <a:p>
            <a:pPr algn="l"/>
            <a:r>
              <a:rPr sz="1000" b="1">
                <a:solidFill>
                  <a:srgbClr val="173A5B"/>
                </a:solidFill>
                <a:latin typeface="Aptos"/>
              </a:rPr>
              <a:t>UNFINISHED SCOPE</a:t>
            </a:r>
          </a:p>
        </p:txBody>
      </p:sp>
      <p:sp>
        <p:nvSpPr>
          <p:cNvPr id="258" name="TextBox 257">
            <a:extLst>
              <a:ext uri="{FF2B5EF4-FFF2-40B4-BE49-F238E27FC236}">
                <a16:creationId xmlns:a16="http://schemas.microsoft.com/office/drawing/2014/main" id="{F2850985-3958-794B-AF90-B763AC94F471}"/>
              </a:ext>
            </a:extLst>
          </p:cNvPr>
          <p:cNvSpPr txBox="1"/>
          <p:nvPr/>
        </p:nvSpPr>
        <p:spPr>
          <a:xfrm>
            <a:off x="8138160" y="3730752"/>
            <a:ext cx="2194560" cy="365760"/>
          </a:xfrm>
          <a:prstGeom prst="rect">
            <a:avLst/>
          </a:prstGeom>
          <a:noFill/>
        </p:spPr>
        <p:txBody>
          <a:bodyPr wrap="square">
            <a:spAutoFit/>
          </a:bodyPr>
          <a:lstStyle/>
          <a:p>
            <a:pPr algn="l"/>
            <a:r>
              <a:rPr sz="2200" b="1" dirty="0">
                <a:solidFill>
                  <a:srgbClr val="ED1423"/>
                </a:solidFill>
                <a:latin typeface="Aptos"/>
              </a:rPr>
              <a:t>0.885 AUC</a:t>
            </a:r>
          </a:p>
        </p:txBody>
      </p:sp>
      <p:sp>
        <p:nvSpPr>
          <p:cNvPr id="260" name="TextBox 259">
            <a:extLst>
              <a:ext uri="{FF2B5EF4-FFF2-40B4-BE49-F238E27FC236}">
                <a16:creationId xmlns:a16="http://schemas.microsoft.com/office/drawing/2014/main" id="{8D1DFE47-B0B8-8938-490E-8DA9676744B2}"/>
              </a:ext>
            </a:extLst>
          </p:cNvPr>
          <p:cNvSpPr txBox="1"/>
          <p:nvPr/>
        </p:nvSpPr>
        <p:spPr>
          <a:xfrm>
            <a:off x="8138160" y="4187952"/>
            <a:ext cx="3063240" cy="502920"/>
          </a:xfrm>
          <a:prstGeom prst="rect">
            <a:avLst/>
          </a:prstGeom>
          <a:noFill/>
        </p:spPr>
        <p:txBody>
          <a:bodyPr wrap="square">
            <a:spAutoFit/>
          </a:bodyPr>
          <a:lstStyle/>
          <a:p>
            <a:pPr algn="l"/>
            <a:r>
              <a:rPr sz="1000" b="0">
                <a:solidFill>
                  <a:srgbClr val="525B69"/>
                </a:solidFill>
                <a:latin typeface="Aptos"/>
              </a:rPr>
              <a:t>Scope-only Logistic Regression gives the strongest ranking performance, above RF at 0.852.</a:t>
            </a:r>
          </a:p>
        </p:txBody>
      </p:sp>
      <p:sp>
        <p:nvSpPr>
          <p:cNvPr id="262" name="Rounded Rectangle 121">
            <a:extLst>
              <a:ext uri="{FF2B5EF4-FFF2-40B4-BE49-F238E27FC236}">
                <a16:creationId xmlns:a16="http://schemas.microsoft.com/office/drawing/2014/main" id="{7F239079-38F8-016F-11D3-A40E62C1F87F}"/>
              </a:ext>
            </a:extLst>
          </p:cNvPr>
          <p:cNvSpPr/>
          <p:nvPr/>
        </p:nvSpPr>
        <p:spPr>
          <a:xfrm>
            <a:off x="566928" y="5413248"/>
            <a:ext cx="10954512" cy="475488"/>
          </a:xfrm>
          <a:prstGeom prst="roundRect">
            <a:avLst/>
          </a:prstGeom>
          <a:solidFill>
            <a:srgbClr val="F6F8FA"/>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TextBox 263">
            <a:extLst>
              <a:ext uri="{FF2B5EF4-FFF2-40B4-BE49-F238E27FC236}">
                <a16:creationId xmlns:a16="http://schemas.microsoft.com/office/drawing/2014/main" id="{1C1D5B68-803D-9C1B-9561-D4E4BA86E4F6}"/>
              </a:ext>
            </a:extLst>
          </p:cNvPr>
          <p:cNvSpPr txBox="1"/>
          <p:nvPr/>
        </p:nvSpPr>
        <p:spPr>
          <a:xfrm>
            <a:off x="804672" y="5541264"/>
            <a:ext cx="10469880" cy="210312"/>
          </a:xfrm>
          <a:prstGeom prst="rect">
            <a:avLst/>
          </a:prstGeom>
          <a:noFill/>
        </p:spPr>
        <p:txBody>
          <a:bodyPr wrap="square">
            <a:spAutoFit/>
          </a:bodyPr>
          <a:lstStyle/>
          <a:p>
            <a:pPr algn="l"/>
            <a:r>
              <a:rPr sz="880" b="0">
                <a:solidFill>
                  <a:srgbClr val="525B69"/>
                </a:solidFill>
                <a:latin typeface="Aptos"/>
              </a:rPr>
              <a:t>Note: Unfinished-scope results use nonempty sprints (n = 511). Training times are measured model-fit times from the reproducible run on this machine.</a:t>
            </a:r>
          </a:p>
        </p:txBody>
      </p:sp>
      <p:sp>
        <p:nvSpPr>
          <p:cNvPr id="266" name="Rectangle 265">
            <a:extLst>
              <a:ext uri="{FF2B5EF4-FFF2-40B4-BE49-F238E27FC236}">
                <a16:creationId xmlns:a16="http://schemas.microsoft.com/office/drawing/2014/main" id="{532EFC31-7889-655D-96D8-8AD9F2A679E5}"/>
              </a:ext>
            </a:extLst>
          </p:cNvPr>
          <p:cNvSpPr/>
          <p:nvPr/>
        </p:nvSpPr>
        <p:spPr>
          <a:xfrm>
            <a:off x="0" y="6565392"/>
            <a:ext cx="12191695" cy="292608"/>
          </a:xfrm>
          <a:prstGeom prst="rect">
            <a:avLst/>
          </a:prstGeom>
          <a:solidFill>
            <a:srgbClr val="ED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TextBox 267">
            <a:extLst>
              <a:ext uri="{FF2B5EF4-FFF2-40B4-BE49-F238E27FC236}">
                <a16:creationId xmlns:a16="http://schemas.microsoft.com/office/drawing/2014/main" id="{B7D21005-66FB-6F70-7D01-EB8870694218}"/>
              </a:ext>
            </a:extLst>
          </p:cNvPr>
          <p:cNvSpPr txBox="1"/>
          <p:nvPr/>
        </p:nvSpPr>
        <p:spPr>
          <a:xfrm>
            <a:off x="457200" y="6629400"/>
            <a:ext cx="6583680" cy="137160"/>
          </a:xfrm>
          <a:prstGeom prst="rect">
            <a:avLst/>
          </a:prstGeom>
          <a:noFill/>
        </p:spPr>
        <p:txBody>
          <a:bodyPr wrap="square">
            <a:spAutoFit/>
          </a:bodyPr>
          <a:lstStyle/>
          <a:p>
            <a:pPr algn="l"/>
            <a:r>
              <a:rPr sz="750" b="1" dirty="0">
                <a:solidFill>
                  <a:srgbClr val="FFFFFF"/>
                </a:solidFill>
                <a:latin typeface="Aptos"/>
              </a:rPr>
              <a:t>CSBP711 Advanced Artificial Intelligence  |  Datasets and Algorithm Comparison</a:t>
            </a:r>
          </a:p>
        </p:txBody>
      </p:sp>
      <p:sp>
        <p:nvSpPr>
          <p:cNvPr id="270" name="TextBox 269">
            <a:extLst>
              <a:ext uri="{FF2B5EF4-FFF2-40B4-BE49-F238E27FC236}">
                <a16:creationId xmlns:a16="http://schemas.microsoft.com/office/drawing/2014/main" id="{64BD16BF-91AA-4BA1-659D-54AED6A5FD10}"/>
              </a:ext>
            </a:extLst>
          </p:cNvPr>
          <p:cNvSpPr txBox="1"/>
          <p:nvPr/>
        </p:nvSpPr>
        <p:spPr>
          <a:xfrm>
            <a:off x="11567160" y="6629400"/>
            <a:ext cx="182880" cy="137160"/>
          </a:xfrm>
          <a:prstGeom prst="rect">
            <a:avLst/>
          </a:prstGeom>
          <a:noFill/>
        </p:spPr>
        <p:txBody>
          <a:bodyPr wrap="square">
            <a:spAutoFit/>
          </a:bodyPr>
          <a:lstStyle/>
          <a:p>
            <a:pPr algn="ctr"/>
            <a:r>
              <a:rPr sz="750" b="1">
                <a:solidFill>
                  <a:srgbClr val="FFFFFF"/>
                </a:solidFill>
                <a:latin typeface="Apto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29">
            <a:extLst>
              <a:ext uri="{FF2B5EF4-FFF2-40B4-BE49-F238E27FC236}">
                <a16:creationId xmlns:a16="http://schemas.microsoft.com/office/drawing/2014/main" id="{D8AB6EED-5510-DD56-8D0C-983040E59C2C}"/>
              </a:ext>
            </a:extLst>
          </p:cNvPr>
          <p:cNvSpPr txBox="1"/>
          <p:nvPr/>
        </p:nvSpPr>
        <p:spPr>
          <a:xfrm>
            <a:off x="502920" y="201168"/>
            <a:ext cx="7772400" cy="320040"/>
          </a:xfrm>
          <a:prstGeom prst="rect">
            <a:avLst/>
          </a:prstGeom>
          <a:noFill/>
        </p:spPr>
        <p:txBody>
          <a:bodyPr wrap="square" lIns="0" tIns="0" rIns="0" bIns="0">
            <a:spAutoFit/>
          </a:bodyPr>
          <a:lstStyle/>
          <a:p>
            <a:pPr algn="l">
              <a:defRPr sz="2100" b="1">
                <a:solidFill>
                  <a:srgbClr val="222B35"/>
                </a:solidFill>
                <a:latin typeface="Aptos"/>
              </a:defRPr>
            </a:pPr>
            <a:r>
              <a:t>Why? Explanation + Ablation</a:t>
            </a:r>
          </a:p>
        </p:txBody>
      </p:sp>
      <p:sp>
        <p:nvSpPr>
          <p:cNvPr id="32" name="TextBox 31">
            <a:extLst>
              <a:ext uri="{FF2B5EF4-FFF2-40B4-BE49-F238E27FC236}">
                <a16:creationId xmlns:a16="http://schemas.microsoft.com/office/drawing/2014/main" id="{1E9C3377-FD8F-A0BB-CD34-ED1F606D1F41}"/>
              </a:ext>
            </a:extLst>
          </p:cNvPr>
          <p:cNvSpPr txBox="1"/>
          <p:nvPr/>
        </p:nvSpPr>
        <p:spPr>
          <a:xfrm>
            <a:off x="521207" y="612648"/>
            <a:ext cx="8046720" cy="201168"/>
          </a:xfrm>
          <a:prstGeom prst="rect">
            <a:avLst/>
          </a:prstGeom>
          <a:noFill/>
        </p:spPr>
        <p:txBody>
          <a:bodyPr wrap="square" lIns="0" tIns="0" rIns="0" bIns="0">
            <a:spAutoFit/>
          </a:bodyPr>
          <a:lstStyle/>
          <a:p>
            <a:pPr algn="l">
              <a:defRPr sz="950" b="0">
                <a:solidFill>
                  <a:srgbClr val="4E5763"/>
                </a:solidFill>
                <a:latin typeface="Aptos"/>
              </a:defRPr>
            </a:pPr>
            <a:r>
              <a:t>The strongest result is explained by a property of the data, not by model complexity</a:t>
            </a:r>
          </a:p>
        </p:txBody>
      </p:sp>
      <p:sp>
        <p:nvSpPr>
          <p:cNvPr id="34" name="Rectangle 33">
            <a:extLst>
              <a:ext uri="{FF2B5EF4-FFF2-40B4-BE49-F238E27FC236}">
                <a16:creationId xmlns:a16="http://schemas.microsoft.com/office/drawing/2014/main" id="{8569C65B-A140-0B28-1B6A-EA73975F3B05}"/>
              </a:ext>
            </a:extLst>
          </p:cNvPr>
          <p:cNvSpPr/>
          <p:nvPr/>
        </p:nvSpPr>
        <p:spPr>
          <a:xfrm>
            <a:off x="0" y="804672"/>
            <a:ext cx="12191695" cy="25400"/>
          </a:xfrm>
          <a:prstGeom prst="rect">
            <a:avLst/>
          </a:prstGeom>
          <a:solidFill>
            <a:srgbClr val="183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a:extLst>
              <a:ext uri="{FF2B5EF4-FFF2-40B4-BE49-F238E27FC236}">
                <a16:creationId xmlns:a16="http://schemas.microsoft.com/office/drawing/2014/main" id="{EFA61B57-566A-B6B9-4C72-3F2524934877}"/>
              </a:ext>
            </a:extLst>
          </p:cNvPr>
          <p:cNvSpPr txBox="1"/>
          <p:nvPr/>
        </p:nvSpPr>
        <p:spPr>
          <a:xfrm>
            <a:off x="9866376" y="283464"/>
            <a:ext cx="475488" cy="109728"/>
          </a:xfrm>
          <a:prstGeom prst="rect">
            <a:avLst/>
          </a:prstGeom>
          <a:noFill/>
        </p:spPr>
        <p:txBody>
          <a:bodyPr wrap="square" lIns="0" tIns="0" rIns="0" bIns="0">
            <a:spAutoFit/>
          </a:bodyPr>
          <a:lstStyle/>
          <a:p>
            <a:pPr algn="l">
              <a:defRPr sz="700" b="1">
                <a:solidFill>
                  <a:srgbClr val="FFFFFF"/>
                </a:solidFill>
                <a:latin typeface="Aptos"/>
              </a:defRPr>
            </a:pPr>
            <a:r>
              <a:t>UAEU</a:t>
            </a:r>
          </a:p>
        </p:txBody>
      </p:sp>
      <p:sp>
        <p:nvSpPr>
          <p:cNvPr id="42" name="Rounded Rectangle 7">
            <a:extLst>
              <a:ext uri="{FF2B5EF4-FFF2-40B4-BE49-F238E27FC236}">
                <a16:creationId xmlns:a16="http://schemas.microsoft.com/office/drawing/2014/main" id="{172E6E1A-728D-EA59-8BD1-482D646000AF}"/>
              </a:ext>
            </a:extLst>
          </p:cNvPr>
          <p:cNvSpPr/>
          <p:nvPr/>
        </p:nvSpPr>
        <p:spPr>
          <a:xfrm>
            <a:off x="502920" y="1069848"/>
            <a:ext cx="5257800" cy="1847088"/>
          </a:xfrm>
          <a:prstGeom prst="roundRect">
            <a:avLst/>
          </a:prstGeom>
          <a:solidFill>
            <a:srgbClr val="FFFFFF"/>
          </a:solidFill>
          <a:ln w="12700">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8">
            <a:extLst>
              <a:ext uri="{FF2B5EF4-FFF2-40B4-BE49-F238E27FC236}">
                <a16:creationId xmlns:a16="http://schemas.microsoft.com/office/drawing/2014/main" id="{9D2A97D9-278F-91B1-B387-D70B8869037D}"/>
              </a:ext>
            </a:extLst>
          </p:cNvPr>
          <p:cNvSpPr/>
          <p:nvPr/>
        </p:nvSpPr>
        <p:spPr>
          <a:xfrm>
            <a:off x="6080760" y="1069848"/>
            <a:ext cx="5257800" cy="1847088"/>
          </a:xfrm>
          <a:prstGeom prst="roundRect">
            <a:avLst/>
          </a:prstGeom>
          <a:solidFill>
            <a:srgbClr val="FFFFFF"/>
          </a:solidFill>
          <a:ln w="12700">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a:extLst>
              <a:ext uri="{FF2B5EF4-FFF2-40B4-BE49-F238E27FC236}">
                <a16:creationId xmlns:a16="http://schemas.microsoft.com/office/drawing/2014/main" id="{1D8D2091-B459-2BFB-3C4A-4451F6406351}"/>
              </a:ext>
            </a:extLst>
          </p:cNvPr>
          <p:cNvSpPr txBox="1"/>
          <p:nvPr/>
        </p:nvSpPr>
        <p:spPr>
          <a:xfrm>
            <a:off x="804672" y="1307592"/>
            <a:ext cx="4956048" cy="233910"/>
          </a:xfrm>
          <a:prstGeom prst="rect">
            <a:avLst/>
          </a:prstGeom>
          <a:noFill/>
        </p:spPr>
        <p:txBody>
          <a:bodyPr wrap="square" lIns="0" tIns="0" rIns="0" bIns="0">
            <a:spAutoFit/>
          </a:bodyPr>
          <a:lstStyle/>
          <a:p>
            <a:pPr algn="l">
              <a:defRPr sz="1520" b="1">
                <a:solidFill>
                  <a:srgbClr val="18395B"/>
                </a:solidFill>
                <a:latin typeface="Aptos"/>
              </a:defRPr>
            </a:pPr>
            <a:r>
              <a:rPr dirty="0"/>
              <a:t>Late closure: Random Forest performed best (AUC.705)</a:t>
            </a:r>
          </a:p>
        </p:txBody>
      </p:sp>
      <p:sp>
        <p:nvSpPr>
          <p:cNvPr id="48" name="TextBox 47">
            <a:extLst>
              <a:ext uri="{FF2B5EF4-FFF2-40B4-BE49-F238E27FC236}">
                <a16:creationId xmlns:a16="http://schemas.microsoft.com/office/drawing/2014/main" id="{1122D95F-1B7D-6EBF-5076-DE9B957D1A2D}"/>
              </a:ext>
            </a:extLst>
          </p:cNvPr>
          <p:cNvSpPr txBox="1"/>
          <p:nvPr/>
        </p:nvSpPr>
        <p:spPr>
          <a:xfrm>
            <a:off x="804672" y="1682496"/>
            <a:ext cx="4480560" cy="210312"/>
          </a:xfrm>
          <a:prstGeom prst="rect">
            <a:avLst/>
          </a:prstGeom>
          <a:noFill/>
        </p:spPr>
        <p:txBody>
          <a:bodyPr wrap="square" lIns="0" tIns="0" rIns="0" bIns="0">
            <a:spAutoFit/>
          </a:bodyPr>
          <a:lstStyle/>
          <a:p>
            <a:pPr algn="l">
              <a:defRPr sz="1050" b="0">
                <a:solidFill>
                  <a:srgbClr val="4E5763"/>
                </a:solidFill>
                <a:latin typeface="Aptos"/>
              </a:defRPr>
            </a:pPr>
            <a:r>
              <a:t>Signal is weaker and more project-specific.</a:t>
            </a:r>
          </a:p>
        </p:txBody>
      </p:sp>
      <p:sp>
        <p:nvSpPr>
          <p:cNvPr id="50" name="TextBox 49">
            <a:extLst>
              <a:ext uri="{FF2B5EF4-FFF2-40B4-BE49-F238E27FC236}">
                <a16:creationId xmlns:a16="http://schemas.microsoft.com/office/drawing/2014/main" id="{E9D23287-843A-882C-EAED-3756F217C2B7}"/>
              </a:ext>
            </a:extLst>
          </p:cNvPr>
          <p:cNvSpPr txBox="1"/>
          <p:nvPr/>
        </p:nvSpPr>
        <p:spPr>
          <a:xfrm>
            <a:off x="804672" y="2084831"/>
            <a:ext cx="1188720" cy="246888"/>
          </a:xfrm>
          <a:prstGeom prst="rect">
            <a:avLst/>
          </a:prstGeom>
          <a:noFill/>
        </p:spPr>
        <p:txBody>
          <a:bodyPr wrap="square" lIns="0" tIns="0" rIns="0" bIns="0">
            <a:spAutoFit/>
          </a:bodyPr>
          <a:lstStyle/>
          <a:p>
            <a:pPr algn="l">
              <a:defRPr sz="1600" b="1">
                <a:solidFill>
                  <a:srgbClr val="ED1826"/>
                </a:solidFill>
                <a:latin typeface="Aptos"/>
              </a:defRPr>
            </a:pPr>
            <a:r>
              <a:t>7.3 → 8.8</a:t>
            </a:r>
          </a:p>
        </p:txBody>
      </p:sp>
      <p:sp>
        <p:nvSpPr>
          <p:cNvPr id="52" name="TextBox 51">
            <a:extLst>
              <a:ext uri="{FF2B5EF4-FFF2-40B4-BE49-F238E27FC236}">
                <a16:creationId xmlns:a16="http://schemas.microsoft.com/office/drawing/2014/main" id="{0DA95DB0-31ED-992A-136C-B2F6F0EAFD5D}"/>
              </a:ext>
            </a:extLst>
          </p:cNvPr>
          <p:cNvSpPr txBox="1"/>
          <p:nvPr/>
        </p:nvSpPr>
        <p:spPr>
          <a:xfrm>
            <a:off x="813816" y="2395728"/>
            <a:ext cx="1143000" cy="146304"/>
          </a:xfrm>
          <a:prstGeom prst="rect">
            <a:avLst/>
          </a:prstGeom>
          <a:noFill/>
        </p:spPr>
        <p:txBody>
          <a:bodyPr wrap="square" lIns="0" tIns="0" rIns="0" bIns="0">
            <a:spAutoFit/>
          </a:bodyPr>
          <a:lstStyle/>
          <a:p>
            <a:pPr algn="l">
              <a:defRPr sz="750" b="0">
                <a:solidFill>
                  <a:srgbClr val="4E5763"/>
                </a:solidFill>
                <a:latin typeface="Aptos"/>
              </a:defRPr>
            </a:pPr>
            <a:r>
              <a:t>mean issues</a:t>
            </a:r>
          </a:p>
        </p:txBody>
      </p:sp>
      <p:sp>
        <p:nvSpPr>
          <p:cNvPr id="54" name="TextBox 53">
            <a:extLst>
              <a:ext uri="{FF2B5EF4-FFF2-40B4-BE49-F238E27FC236}">
                <a16:creationId xmlns:a16="http://schemas.microsoft.com/office/drawing/2014/main" id="{69A1E16A-F82F-FDCE-7CE6-ABE41341F0FB}"/>
              </a:ext>
            </a:extLst>
          </p:cNvPr>
          <p:cNvSpPr txBox="1"/>
          <p:nvPr/>
        </p:nvSpPr>
        <p:spPr>
          <a:xfrm>
            <a:off x="2240280" y="2084831"/>
            <a:ext cx="1417320" cy="246888"/>
          </a:xfrm>
          <a:prstGeom prst="rect">
            <a:avLst/>
          </a:prstGeom>
          <a:noFill/>
        </p:spPr>
        <p:txBody>
          <a:bodyPr wrap="square" lIns="0" tIns="0" rIns="0" bIns="0">
            <a:spAutoFit/>
          </a:bodyPr>
          <a:lstStyle/>
          <a:p>
            <a:pPr algn="l">
              <a:defRPr sz="1600" b="1">
                <a:solidFill>
                  <a:srgbClr val="18395B"/>
                </a:solidFill>
                <a:latin typeface="Aptos"/>
              </a:defRPr>
            </a:pPr>
            <a:r>
              <a:t>32.9 → 38.3</a:t>
            </a:r>
          </a:p>
        </p:txBody>
      </p:sp>
      <p:sp>
        <p:nvSpPr>
          <p:cNvPr id="56" name="TextBox 55">
            <a:extLst>
              <a:ext uri="{FF2B5EF4-FFF2-40B4-BE49-F238E27FC236}">
                <a16:creationId xmlns:a16="http://schemas.microsoft.com/office/drawing/2014/main" id="{3641BC0A-1E77-B7AF-FFFB-0C3F84B0573D}"/>
              </a:ext>
            </a:extLst>
          </p:cNvPr>
          <p:cNvSpPr txBox="1"/>
          <p:nvPr/>
        </p:nvSpPr>
        <p:spPr>
          <a:xfrm>
            <a:off x="2249424" y="2395728"/>
            <a:ext cx="1280160" cy="146304"/>
          </a:xfrm>
          <a:prstGeom prst="rect">
            <a:avLst/>
          </a:prstGeom>
          <a:noFill/>
        </p:spPr>
        <p:txBody>
          <a:bodyPr wrap="square" lIns="0" tIns="0" rIns="0" bIns="0">
            <a:spAutoFit/>
          </a:bodyPr>
          <a:lstStyle/>
          <a:p>
            <a:pPr algn="l">
              <a:defRPr sz="750" b="0">
                <a:solidFill>
                  <a:srgbClr val="4E5763"/>
                </a:solidFill>
                <a:latin typeface="Aptos"/>
              </a:defRPr>
            </a:pPr>
            <a:r>
              <a:t>mean story points</a:t>
            </a:r>
          </a:p>
        </p:txBody>
      </p:sp>
      <p:sp>
        <p:nvSpPr>
          <p:cNvPr id="58" name="TextBox 57">
            <a:extLst>
              <a:ext uri="{FF2B5EF4-FFF2-40B4-BE49-F238E27FC236}">
                <a16:creationId xmlns:a16="http://schemas.microsoft.com/office/drawing/2014/main" id="{92E23670-9292-A1CB-3742-226301FC2EE2}"/>
              </a:ext>
            </a:extLst>
          </p:cNvPr>
          <p:cNvSpPr txBox="1"/>
          <p:nvPr/>
        </p:nvSpPr>
        <p:spPr>
          <a:xfrm>
            <a:off x="3886200" y="2075688"/>
            <a:ext cx="1417320" cy="475488"/>
          </a:xfrm>
          <a:prstGeom prst="rect">
            <a:avLst/>
          </a:prstGeom>
          <a:noFill/>
        </p:spPr>
        <p:txBody>
          <a:bodyPr wrap="square" lIns="0" tIns="0" rIns="0" bIns="0">
            <a:spAutoFit/>
          </a:bodyPr>
          <a:lstStyle/>
          <a:p>
            <a:pPr algn="l">
              <a:defRPr sz="950" b="1">
                <a:solidFill>
                  <a:srgbClr val="222B35"/>
                </a:solidFill>
                <a:latin typeface="Aptos"/>
              </a:defRPr>
            </a:pPr>
            <a:r>
              <a:t>Project identity +</a:t>
            </a:r>
            <a:br/>
            <a:r>
              <a:t>sprint length</a:t>
            </a:r>
            <a:br/>
            <a:r>
              <a:t>contribute most.</a:t>
            </a:r>
          </a:p>
        </p:txBody>
      </p:sp>
      <p:sp>
        <p:nvSpPr>
          <p:cNvPr id="60" name="TextBox 59">
            <a:extLst>
              <a:ext uri="{FF2B5EF4-FFF2-40B4-BE49-F238E27FC236}">
                <a16:creationId xmlns:a16="http://schemas.microsoft.com/office/drawing/2014/main" id="{4D600144-D5C0-5BC9-0386-D0A9422B43F9}"/>
              </a:ext>
            </a:extLst>
          </p:cNvPr>
          <p:cNvSpPr txBox="1"/>
          <p:nvPr/>
        </p:nvSpPr>
        <p:spPr>
          <a:xfrm>
            <a:off x="6382512" y="1252728"/>
            <a:ext cx="4572000" cy="512064"/>
          </a:xfrm>
          <a:prstGeom prst="rect">
            <a:avLst/>
          </a:prstGeom>
          <a:noFill/>
        </p:spPr>
        <p:txBody>
          <a:bodyPr wrap="square" lIns="0" tIns="0" rIns="0" bIns="0">
            <a:spAutoFit/>
          </a:bodyPr>
          <a:lstStyle/>
          <a:p>
            <a:pPr algn="l">
              <a:defRPr sz="1430" b="1">
                <a:solidFill>
                  <a:srgbClr val="ED1826"/>
                </a:solidFill>
                <a:latin typeface="Aptos"/>
              </a:defRPr>
            </a:pPr>
            <a:r>
              <a:t>Unfinished scope: Scope-only Logistic Regression</a:t>
            </a:r>
            <a:br/>
            <a:r>
              <a:t>performed best (AUC .885)</a:t>
            </a:r>
          </a:p>
        </p:txBody>
      </p:sp>
      <p:sp>
        <p:nvSpPr>
          <p:cNvPr id="62" name="TextBox 61">
            <a:extLst>
              <a:ext uri="{FF2B5EF4-FFF2-40B4-BE49-F238E27FC236}">
                <a16:creationId xmlns:a16="http://schemas.microsoft.com/office/drawing/2014/main" id="{0650B327-4732-A454-19AD-81C35178DA4B}"/>
              </a:ext>
            </a:extLst>
          </p:cNvPr>
          <p:cNvSpPr txBox="1"/>
          <p:nvPr/>
        </p:nvSpPr>
        <p:spPr>
          <a:xfrm>
            <a:off x="6382512" y="1810512"/>
            <a:ext cx="4297680" cy="201168"/>
          </a:xfrm>
          <a:prstGeom prst="rect">
            <a:avLst/>
          </a:prstGeom>
          <a:noFill/>
        </p:spPr>
        <p:txBody>
          <a:bodyPr wrap="square" lIns="0" tIns="0" rIns="0" bIns="0">
            <a:spAutoFit/>
          </a:bodyPr>
          <a:lstStyle/>
          <a:p>
            <a:pPr algn="l">
              <a:defRPr sz="1050" b="0">
                <a:solidFill>
                  <a:srgbClr val="4E5763"/>
                </a:solidFill>
                <a:latin typeface="Aptos"/>
              </a:defRPr>
            </a:pPr>
            <a:r>
              <a:t>Initial workload dominates.</a:t>
            </a:r>
          </a:p>
        </p:txBody>
      </p:sp>
      <p:sp>
        <p:nvSpPr>
          <p:cNvPr id="64" name="TextBox 63">
            <a:extLst>
              <a:ext uri="{FF2B5EF4-FFF2-40B4-BE49-F238E27FC236}">
                <a16:creationId xmlns:a16="http://schemas.microsoft.com/office/drawing/2014/main" id="{5FBD8A6F-2629-29FF-AACD-5CCC05A08450}"/>
              </a:ext>
            </a:extLst>
          </p:cNvPr>
          <p:cNvSpPr txBox="1"/>
          <p:nvPr/>
        </p:nvSpPr>
        <p:spPr>
          <a:xfrm>
            <a:off x="6382512" y="2148840"/>
            <a:ext cx="1645920" cy="261610"/>
          </a:xfrm>
          <a:prstGeom prst="rect">
            <a:avLst/>
          </a:prstGeom>
          <a:noFill/>
        </p:spPr>
        <p:txBody>
          <a:bodyPr wrap="square" lIns="0" tIns="0" rIns="0" bIns="0">
            <a:spAutoFit/>
          </a:bodyPr>
          <a:lstStyle/>
          <a:p>
            <a:pPr algn="l">
              <a:defRPr sz="1700" b="1">
                <a:solidFill>
                  <a:srgbClr val="18395B"/>
                </a:solidFill>
                <a:latin typeface="Aptos"/>
              </a:defRPr>
            </a:pPr>
            <a:r>
              <a:rPr lang="en-US" dirty="0"/>
              <a:t> -</a:t>
            </a:r>
            <a:r>
              <a:rPr dirty="0"/>
              <a:t>0.220 AUC</a:t>
            </a:r>
          </a:p>
        </p:txBody>
      </p:sp>
      <p:sp>
        <p:nvSpPr>
          <p:cNvPr id="66" name="TextBox 65">
            <a:extLst>
              <a:ext uri="{FF2B5EF4-FFF2-40B4-BE49-F238E27FC236}">
                <a16:creationId xmlns:a16="http://schemas.microsoft.com/office/drawing/2014/main" id="{90D72153-8E98-369B-E786-883EDAA7FD72}"/>
              </a:ext>
            </a:extLst>
          </p:cNvPr>
          <p:cNvSpPr txBox="1"/>
          <p:nvPr/>
        </p:nvSpPr>
        <p:spPr>
          <a:xfrm>
            <a:off x="6391656" y="2459736"/>
            <a:ext cx="2240280" cy="146304"/>
          </a:xfrm>
          <a:prstGeom prst="rect">
            <a:avLst/>
          </a:prstGeom>
          <a:noFill/>
        </p:spPr>
        <p:txBody>
          <a:bodyPr wrap="square" lIns="0" tIns="0" rIns="0" bIns="0">
            <a:spAutoFit/>
          </a:bodyPr>
          <a:lstStyle/>
          <a:p>
            <a:pPr algn="l">
              <a:defRPr sz="730" b="0">
                <a:solidFill>
                  <a:srgbClr val="4E5763"/>
                </a:solidFill>
                <a:latin typeface="Aptos"/>
              </a:defRPr>
            </a:pPr>
            <a:r>
              <a:t>when committed issue count is shuffled</a:t>
            </a:r>
          </a:p>
        </p:txBody>
      </p:sp>
      <p:sp>
        <p:nvSpPr>
          <p:cNvPr id="68" name="TextBox 67">
            <a:extLst>
              <a:ext uri="{FF2B5EF4-FFF2-40B4-BE49-F238E27FC236}">
                <a16:creationId xmlns:a16="http://schemas.microsoft.com/office/drawing/2014/main" id="{7D4C2512-6DB2-7F03-FC48-939A3F706767}"/>
              </a:ext>
            </a:extLst>
          </p:cNvPr>
          <p:cNvSpPr txBox="1"/>
          <p:nvPr/>
        </p:nvSpPr>
        <p:spPr>
          <a:xfrm>
            <a:off x="9189720" y="2176272"/>
            <a:ext cx="1600200" cy="365760"/>
          </a:xfrm>
          <a:prstGeom prst="rect">
            <a:avLst/>
          </a:prstGeom>
          <a:noFill/>
        </p:spPr>
        <p:txBody>
          <a:bodyPr wrap="square" lIns="0" tIns="0" rIns="0" bIns="0">
            <a:spAutoFit/>
          </a:bodyPr>
          <a:lstStyle/>
          <a:p>
            <a:pPr algn="l">
              <a:defRPr sz="950" b="1">
                <a:solidFill>
                  <a:srgbClr val="222B35"/>
                </a:solidFill>
                <a:latin typeface="Aptos"/>
              </a:defRPr>
            </a:pPr>
            <a:r>
              <a:t>Next-largest drop: only</a:t>
            </a:r>
            <a:br/>
            <a:r>
              <a:t>0.021</a:t>
            </a:r>
          </a:p>
        </p:txBody>
      </p:sp>
      <p:sp>
        <p:nvSpPr>
          <p:cNvPr id="70" name="TextBox 69">
            <a:extLst>
              <a:ext uri="{FF2B5EF4-FFF2-40B4-BE49-F238E27FC236}">
                <a16:creationId xmlns:a16="http://schemas.microsoft.com/office/drawing/2014/main" id="{F42E5FCC-F5AA-56B6-E6A3-C9E38DFD62FF}"/>
              </a:ext>
            </a:extLst>
          </p:cNvPr>
          <p:cNvSpPr txBox="1"/>
          <p:nvPr/>
        </p:nvSpPr>
        <p:spPr>
          <a:xfrm>
            <a:off x="566928" y="3255264"/>
            <a:ext cx="2926080" cy="246888"/>
          </a:xfrm>
          <a:prstGeom prst="rect">
            <a:avLst/>
          </a:prstGeom>
          <a:noFill/>
        </p:spPr>
        <p:txBody>
          <a:bodyPr wrap="square" lIns="0" tIns="0" rIns="0" bIns="0">
            <a:spAutoFit/>
          </a:bodyPr>
          <a:lstStyle/>
          <a:p>
            <a:pPr algn="l">
              <a:defRPr sz="1500" b="1">
                <a:solidFill>
                  <a:srgbClr val="222B35"/>
                </a:solidFill>
                <a:latin typeface="Aptos"/>
              </a:defRPr>
            </a:pPr>
            <a:r>
              <a:t>Feature-group ablation</a:t>
            </a:r>
          </a:p>
        </p:txBody>
      </p:sp>
      <p:sp>
        <p:nvSpPr>
          <p:cNvPr id="72" name="Rectangle 71">
            <a:extLst>
              <a:ext uri="{FF2B5EF4-FFF2-40B4-BE49-F238E27FC236}">
                <a16:creationId xmlns:a16="http://schemas.microsoft.com/office/drawing/2014/main" id="{ADE93417-1D7F-3965-ED46-6114CC5D1049}"/>
              </a:ext>
            </a:extLst>
          </p:cNvPr>
          <p:cNvSpPr/>
          <p:nvPr/>
        </p:nvSpPr>
        <p:spPr>
          <a:xfrm>
            <a:off x="502920" y="3611880"/>
            <a:ext cx="2971800" cy="310896"/>
          </a:xfrm>
          <a:prstGeom prst="rect">
            <a:avLst/>
          </a:prstGeom>
          <a:solidFill>
            <a:srgbClr val="1839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a:extLst>
              <a:ext uri="{FF2B5EF4-FFF2-40B4-BE49-F238E27FC236}">
                <a16:creationId xmlns:a16="http://schemas.microsoft.com/office/drawing/2014/main" id="{D5A54C02-F859-F29A-5DDF-B7F2393C12FF}"/>
              </a:ext>
            </a:extLst>
          </p:cNvPr>
          <p:cNvSpPr txBox="1"/>
          <p:nvPr/>
        </p:nvSpPr>
        <p:spPr>
          <a:xfrm>
            <a:off x="576072" y="3694176"/>
            <a:ext cx="2825496" cy="128016"/>
          </a:xfrm>
          <a:prstGeom prst="rect">
            <a:avLst/>
          </a:prstGeom>
          <a:noFill/>
        </p:spPr>
        <p:txBody>
          <a:bodyPr wrap="square" lIns="0" tIns="0" rIns="0" bIns="0">
            <a:spAutoFit/>
          </a:bodyPr>
          <a:lstStyle/>
          <a:p>
            <a:pPr algn="l">
              <a:defRPr sz="780" b="1">
                <a:solidFill>
                  <a:srgbClr val="FFFFFF"/>
                </a:solidFill>
                <a:latin typeface="Aptos"/>
              </a:defRPr>
            </a:pPr>
            <a:r>
              <a:t>Random Forest features</a:t>
            </a:r>
          </a:p>
        </p:txBody>
      </p:sp>
      <p:sp>
        <p:nvSpPr>
          <p:cNvPr id="76" name="Rectangle 75">
            <a:extLst>
              <a:ext uri="{FF2B5EF4-FFF2-40B4-BE49-F238E27FC236}">
                <a16:creationId xmlns:a16="http://schemas.microsoft.com/office/drawing/2014/main" id="{A89181B3-E958-FC12-FDC3-73BACE7AB414}"/>
              </a:ext>
            </a:extLst>
          </p:cNvPr>
          <p:cNvSpPr/>
          <p:nvPr/>
        </p:nvSpPr>
        <p:spPr>
          <a:xfrm>
            <a:off x="3474720" y="3611880"/>
            <a:ext cx="1417320" cy="310896"/>
          </a:xfrm>
          <a:prstGeom prst="rect">
            <a:avLst/>
          </a:prstGeom>
          <a:solidFill>
            <a:srgbClr val="1839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a:extLst>
              <a:ext uri="{FF2B5EF4-FFF2-40B4-BE49-F238E27FC236}">
                <a16:creationId xmlns:a16="http://schemas.microsoft.com/office/drawing/2014/main" id="{3FBB3FAC-94A9-EE79-CC66-31144C72A122}"/>
              </a:ext>
            </a:extLst>
          </p:cNvPr>
          <p:cNvSpPr txBox="1"/>
          <p:nvPr/>
        </p:nvSpPr>
        <p:spPr>
          <a:xfrm>
            <a:off x="3547872" y="3694176"/>
            <a:ext cx="1271016" cy="128016"/>
          </a:xfrm>
          <a:prstGeom prst="rect">
            <a:avLst/>
          </a:prstGeom>
          <a:noFill/>
        </p:spPr>
        <p:txBody>
          <a:bodyPr wrap="square" lIns="0" tIns="0" rIns="0" bIns="0">
            <a:spAutoFit/>
          </a:bodyPr>
          <a:lstStyle/>
          <a:p>
            <a:pPr algn="ctr">
              <a:defRPr sz="780" b="1">
                <a:solidFill>
                  <a:srgbClr val="FFFFFF"/>
                </a:solidFill>
                <a:latin typeface="Aptos"/>
              </a:defRPr>
            </a:pPr>
            <a:r>
              <a:t>Late closure AUC</a:t>
            </a:r>
          </a:p>
        </p:txBody>
      </p:sp>
      <p:sp>
        <p:nvSpPr>
          <p:cNvPr id="80" name="Rectangle 79">
            <a:extLst>
              <a:ext uri="{FF2B5EF4-FFF2-40B4-BE49-F238E27FC236}">
                <a16:creationId xmlns:a16="http://schemas.microsoft.com/office/drawing/2014/main" id="{1C69D6E0-7BE4-3849-3A99-94C82F3D4AF1}"/>
              </a:ext>
            </a:extLst>
          </p:cNvPr>
          <p:cNvSpPr/>
          <p:nvPr/>
        </p:nvSpPr>
        <p:spPr>
          <a:xfrm>
            <a:off x="4892040" y="3611880"/>
            <a:ext cx="1417320" cy="310896"/>
          </a:xfrm>
          <a:prstGeom prst="rect">
            <a:avLst/>
          </a:prstGeom>
          <a:solidFill>
            <a:srgbClr val="1839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a:extLst>
              <a:ext uri="{FF2B5EF4-FFF2-40B4-BE49-F238E27FC236}">
                <a16:creationId xmlns:a16="http://schemas.microsoft.com/office/drawing/2014/main" id="{EFF71F0E-031F-AF3F-EED6-A4ABEEE19C72}"/>
              </a:ext>
            </a:extLst>
          </p:cNvPr>
          <p:cNvSpPr txBox="1"/>
          <p:nvPr/>
        </p:nvSpPr>
        <p:spPr>
          <a:xfrm>
            <a:off x="4965192" y="3694176"/>
            <a:ext cx="1271016" cy="128016"/>
          </a:xfrm>
          <a:prstGeom prst="rect">
            <a:avLst/>
          </a:prstGeom>
          <a:noFill/>
        </p:spPr>
        <p:txBody>
          <a:bodyPr wrap="square" lIns="0" tIns="0" rIns="0" bIns="0">
            <a:spAutoFit/>
          </a:bodyPr>
          <a:lstStyle/>
          <a:p>
            <a:pPr algn="ctr">
              <a:defRPr sz="780" b="1">
                <a:solidFill>
                  <a:srgbClr val="FFFFFF"/>
                </a:solidFill>
                <a:latin typeface="Aptos"/>
              </a:defRPr>
            </a:pPr>
            <a:r>
              <a:t>Full spillover AUC</a:t>
            </a:r>
          </a:p>
        </p:txBody>
      </p:sp>
      <p:sp>
        <p:nvSpPr>
          <p:cNvPr id="84" name="Rectangle 83">
            <a:extLst>
              <a:ext uri="{FF2B5EF4-FFF2-40B4-BE49-F238E27FC236}">
                <a16:creationId xmlns:a16="http://schemas.microsoft.com/office/drawing/2014/main" id="{15C022FA-DC54-15F8-A51C-92695D1A9367}"/>
              </a:ext>
            </a:extLst>
          </p:cNvPr>
          <p:cNvSpPr/>
          <p:nvPr/>
        </p:nvSpPr>
        <p:spPr>
          <a:xfrm>
            <a:off x="502920" y="3922776"/>
            <a:ext cx="2971800" cy="320040"/>
          </a:xfrm>
          <a:prstGeom prst="rect">
            <a:avLst/>
          </a:prstGeom>
          <a:solidFill>
            <a:srgbClr val="F8F9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a:extLst>
              <a:ext uri="{FF2B5EF4-FFF2-40B4-BE49-F238E27FC236}">
                <a16:creationId xmlns:a16="http://schemas.microsoft.com/office/drawing/2014/main" id="{F2F61C5A-B5D8-BB5D-1F82-A1364E9C8A48}"/>
              </a:ext>
            </a:extLst>
          </p:cNvPr>
          <p:cNvSpPr txBox="1"/>
          <p:nvPr/>
        </p:nvSpPr>
        <p:spPr>
          <a:xfrm>
            <a:off x="576072" y="4018788"/>
            <a:ext cx="2825496" cy="118872"/>
          </a:xfrm>
          <a:prstGeom prst="rect">
            <a:avLst/>
          </a:prstGeom>
          <a:noFill/>
        </p:spPr>
        <p:txBody>
          <a:bodyPr wrap="square" lIns="0" tIns="0" rIns="0" bIns="0">
            <a:spAutoFit/>
          </a:bodyPr>
          <a:lstStyle/>
          <a:p>
            <a:pPr algn="l">
              <a:defRPr sz="819" b="0">
                <a:solidFill>
                  <a:srgbClr val="222B35"/>
                </a:solidFill>
                <a:latin typeface="Aptos"/>
              </a:defRPr>
            </a:pPr>
            <a:r>
              <a:t>Full</a:t>
            </a:r>
          </a:p>
        </p:txBody>
      </p:sp>
      <p:sp>
        <p:nvSpPr>
          <p:cNvPr id="88" name="Rectangle 87">
            <a:extLst>
              <a:ext uri="{FF2B5EF4-FFF2-40B4-BE49-F238E27FC236}">
                <a16:creationId xmlns:a16="http://schemas.microsoft.com/office/drawing/2014/main" id="{E8E689E8-C10A-6A65-F93B-FDF962186A80}"/>
              </a:ext>
            </a:extLst>
          </p:cNvPr>
          <p:cNvSpPr/>
          <p:nvPr/>
        </p:nvSpPr>
        <p:spPr>
          <a:xfrm>
            <a:off x="3474720" y="3922776"/>
            <a:ext cx="1417320" cy="320040"/>
          </a:xfrm>
          <a:prstGeom prst="rect">
            <a:avLst/>
          </a:prstGeom>
          <a:solidFill>
            <a:srgbClr val="F8F9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a:extLst>
              <a:ext uri="{FF2B5EF4-FFF2-40B4-BE49-F238E27FC236}">
                <a16:creationId xmlns:a16="http://schemas.microsoft.com/office/drawing/2014/main" id="{6723067E-62DE-BE8A-6AB9-2049202C8845}"/>
              </a:ext>
            </a:extLst>
          </p:cNvPr>
          <p:cNvSpPr txBox="1"/>
          <p:nvPr/>
        </p:nvSpPr>
        <p:spPr>
          <a:xfrm>
            <a:off x="3547872" y="4018788"/>
            <a:ext cx="1271016" cy="118872"/>
          </a:xfrm>
          <a:prstGeom prst="rect">
            <a:avLst/>
          </a:prstGeom>
          <a:noFill/>
        </p:spPr>
        <p:txBody>
          <a:bodyPr wrap="square" lIns="0" tIns="0" rIns="0" bIns="0">
            <a:spAutoFit/>
          </a:bodyPr>
          <a:lstStyle/>
          <a:p>
            <a:pPr algn="ctr">
              <a:defRPr sz="819" b="0">
                <a:solidFill>
                  <a:srgbClr val="222B35"/>
                </a:solidFill>
                <a:latin typeface="Aptos"/>
              </a:defRPr>
            </a:pPr>
            <a:r>
              <a:t>.705</a:t>
            </a:r>
          </a:p>
        </p:txBody>
      </p:sp>
      <p:sp>
        <p:nvSpPr>
          <p:cNvPr id="92" name="Rectangle 91">
            <a:extLst>
              <a:ext uri="{FF2B5EF4-FFF2-40B4-BE49-F238E27FC236}">
                <a16:creationId xmlns:a16="http://schemas.microsoft.com/office/drawing/2014/main" id="{FC2DB5BE-4566-B13D-83DF-17B599135999}"/>
              </a:ext>
            </a:extLst>
          </p:cNvPr>
          <p:cNvSpPr/>
          <p:nvPr/>
        </p:nvSpPr>
        <p:spPr>
          <a:xfrm>
            <a:off x="4892040" y="3922776"/>
            <a:ext cx="1417320" cy="320040"/>
          </a:xfrm>
          <a:prstGeom prst="rect">
            <a:avLst/>
          </a:prstGeom>
          <a:solidFill>
            <a:srgbClr val="F8F9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a:extLst>
              <a:ext uri="{FF2B5EF4-FFF2-40B4-BE49-F238E27FC236}">
                <a16:creationId xmlns:a16="http://schemas.microsoft.com/office/drawing/2014/main" id="{33D88D4B-35A3-D2B9-5B93-BBAB20D32D6A}"/>
              </a:ext>
            </a:extLst>
          </p:cNvPr>
          <p:cNvSpPr txBox="1"/>
          <p:nvPr/>
        </p:nvSpPr>
        <p:spPr>
          <a:xfrm>
            <a:off x="4965192" y="4018788"/>
            <a:ext cx="1271016" cy="118872"/>
          </a:xfrm>
          <a:prstGeom prst="rect">
            <a:avLst/>
          </a:prstGeom>
          <a:noFill/>
        </p:spPr>
        <p:txBody>
          <a:bodyPr wrap="square" lIns="0" tIns="0" rIns="0" bIns="0">
            <a:spAutoFit/>
          </a:bodyPr>
          <a:lstStyle/>
          <a:p>
            <a:pPr algn="ctr">
              <a:defRPr sz="819" b="0">
                <a:solidFill>
                  <a:srgbClr val="222B35"/>
                </a:solidFill>
                <a:latin typeface="Aptos"/>
              </a:defRPr>
            </a:pPr>
            <a:r>
              <a:t>.986</a:t>
            </a:r>
          </a:p>
        </p:txBody>
      </p:sp>
      <p:sp>
        <p:nvSpPr>
          <p:cNvPr id="96" name="Rectangle 95">
            <a:extLst>
              <a:ext uri="{FF2B5EF4-FFF2-40B4-BE49-F238E27FC236}">
                <a16:creationId xmlns:a16="http://schemas.microsoft.com/office/drawing/2014/main" id="{11D5C02F-FEE2-5C72-D43B-4DF118A457DE}"/>
              </a:ext>
            </a:extLst>
          </p:cNvPr>
          <p:cNvSpPr/>
          <p:nvPr/>
        </p:nvSpPr>
        <p:spPr>
          <a:xfrm>
            <a:off x="502920" y="4242816"/>
            <a:ext cx="2971800" cy="320040"/>
          </a:xfrm>
          <a:prstGeom prst="rect">
            <a:avLst/>
          </a:prstGeom>
          <a:solidFill>
            <a:srgbClr val="E8F1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a:extLst>
              <a:ext uri="{FF2B5EF4-FFF2-40B4-BE49-F238E27FC236}">
                <a16:creationId xmlns:a16="http://schemas.microsoft.com/office/drawing/2014/main" id="{B909D29E-EDCE-2275-6EAC-D8193ED5B515}"/>
              </a:ext>
            </a:extLst>
          </p:cNvPr>
          <p:cNvSpPr txBox="1"/>
          <p:nvPr/>
        </p:nvSpPr>
        <p:spPr>
          <a:xfrm>
            <a:off x="576072" y="4338828"/>
            <a:ext cx="2825496" cy="118872"/>
          </a:xfrm>
          <a:prstGeom prst="rect">
            <a:avLst/>
          </a:prstGeom>
          <a:noFill/>
        </p:spPr>
        <p:txBody>
          <a:bodyPr wrap="square" lIns="0" tIns="0" rIns="0" bIns="0">
            <a:spAutoFit/>
          </a:bodyPr>
          <a:lstStyle/>
          <a:p>
            <a:pPr algn="l">
              <a:defRPr sz="819" b="1">
                <a:solidFill>
                  <a:srgbClr val="222B35"/>
                </a:solidFill>
                <a:latin typeface="Aptos"/>
              </a:defRPr>
            </a:pPr>
            <a:r>
              <a:t>Planning only</a:t>
            </a:r>
          </a:p>
        </p:txBody>
      </p:sp>
      <p:sp>
        <p:nvSpPr>
          <p:cNvPr id="100" name="Rectangle 99">
            <a:extLst>
              <a:ext uri="{FF2B5EF4-FFF2-40B4-BE49-F238E27FC236}">
                <a16:creationId xmlns:a16="http://schemas.microsoft.com/office/drawing/2014/main" id="{0004A608-B80F-94A6-A031-39341D279147}"/>
              </a:ext>
            </a:extLst>
          </p:cNvPr>
          <p:cNvSpPr/>
          <p:nvPr/>
        </p:nvSpPr>
        <p:spPr>
          <a:xfrm>
            <a:off x="3474720" y="4242816"/>
            <a:ext cx="1417320" cy="320040"/>
          </a:xfrm>
          <a:prstGeom prst="rect">
            <a:avLst/>
          </a:prstGeom>
          <a:solidFill>
            <a:srgbClr val="E8F1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a:extLst>
              <a:ext uri="{FF2B5EF4-FFF2-40B4-BE49-F238E27FC236}">
                <a16:creationId xmlns:a16="http://schemas.microsoft.com/office/drawing/2014/main" id="{86738701-FDA9-3D55-7D66-14855F9193FF}"/>
              </a:ext>
            </a:extLst>
          </p:cNvPr>
          <p:cNvSpPr txBox="1"/>
          <p:nvPr/>
        </p:nvSpPr>
        <p:spPr>
          <a:xfrm>
            <a:off x="3547872" y="4338828"/>
            <a:ext cx="1271016" cy="118872"/>
          </a:xfrm>
          <a:prstGeom prst="rect">
            <a:avLst/>
          </a:prstGeom>
          <a:noFill/>
        </p:spPr>
        <p:txBody>
          <a:bodyPr wrap="square" lIns="0" tIns="0" rIns="0" bIns="0">
            <a:spAutoFit/>
          </a:bodyPr>
          <a:lstStyle/>
          <a:p>
            <a:pPr algn="ctr">
              <a:defRPr sz="819" b="1">
                <a:solidFill>
                  <a:srgbClr val="222B35"/>
                </a:solidFill>
                <a:latin typeface="Aptos"/>
              </a:defRPr>
            </a:pPr>
            <a:r>
              <a:t>.706</a:t>
            </a:r>
          </a:p>
        </p:txBody>
      </p:sp>
      <p:sp>
        <p:nvSpPr>
          <p:cNvPr id="104" name="Rectangle 103">
            <a:extLst>
              <a:ext uri="{FF2B5EF4-FFF2-40B4-BE49-F238E27FC236}">
                <a16:creationId xmlns:a16="http://schemas.microsoft.com/office/drawing/2014/main" id="{10429DE3-F310-34F0-3239-27CA339CF941}"/>
              </a:ext>
            </a:extLst>
          </p:cNvPr>
          <p:cNvSpPr/>
          <p:nvPr/>
        </p:nvSpPr>
        <p:spPr>
          <a:xfrm>
            <a:off x="4892040" y="4242816"/>
            <a:ext cx="1417320" cy="320040"/>
          </a:xfrm>
          <a:prstGeom prst="rect">
            <a:avLst/>
          </a:prstGeom>
          <a:solidFill>
            <a:srgbClr val="E8F1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a:extLst>
              <a:ext uri="{FF2B5EF4-FFF2-40B4-BE49-F238E27FC236}">
                <a16:creationId xmlns:a16="http://schemas.microsoft.com/office/drawing/2014/main" id="{228138D8-4E06-132B-53EE-8455B7273F85}"/>
              </a:ext>
            </a:extLst>
          </p:cNvPr>
          <p:cNvSpPr txBox="1"/>
          <p:nvPr/>
        </p:nvSpPr>
        <p:spPr>
          <a:xfrm>
            <a:off x="4965192" y="4338828"/>
            <a:ext cx="1271016" cy="118872"/>
          </a:xfrm>
          <a:prstGeom prst="rect">
            <a:avLst/>
          </a:prstGeom>
          <a:noFill/>
        </p:spPr>
        <p:txBody>
          <a:bodyPr wrap="square" lIns="0" tIns="0" rIns="0" bIns="0">
            <a:spAutoFit/>
          </a:bodyPr>
          <a:lstStyle/>
          <a:p>
            <a:pPr algn="ctr">
              <a:defRPr sz="819" b="1">
                <a:solidFill>
                  <a:srgbClr val="222B35"/>
                </a:solidFill>
                <a:latin typeface="Aptos"/>
              </a:defRPr>
            </a:pPr>
            <a:r>
              <a:t>.987</a:t>
            </a:r>
          </a:p>
        </p:txBody>
      </p:sp>
      <p:sp>
        <p:nvSpPr>
          <p:cNvPr id="108" name="Rectangle 107">
            <a:extLst>
              <a:ext uri="{FF2B5EF4-FFF2-40B4-BE49-F238E27FC236}">
                <a16:creationId xmlns:a16="http://schemas.microsoft.com/office/drawing/2014/main" id="{E5678FBD-8FE3-D5D9-7BCE-D94082824D30}"/>
              </a:ext>
            </a:extLst>
          </p:cNvPr>
          <p:cNvSpPr/>
          <p:nvPr/>
        </p:nvSpPr>
        <p:spPr>
          <a:xfrm>
            <a:off x="502920" y="4562856"/>
            <a:ext cx="2971800" cy="320040"/>
          </a:xfrm>
          <a:prstGeom prst="rect">
            <a:avLst/>
          </a:prstGeom>
          <a:solidFill>
            <a:srgbClr val="E8F1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a:extLst>
              <a:ext uri="{FF2B5EF4-FFF2-40B4-BE49-F238E27FC236}">
                <a16:creationId xmlns:a16="http://schemas.microsoft.com/office/drawing/2014/main" id="{72D525AA-A641-5957-52B2-782621C7188B}"/>
              </a:ext>
            </a:extLst>
          </p:cNvPr>
          <p:cNvSpPr txBox="1"/>
          <p:nvPr/>
        </p:nvSpPr>
        <p:spPr>
          <a:xfrm>
            <a:off x="576072" y="4658868"/>
            <a:ext cx="2825496" cy="118872"/>
          </a:xfrm>
          <a:prstGeom prst="rect">
            <a:avLst/>
          </a:prstGeom>
          <a:noFill/>
        </p:spPr>
        <p:txBody>
          <a:bodyPr wrap="square" lIns="0" tIns="0" rIns="0" bIns="0">
            <a:spAutoFit/>
          </a:bodyPr>
          <a:lstStyle/>
          <a:p>
            <a:pPr algn="l">
              <a:defRPr sz="819" b="1">
                <a:solidFill>
                  <a:srgbClr val="222B35"/>
                </a:solidFill>
                <a:latin typeface="Aptos"/>
              </a:defRPr>
            </a:pPr>
            <a:r>
              <a:t>History only</a:t>
            </a:r>
          </a:p>
        </p:txBody>
      </p:sp>
      <p:sp>
        <p:nvSpPr>
          <p:cNvPr id="112" name="Rectangle 111">
            <a:extLst>
              <a:ext uri="{FF2B5EF4-FFF2-40B4-BE49-F238E27FC236}">
                <a16:creationId xmlns:a16="http://schemas.microsoft.com/office/drawing/2014/main" id="{2A78F53D-E888-2A28-E1A7-36B3259D09AE}"/>
              </a:ext>
            </a:extLst>
          </p:cNvPr>
          <p:cNvSpPr/>
          <p:nvPr/>
        </p:nvSpPr>
        <p:spPr>
          <a:xfrm>
            <a:off x="3474720" y="4562856"/>
            <a:ext cx="1417320" cy="320040"/>
          </a:xfrm>
          <a:prstGeom prst="rect">
            <a:avLst/>
          </a:prstGeom>
          <a:solidFill>
            <a:srgbClr val="E8F1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a:extLst>
              <a:ext uri="{FF2B5EF4-FFF2-40B4-BE49-F238E27FC236}">
                <a16:creationId xmlns:a16="http://schemas.microsoft.com/office/drawing/2014/main" id="{93158189-6960-12F5-5291-D9E6FBA2E763}"/>
              </a:ext>
            </a:extLst>
          </p:cNvPr>
          <p:cNvSpPr txBox="1"/>
          <p:nvPr/>
        </p:nvSpPr>
        <p:spPr>
          <a:xfrm>
            <a:off x="3547872" y="4658868"/>
            <a:ext cx="1271016" cy="118872"/>
          </a:xfrm>
          <a:prstGeom prst="rect">
            <a:avLst/>
          </a:prstGeom>
          <a:noFill/>
        </p:spPr>
        <p:txBody>
          <a:bodyPr wrap="square" lIns="0" tIns="0" rIns="0" bIns="0">
            <a:spAutoFit/>
          </a:bodyPr>
          <a:lstStyle/>
          <a:p>
            <a:pPr algn="ctr">
              <a:defRPr sz="819" b="1">
                <a:solidFill>
                  <a:srgbClr val="222B35"/>
                </a:solidFill>
                <a:latin typeface="Aptos"/>
              </a:defRPr>
            </a:pPr>
            <a:r>
              <a:t>.625</a:t>
            </a:r>
          </a:p>
        </p:txBody>
      </p:sp>
      <p:sp>
        <p:nvSpPr>
          <p:cNvPr id="116" name="Rectangle 115">
            <a:extLst>
              <a:ext uri="{FF2B5EF4-FFF2-40B4-BE49-F238E27FC236}">
                <a16:creationId xmlns:a16="http://schemas.microsoft.com/office/drawing/2014/main" id="{43AC6B1B-A304-06B5-E7B8-2897A1D15C3C}"/>
              </a:ext>
            </a:extLst>
          </p:cNvPr>
          <p:cNvSpPr/>
          <p:nvPr/>
        </p:nvSpPr>
        <p:spPr>
          <a:xfrm>
            <a:off x="4892040" y="4562856"/>
            <a:ext cx="1417320" cy="320040"/>
          </a:xfrm>
          <a:prstGeom prst="rect">
            <a:avLst/>
          </a:prstGeom>
          <a:solidFill>
            <a:srgbClr val="E8F1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a:extLst>
              <a:ext uri="{FF2B5EF4-FFF2-40B4-BE49-F238E27FC236}">
                <a16:creationId xmlns:a16="http://schemas.microsoft.com/office/drawing/2014/main" id="{86AA2BDE-5B4D-22F3-7701-F63304A364E7}"/>
              </a:ext>
            </a:extLst>
          </p:cNvPr>
          <p:cNvSpPr txBox="1"/>
          <p:nvPr/>
        </p:nvSpPr>
        <p:spPr>
          <a:xfrm>
            <a:off x="4965192" y="4658868"/>
            <a:ext cx="1271016" cy="118872"/>
          </a:xfrm>
          <a:prstGeom prst="rect">
            <a:avLst/>
          </a:prstGeom>
          <a:noFill/>
        </p:spPr>
        <p:txBody>
          <a:bodyPr wrap="square" lIns="0" tIns="0" rIns="0" bIns="0">
            <a:spAutoFit/>
          </a:bodyPr>
          <a:lstStyle/>
          <a:p>
            <a:pPr algn="ctr">
              <a:defRPr sz="819" b="1">
                <a:solidFill>
                  <a:srgbClr val="222B35"/>
                </a:solidFill>
                <a:latin typeface="Aptos"/>
              </a:defRPr>
            </a:pPr>
            <a:r>
              <a:t>.697</a:t>
            </a:r>
          </a:p>
        </p:txBody>
      </p:sp>
      <p:sp>
        <p:nvSpPr>
          <p:cNvPr id="120" name="Rectangle 119">
            <a:extLst>
              <a:ext uri="{FF2B5EF4-FFF2-40B4-BE49-F238E27FC236}">
                <a16:creationId xmlns:a16="http://schemas.microsoft.com/office/drawing/2014/main" id="{CFFFD503-E70C-2442-2EDD-713C4481ED4A}"/>
              </a:ext>
            </a:extLst>
          </p:cNvPr>
          <p:cNvSpPr/>
          <p:nvPr/>
        </p:nvSpPr>
        <p:spPr>
          <a:xfrm>
            <a:off x="502920" y="4882896"/>
            <a:ext cx="2971800" cy="320040"/>
          </a:xfrm>
          <a:prstGeom prst="rect">
            <a:avLst/>
          </a:prstGeom>
          <a:solidFill>
            <a:srgbClr val="F8F9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a:extLst>
              <a:ext uri="{FF2B5EF4-FFF2-40B4-BE49-F238E27FC236}">
                <a16:creationId xmlns:a16="http://schemas.microsoft.com/office/drawing/2014/main" id="{36C1EC7A-28A7-F77D-BF1E-CDDB57D58ACB}"/>
              </a:ext>
            </a:extLst>
          </p:cNvPr>
          <p:cNvSpPr txBox="1"/>
          <p:nvPr/>
        </p:nvSpPr>
        <p:spPr>
          <a:xfrm>
            <a:off x="576072" y="4978908"/>
            <a:ext cx="2825496" cy="118872"/>
          </a:xfrm>
          <a:prstGeom prst="rect">
            <a:avLst/>
          </a:prstGeom>
          <a:noFill/>
        </p:spPr>
        <p:txBody>
          <a:bodyPr wrap="square" lIns="0" tIns="0" rIns="0" bIns="0">
            <a:spAutoFit/>
          </a:bodyPr>
          <a:lstStyle/>
          <a:p>
            <a:pPr algn="l">
              <a:defRPr sz="819" b="0">
                <a:solidFill>
                  <a:srgbClr val="222B35"/>
                </a:solidFill>
                <a:latin typeface="Aptos"/>
              </a:defRPr>
            </a:pPr>
            <a:r>
              <a:t>No project identity</a:t>
            </a:r>
          </a:p>
        </p:txBody>
      </p:sp>
      <p:sp>
        <p:nvSpPr>
          <p:cNvPr id="124" name="Rectangle 123">
            <a:extLst>
              <a:ext uri="{FF2B5EF4-FFF2-40B4-BE49-F238E27FC236}">
                <a16:creationId xmlns:a16="http://schemas.microsoft.com/office/drawing/2014/main" id="{EBF7AC45-C467-F30E-E0A1-CFA3E3389464}"/>
              </a:ext>
            </a:extLst>
          </p:cNvPr>
          <p:cNvSpPr/>
          <p:nvPr/>
        </p:nvSpPr>
        <p:spPr>
          <a:xfrm>
            <a:off x="3474720" y="4882896"/>
            <a:ext cx="1417320" cy="320040"/>
          </a:xfrm>
          <a:prstGeom prst="rect">
            <a:avLst/>
          </a:prstGeom>
          <a:solidFill>
            <a:srgbClr val="F8F9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a:extLst>
              <a:ext uri="{FF2B5EF4-FFF2-40B4-BE49-F238E27FC236}">
                <a16:creationId xmlns:a16="http://schemas.microsoft.com/office/drawing/2014/main" id="{62F13F27-AEC4-B2C7-5769-CE3E31B9BA69}"/>
              </a:ext>
            </a:extLst>
          </p:cNvPr>
          <p:cNvSpPr txBox="1"/>
          <p:nvPr/>
        </p:nvSpPr>
        <p:spPr>
          <a:xfrm>
            <a:off x="3547872" y="4978908"/>
            <a:ext cx="1271016" cy="118872"/>
          </a:xfrm>
          <a:prstGeom prst="rect">
            <a:avLst/>
          </a:prstGeom>
          <a:noFill/>
        </p:spPr>
        <p:txBody>
          <a:bodyPr wrap="square" lIns="0" tIns="0" rIns="0" bIns="0">
            <a:spAutoFit/>
          </a:bodyPr>
          <a:lstStyle/>
          <a:p>
            <a:pPr algn="ctr">
              <a:defRPr sz="819" b="0">
                <a:solidFill>
                  <a:srgbClr val="222B35"/>
                </a:solidFill>
                <a:latin typeface="Aptos"/>
              </a:defRPr>
            </a:pPr>
            <a:r>
              <a:t>.696</a:t>
            </a:r>
          </a:p>
        </p:txBody>
      </p:sp>
      <p:sp>
        <p:nvSpPr>
          <p:cNvPr id="128" name="Rectangle 127">
            <a:extLst>
              <a:ext uri="{FF2B5EF4-FFF2-40B4-BE49-F238E27FC236}">
                <a16:creationId xmlns:a16="http://schemas.microsoft.com/office/drawing/2014/main" id="{248D362F-DE23-082D-A7AC-9D1076AC287A}"/>
              </a:ext>
            </a:extLst>
          </p:cNvPr>
          <p:cNvSpPr/>
          <p:nvPr/>
        </p:nvSpPr>
        <p:spPr>
          <a:xfrm>
            <a:off x="4892040" y="4882896"/>
            <a:ext cx="1417320" cy="320040"/>
          </a:xfrm>
          <a:prstGeom prst="rect">
            <a:avLst/>
          </a:prstGeom>
          <a:solidFill>
            <a:srgbClr val="F8F9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a:extLst>
              <a:ext uri="{FF2B5EF4-FFF2-40B4-BE49-F238E27FC236}">
                <a16:creationId xmlns:a16="http://schemas.microsoft.com/office/drawing/2014/main" id="{6680E1D8-0DEA-824A-23A3-21C1F6B5BDF1}"/>
              </a:ext>
            </a:extLst>
          </p:cNvPr>
          <p:cNvSpPr txBox="1"/>
          <p:nvPr/>
        </p:nvSpPr>
        <p:spPr>
          <a:xfrm>
            <a:off x="4965192" y="4978908"/>
            <a:ext cx="1271016" cy="118872"/>
          </a:xfrm>
          <a:prstGeom prst="rect">
            <a:avLst/>
          </a:prstGeom>
          <a:noFill/>
        </p:spPr>
        <p:txBody>
          <a:bodyPr wrap="square" lIns="0" tIns="0" rIns="0" bIns="0">
            <a:spAutoFit/>
          </a:bodyPr>
          <a:lstStyle/>
          <a:p>
            <a:pPr algn="ctr">
              <a:defRPr sz="819" b="0">
                <a:solidFill>
                  <a:srgbClr val="222B35"/>
                </a:solidFill>
                <a:latin typeface="Aptos"/>
              </a:defRPr>
            </a:pPr>
            <a:r>
              <a:t>.989</a:t>
            </a:r>
          </a:p>
        </p:txBody>
      </p:sp>
      <p:sp>
        <p:nvSpPr>
          <p:cNvPr id="132" name="Rounded Rectangle 52">
            <a:extLst>
              <a:ext uri="{FF2B5EF4-FFF2-40B4-BE49-F238E27FC236}">
                <a16:creationId xmlns:a16="http://schemas.microsoft.com/office/drawing/2014/main" id="{939BB60E-3C79-6FEE-6445-A03116D4B534}"/>
              </a:ext>
            </a:extLst>
          </p:cNvPr>
          <p:cNvSpPr/>
          <p:nvPr/>
        </p:nvSpPr>
        <p:spPr>
          <a:xfrm>
            <a:off x="6537960" y="3611880"/>
            <a:ext cx="4754880" cy="1389888"/>
          </a:xfrm>
          <a:prstGeom prst="roundRect">
            <a:avLst/>
          </a:prstGeom>
          <a:solidFill>
            <a:srgbClr val="F0F8F5"/>
          </a:solidFill>
          <a:ln w="12700">
            <a:solidFill>
              <a:srgbClr val="B2D5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33">
            <a:extLst>
              <a:ext uri="{FF2B5EF4-FFF2-40B4-BE49-F238E27FC236}">
                <a16:creationId xmlns:a16="http://schemas.microsoft.com/office/drawing/2014/main" id="{6C33D84B-55B1-E1DE-E3F3-3851536944AE}"/>
              </a:ext>
            </a:extLst>
          </p:cNvPr>
          <p:cNvSpPr txBox="1"/>
          <p:nvPr/>
        </p:nvSpPr>
        <p:spPr>
          <a:xfrm>
            <a:off x="6876288" y="3858768"/>
            <a:ext cx="3291840" cy="228600"/>
          </a:xfrm>
          <a:prstGeom prst="rect">
            <a:avLst/>
          </a:prstGeom>
          <a:noFill/>
        </p:spPr>
        <p:txBody>
          <a:bodyPr wrap="square" lIns="0" tIns="0" rIns="0" bIns="0">
            <a:spAutoFit/>
          </a:bodyPr>
          <a:lstStyle/>
          <a:p>
            <a:pPr algn="l">
              <a:defRPr sz="1300" b="1">
                <a:solidFill>
                  <a:srgbClr val="1F805E"/>
                </a:solidFill>
                <a:latin typeface="Aptos"/>
              </a:defRPr>
            </a:pPr>
            <a:r>
              <a:t>What the ablation shows</a:t>
            </a:r>
          </a:p>
        </p:txBody>
      </p:sp>
      <p:sp>
        <p:nvSpPr>
          <p:cNvPr id="136" name="TextBox 135">
            <a:extLst>
              <a:ext uri="{FF2B5EF4-FFF2-40B4-BE49-F238E27FC236}">
                <a16:creationId xmlns:a16="http://schemas.microsoft.com/office/drawing/2014/main" id="{2A8D57CB-38F8-FA7B-C329-B67DDE5431BC}"/>
              </a:ext>
            </a:extLst>
          </p:cNvPr>
          <p:cNvSpPr txBox="1"/>
          <p:nvPr/>
        </p:nvSpPr>
        <p:spPr>
          <a:xfrm>
            <a:off x="6876288" y="4233672"/>
            <a:ext cx="4069080" cy="576072"/>
          </a:xfrm>
          <a:prstGeom prst="rect">
            <a:avLst/>
          </a:prstGeom>
          <a:noFill/>
        </p:spPr>
        <p:txBody>
          <a:bodyPr wrap="square" lIns="0" tIns="0" rIns="0" bIns="0">
            <a:spAutoFit/>
          </a:bodyPr>
          <a:lstStyle/>
          <a:p>
            <a:pPr algn="l">
              <a:defRPr sz="1019" b="0">
                <a:solidFill>
                  <a:srgbClr val="222B35"/>
                </a:solidFill>
                <a:latin typeface="Aptos"/>
              </a:defRPr>
            </a:pPr>
            <a:r>
              <a:t>Removing planning-time scope collapses spillover AUC</a:t>
            </a:r>
            <a:br/>
            <a:r>
              <a:t>from .986 to .697. Keeping planning features alone</a:t>
            </a:r>
            <a:br/>
            <a:r>
              <a:t>leaves it essentially unchanged (.987).</a:t>
            </a:r>
          </a:p>
        </p:txBody>
      </p:sp>
      <p:sp>
        <p:nvSpPr>
          <p:cNvPr id="138" name="TextBox 137">
            <a:extLst>
              <a:ext uri="{FF2B5EF4-FFF2-40B4-BE49-F238E27FC236}">
                <a16:creationId xmlns:a16="http://schemas.microsoft.com/office/drawing/2014/main" id="{6AD2FD26-8F92-1B4B-B07F-DDFA1D70B95D}"/>
              </a:ext>
            </a:extLst>
          </p:cNvPr>
          <p:cNvSpPr txBox="1"/>
          <p:nvPr/>
        </p:nvSpPr>
        <p:spPr>
          <a:xfrm>
            <a:off x="576072" y="5422392"/>
            <a:ext cx="10927080" cy="274320"/>
          </a:xfrm>
          <a:prstGeom prst="rect">
            <a:avLst/>
          </a:prstGeom>
          <a:noFill/>
        </p:spPr>
        <p:txBody>
          <a:bodyPr wrap="square" lIns="0" tIns="0" rIns="0" bIns="0">
            <a:spAutoFit/>
          </a:bodyPr>
          <a:lstStyle/>
          <a:p>
            <a:pPr algn="l">
              <a:defRPr sz="919" b="1">
                <a:solidFill>
                  <a:srgbClr val="18395B"/>
                </a:solidFill>
                <a:latin typeface="Aptos"/>
              </a:defRPr>
            </a:pPr>
            <a:r>
              <a:t>Conclusion: starting scope carries most of the measurable unfinished-work signal; late closure remains weaker and more context-dependent.</a:t>
            </a:r>
          </a:p>
        </p:txBody>
      </p:sp>
      <p:sp>
        <p:nvSpPr>
          <p:cNvPr id="140" name="Rectangle 139">
            <a:extLst>
              <a:ext uri="{FF2B5EF4-FFF2-40B4-BE49-F238E27FC236}">
                <a16:creationId xmlns:a16="http://schemas.microsoft.com/office/drawing/2014/main" id="{FBBD09CF-EEA7-1539-FD2E-FFC4F0BD0B1B}"/>
              </a:ext>
            </a:extLst>
          </p:cNvPr>
          <p:cNvSpPr/>
          <p:nvPr/>
        </p:nvSpPr>
        <p:spPr>
          <a:xfrm>
            <a:off x="0" y="6556248"/>
            <a:ext cx="12191695" cy="301752"/>
          </a:xfrm>
          <a:prstGeom prst="rect">
            <a:avLst/>
          </a:prstGeom>
          <a:solidFill>
            <a:srgbClr val="ED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a:extLst>
              <a:ext uri="{FF2B5EF4-FFF2-40B4-BE49-F238E27FC236}">
                <a16:creationId xmlns:a16="http://schemas.microsoft.com/office/drawing/2014/main" id="{29D3B381-26CC-6DE5-1358-9E80247C5129}"/>
              </a:ext>
            </a:extLst>
          </p:cNvPr>
          <p:cNvSpPr txBox="1"/>
          <p:nvPr/>
        </p:nvSpPr>
        <p:spPr>
          <a:xfrm>
            <a:off x="438912" y="6656832"/>
            <a:ext cx="5486400" cy="115416"/>
          </a:xfrm>
          <a:prstGeom prst="rect">
            <a:avLst/>
          </a:prstGeom>
          <a:noFill/>
        </p:spPr>
        <p:txBody>
          <a:bodyPr wrap="square" lIns="0" tIns="0" rIns="0" bIns="0">
            <a:spAutoFit/>
          </a:bodyPr>
          <a:lstStyle/>
          <a:p>
            <a:pPr algn="l">
              <a:defRPr sz="680" b="1">
                <a:solidFill>
                  <a:srgbClr val="FFFFFF"/>
                </a:solidFill>
                <a:latin typeface="Aptos"/>
              </a:defRPr>
            </a:pPr>
            <a:r>
              <a:rPr sz="750" dirty="0"/>
              <a:t>CSBP711 Advanced Artificial Intelligence  |  Datasets and Algorithm Comparison</a:t>
            </a:r>
          </a:p>
        </p:txBody>
      </p:sp>
      <p:sp>
        <p:nvSpPr>
          <p:cNvPr id="144" name="TextBox 143">
            <a:extLst>
              <a:ext uri="{FF2B5EF4-FFF2-40B4-BE49-F238E27FC236}">
                <a16:creationId xmlns:a16="http://schemas.microsoft.com/office/drawing/2014/main" id="{7FDFD62F-852E-CF27-73A4-D8F05FC59DCE}"/>
              </a:ext>
            </a:extLst>
          </p:cNvPr>
          <p:cNvSpPr txBox="1"/>
          <p:nvPr/>
        </p:nvSpPr>
        <p:spPr>
          <a:xfrm>
            <a:off x="11594592" y="6656832"/>
            <a:ext cx="164592" cy="109728"/>
          </a:xfrm>
          <a:prstGeom prst="rect">
            <a:avLst/>
          </a:prstGeom>
          <a:noFill/>
        </p:spPr>
        <p:txBody>
          <a:bodyPr wrap="square" lIns="0" tIns="0" rIns="0" bIns="0">
            <a:spAutoFit/>
          </a:bodyPr>
          <a:lstStyle/>
          <a:p>
            <a:pPr algn="ctr">
              <a:defRPr sz="700" b="1">
                <a:solidFill>
                  <a:srgbClr val="FFFFFF"/>
                </a:solidFill>
                <a:latin typeface="Aptos"/>
              </a:defRPr>
            </a:pPr>
            <a:r>
              <a:t>5</a:t>
            </a:r>
          </a:p>
        </p:txBody>
      </p:sp>
      <p:pic>
        <p:nvPicPr>
          <p:cNvPr id="146" name="Picture 145" descr="image.png">
            <a:extLst>
              <a:ext uri="{FF2B5EF4-FFF2-40B4-BE49-F238E27FC236}">
                <a16:creationId xmlns:a16="http://schemas.microsoft.com/office/drawing/2014/main" id="{2DAAB4E5-B9BF-D286-465C-9971DB25A212}"/>
              </a:ext>
            </a:extLst>
          </p:cNvPr>
          <p:cNvPicPr>
            <a:picLocks noChangeAspect="1"/>
          </p:cNvPicPr>
          <p:nvPr/>
        </p:nvPicPr>
        <p:blipFill>
          <a:blip r:embed="rId2"/>
          <a:stretch>
            <a:fillRect/>
          </a:stretch>
        </p:blipFill>
        <p:spPr>
          <a:xfrm>
            <a:off x="9829800" y="256032"/>
            <a:ext cx="1737360" cy="34747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156</TotalTime>
  <Words>877</Words>
  <Application>Microsoft Office PowerPoint</Application>
  <PresentationFormat>Widescreen</PresentationFormat>
  <Paragraphs>187</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Maryam Hanif</cp:lastModifiedBy>
  <cp:revision>4</cp:revision>
  <dcterms:created xsi:type="dcterms:W3CDTF">2013-01-27T09:14:16Z</dcterms:created>
  <dcterms:modified xsi:type="dcterms:W3CDTF">2026-10-01T15:08:16Z</dcterms:modified>
  <cp:category/>
</cp:coreProperties>
</file>