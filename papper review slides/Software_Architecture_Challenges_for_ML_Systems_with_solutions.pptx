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20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hem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488"/>
            <a:ext cx="2926080" cy="493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7830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1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PRESENTATION  ·  ICSME 2021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48640" y="2212848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Architecture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for ML Systems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703320"/>
            <a:ext cx="1417320" cy="0"/>
          </a:xfrm>
          <a:prstGeom prst="line">
            <a:avLst/>
          </a:prstGeom>
          <a:noFill/>
          <a:ln w="27940">
            <a:solidFill>
              <a:srgbClr val="AF1625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406908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Grace A. Lewis · Ipek Ozkaya · Xiwei Xu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3616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Carnegie Mellon Software Engineering Institute · CSIRO Data61 and UNSW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489204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by: Maryam Hanif and Hani Abushark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549640" y="1051560"/>
            <a:ext cx="3017520" cy="4434840"/>
          </a:xfrm>
          <a:prstGeom prst="roundRect">
            <a:avLst>
              <a:gd name="adj" fmla="val 1818"/>
            </a:avLst>
          </a:prstGeom>
          <a:solidFill>
            <a:srgbClr val="F4F6F8"/>
          </a:solidFill>
          <a:ln w="9525">
            <a:solidFill>
              <a:srgbClr val="D8DEE4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A0A0A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82396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focus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823960" y="1874520"/>
            <a:ext cx="2331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What problem does the paper address?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What are the four architecture challenges?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How do they appear in practice?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What kind of evidence supports the claims?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8823960" y="4526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AF1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for systems that use ML — not the architecture of the ML algorithm itself.</a:t>
            </a:r>
            <a:endParaRPr lang="en-US" sz="1050" dirty="0"/>
          </a:p>
        </p:txBody>
      </p:sp>
      <p:pic>
        <p:nvPicPr>
          <p:cNvPr id="13" name="Image 1" descr="/mnt/data/theme_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6483096"/>
            <a:ext cx="1143000" cy="1920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6492240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Maryam Hanif &amp; Hani Abushark  ·  Software Architecture Challenges for ML Systems</a:t>
            </a:r>
            <a:endParaRPr lang="en-US" sz="680" dirty="0"/>
          </a:p>
        </p:txBody>
      </p:sp>
      <p:sp>
        <p:nvSpPr>
          <p:cNvPr id="15" name="Text 11"/>
          <p:cNvSpPr/>
          <p:nvPr/>
        </p:nvSpPr>
        <p:spPr>
          <a:xfrm>
            <a:off x="7187184" y="642823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C858D"/>
                </a:solidFill>
              </a:rPr>
              <a:t>Paper Review</a:t>
            </a:r>
            <a:endParaRPr lang="en-US" sz="640" dirty="0"/>
          </a:p>
        </p:txBody>
      </p:sp>
      <p:sp>
        <p:nvSpPr>
          <p:cNvPr id="16" name="Shape 12"/>
          <p:cNvSpPr/>
          <p:nvPr/>
        </p:nvSpPr>
        <p:spPr>
          <a:xfrm>
            <a:off x="7269480" y="6620256"/>
            <a:ext cx="91440" cy="54864"/>
          </a:xfrm>
          <a:prstGeom prst="rect">
            <a:avLst/>
          </a:prstGeom>
          <a:solidFill>
            <a:srgbClr val="E31B2F"/>
          </a:solidFill>
          <a:ln w="5715">
            <a:solidFill>
              <a:srgbClr val="E31B2F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41121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755294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769467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783640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797814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811987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826160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840333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854506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868680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882853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897026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70">
                <a:solidFill>
                  <a:srgbClr val="6E747A"/>
                </a:solidFill>
                <a:latin typeface="Aptos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943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50" b="1" i="0">
                <a:solidFill>
                  <a:srgbClr val="EB2132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67512"/>
            <a:ext cx="106070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850" b="1" i="0">
                <a:solidFill>
                  <a:srgbClr val="23272B"/>
                </a:solidFill>
                <a:latin typeface="Georgia"/>
              </a:rPr>
              <a:t>What kind of problem is this paper addressing?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60704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50" b="0" i="0">
                <a:solidFill>
                  <a:srgbClr val="5F666E"/>
                </a:solidFill>
                <a:latin typeface="Aptos"/>
              </a:rPr>
              <a:t>A software architecture problem for systems that use ML — not a paper about a new ML algorithm.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234440" cy="32004"/>
          </a:xfrm>
          <a:prstGeom prst="rect">
            <a:avLst/>
          </a:prstGeom>
          <a:solidFill>
            <a:srgbClr val="EB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10512"/>
            <a:ext cx="11018520" cy="960120"/>
          </a:xfrm>
          <a:prstGeom prst="roundRect">
            <a:avLst/>
          </a:prstGeom>
          <a:solidFill>
            <a:srgbClr val="F5F6F8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65960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 i="0">
                <a:solidFill>
                  <a:srgbClr val="EB2132"/>
                </a:solidFill>
                <a:latin typeface="Georgia"/>
              </a:rPr>
              <a:t>Core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2" y="1956816"/>
            <a:ext cx="8686800" cy="57607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700" b="0" i="0">
                <a:solidFill>
                  <a:srgbClr val="23272B"/>
                </a:solidFill>
                <a:latin typeface="Aptos"/>
              </a:rPr>
              <a:t>Once an ML model is placed inside a real software system, traditional architecture is not enough because model behavior depends on data, training, parameters, and real-world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35808"/>
            <a:ext cx="5349240" cy="2148840"/>
          </a:xfrm>
          <a:prstGeom prst="roundRect">
            <a:avLst/>
          </a:prstGeom>
          <a:solidFill>
            <a:srgbClr val="DEE8F2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264408"/>
            <a:ext cx="48006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750" b="1" i="0">
                <a:solidFill>
                  <a:srgbClr val="345978"/>
                </a:solidFill>
                <a:latin typeface="Georgia"/>
              </a:rPr>
              <a:t>Why this is different from normal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21608"/>
            <a:ext cx="4736592" cy="1234440"/>
          </a:xfrm>
          <a:prstGeom prst="rect">
            <a:avLst/>
          </a:prstGeom>
          <a:noFill/>
        </p:spPr>
        <p:txBody>
          <a:bodyPr wrap="square" lIns="54864" rIns="36576" tIns="18288" bIns="18288">
            <a:normAutofit/>
          </a:bodyPr>
          <a:lstStyle/>
          <a:p>
            <a:pPr>
              <a:spcAft>
                <a:spcPts val="700"/>
              </a:spcAft>
              <a:defRPr sz="1580">
                <a:solidFill>
                  <a:srgbClr val="23272B"/>
                </a:solidFill>
                <a:latin typeface="Aptos"/>
              </a:defRPr>
            </a:pPr>
            <a:r>
              <a:t>•  Normal software mainly follows rules written in code.</a:t>
            </a:r>
          </a:p>
          <a:p>
            <a:pPr>
              <a:spcAft>
                <a:spcPts val="700"/>
              </a:spcAft>
              <a:defRPr sz="1580">
                <a:solidFill>
                  <a:srgbClr val="23272B"/>
                </a:solidFill>
                <a:latin typeface="Aptos"/>
              </a:defRPr>
            </a:pPr>
            <a:r>
              <a:t>•  ML software also learns behavior from training data.</a:t>
            </a:r>
          </a:p>
          <a:p>
            <a:pPr>
              <a:spcAft>
                <a:spcPts val="700"/>
              </a:spcAft>
              <a:defRPr sz="1580">
                <a:solidFill>
                  <a:srgbClr val="23272B"/>
                </a:solidFill>
                <a:latin typeface="Aptos"/>
              </a:defRPr>
            </a:pPr>
            <a:r>
              <a:t>•  If the real world changes, predictions may become unreliable even without a code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35808"/>
            <a:ext cx="5349240" cy="2148840"/>
          </a:xfrm>
          <a:prstGeom prst="roundRect">
            <a:avLst/>
          </a:prstGeom>
          <a:solidFill>
            <a:srgbClr val="FAE1E4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264408"/>
            <a:ext cx="48006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750" b="1" i="0">
                <a:solidFill>
                  <a:srgbClr val="EB2132"/>
                </a:solidFill>
                <a:latin typeface="Georgia"/>
              </a:rPr>
              <a:t>Simple production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721608"/>
            <a:ext cx="4736592" cy="1234440"/>
          </a:xfrm>
          <a:prstGeom prst="rect">
            <a:avLst/>
          </a:prstGeom>
          <a:noFill/>
        </p:spPr>
        <p:txBody>
          <a:bodyPr wrap="square" lIns="54864" rIns="36576" tIns="18288" bIns="18288">
            <a:normAutofit/>
          </a:bodyPr>
          <a:lstStyle/>
          <a:p>
            <a:pPr>
              <a:spcAft>
                <a:spcPts val="700"/>
              </a:spcAft>
              <a:defRPr sz="1580">
                <a:solidFill>
                  <a:srgbClr val="23272B"/>
                </a:solidFill>
                <a:latin typeface="Aptos"/>
              </a:defRPr>
            </a:pPr>
            <a:r>
              <a:t>•  A fraud-detection model is 92% accurate in the lab.</a:t>
            </a:r>
          </a:p>
          <a:p>
            <a:pPr>
              <a:spcAft>
                <a:spcPts val="700"/>
              </a:spcAft>
              <a:defRPr sz="1580">
                <a:solidFill>
                  <a:srgbClr val="23272B"/>
                </a:solidFill>
                <a:latin typeface="Aptos"/>
              </a:defRPr>
            </a:pPr>
            <a:r>
              <a:t>•  Later, fraud patterns change. Servers, APIs, and database are still OK.</a:t>
            </a:r>
          </a:p>
          <a:p>
            <a:pPr>
              <a:spcAft>
                <a:spcPts val="700"/>
              </a:spcAft>
              <a:defRPr sz="1580">
                <a:solidFill>
                  <a:srgbClr val="23272B"/>
                </a:solidFill>
                <a:latin typeface="Aptos"/>
              </a:defRPr>
            </a:pPr>
            <a:r>
              <a:t>•  Accuracy drops, so the architecture must monitor, retrain, and trace versions.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11018520" cy="502920"/>
          </a:xfrm>
          <a:prstGeom prst="roundRect">
            <a:avLst/>
          </a:prstGeom>
          <a:solidFill>
            <a:srgbClr val="F8EED6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13832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50" b="1" i="0">
                <a:solidFill>
                  <a:srgbClr val="23272B"/>
                </a:solidFill>
                <a:latin typeface="Aptos"/>
              </a:rPr>
              <a:t>Audience takeaway: the paper is about engineering complete ML-enabled systems so they keep working after deployment.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1371600" cy="2329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057400" y="6473952"/>
            <a:ext cx="4206240" cy="1554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680" b="0" i="0">
                <a:solidFill>
                  <a:srgbClr val="6E747A"/>
                </a:solidFill>
                <a:latin typeface="Aptos"/>
              </a:rPr>
              <a:t>Maryam Hanif &amp; Hani Abushark  ·  Software Architecture Challenges for ML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6409944"/>
            <a:ext cx="7315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640" b="0" i="0">
                <a:solidFill>
                  <a:srgbClr val="6E747A"/>
                </a:solidFill>
                <a:latin typeface="Aptos"/>
              </a:rPr>
              <a:t>Paper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01384"/>
            <a:ext cx="41148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670">
                <a:solidFill>
                  <a:srgbClr val="6E747A"/>
                </a:solidFill>
                <a:latin typeface="Aptos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B2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&amp; MOTIVATION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a model is not a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075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argues that production ML needs architecture thinking, not only model development.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846320" cy="2194560"/>
          </a:xfrm>
          <a:prstGeom prst="roundRect">
            <a:avLst>
              <a:gd name="adj" fmla="val 2500"/>
            </a:avLst>
          </a:prstGeom>
          <a:solidFill>
            <a:srgbClr val="F7DDE1"/>
          </a:solidFill>
          <a:ln w="9525">
            <a:solidFill>
              <a:srgbClr val="D8DEE4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A0A0A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8928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AF16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problem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313432"/>
            <a:ext cx="438912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attention goes to building and evaluating the model. Less attention goes to putting the model into production, monitoring it, and evolving it over time.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9525">
            <a:solidFill>
              <a:srgbClr val="D8DEE4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A0A0A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43342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example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4754880"/>
            <a:ext cx="438912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fraud model can be accurate in the lab, but in production it also needs data pipelines, APIs, deployment, logging, governance, and retraining.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5806440" y="1691640"/>
            <a:ext cx="5806440" cy="3858768"/>
          </a:xfrm>
          <a:prstGeom prst="roundRect">
            <a:avLst>
              <a:gd name="adj" fmla="val 1422"/>
            </a:avLst>
          </a:prstGeom>
          <a:solidFill>
            <a:srgbClr val="DCE8F2"/>
          </a:solidFill>
          <a:ln w="9525">
            <a:solidFill>
              <a:srgbClr val="D8DEE4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A0A0A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8424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ML-enabled system depends 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0" y="2560320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18504" y="272491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5E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pipeline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732520" y="2560320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878824" y="272491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components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172200" y="3429000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18504" y="359359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5E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732520" y="3429000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878824" y="359359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172200" y="4297680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18504" y="446227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5E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732520" y="4297680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878824" y="446227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6172200" y="5138928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1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the model is only one component inside a larger software architecture.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5C656F"/>
                </a:solidFill>
              </a:rPr>
              <a:t>Source: Lewis, Ozkaya &amp; Xu (2021), abstract and introduction.</a:t>
            </a:r>
            <a:endParaRPr lang="en-US" sz="650" dirty="0"/>
          </a:p>
        </p:txBody>
      </p:sp>
      <p:pic>
        <p:nvPicPr>
          <p:cNvPr id="27" name="Image 0" descr="/mnt/data/them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6483096"/>
            <a:ext cx="1143000" cy="19202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828800" y="6492240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Maryam Hanif &amp; Hani Abushark  ·  Software Architecture Challenges for ML Systems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7187184" y="642823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C858D"/>
                </a:solidFill>
              </a:rPr>
              <a:t>Paper Review</a:t>
            </a:r>
            <a:endParaRPr lang="en-US" sz="640" dirty="0"/>
          </a:p>
        </p:txBody>
      </p:sp>
      <p:sp>
        <p:nvSpPr>
          <p:cNvPr id="30" name="Shape 27"/>
          <p:cNvSpPr/>
          <p:nvPr/>
        </p:nvSpPr>
        <p:spPr>
          <a:xfrm>
            <a:off x="726948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7411212" y="6620256"/>
            <a:ext cx="91440" cy="54864"/>
          </a:xfrm>
          <a:prstGeom prst="rect">
            <a:avLst/>
          </a:prstGeom>
          <a:solidFill>
            <a:srgbClr val="E31B2F"/>
          </a:solidFill>
          <a:ln w="5715">
            <a:solidFill>
              <a:srgbClr val="E31B2F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755294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769467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783640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797814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811987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826160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840333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854506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868680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882853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897026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70">
                <a:solidFill>
                  <a:srgbClr val="6E747A"/>
                </a:solidFill>
                <a:latin typeface="Aptos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B2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SOFTWARE VS ML SYSTEMS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ML changes architecture assumptions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075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software follows programmed rules; ML behavior also depends on data.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DCE8F2"/>
          </a:solidFill>
          <a:ln w="9525">
            <a:solidFill>
              <a:srgbClr val="D8DEE4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A0A0A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193852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315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software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2359152"/>
            <a:ext cx="452628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are written directly in code.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follows programmed logic.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 code usually changes system behavior.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6492240" y="173736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F2E7CD"/>
          </a:solidFill>
          <a:ln w="9525">
            <a:solidFill>
              <a:srgbClr val="D8DEE4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A0A0A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720840" y="193852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B779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Machine-learning systems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720840" y="2359152"/>
            <a:ext cx="452628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is learned from training data.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can be probabilistic.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 data can affect predictions without any code change.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6099048" y="1874520"/>
            <a:ext cx="0" cy="3246120"/>
          </a:xfrm>
          <a:prstGeom prst="line">
            <a:avLst/>
          </a:prstGeom>
          <a:noFill/>
          <a:ln w="15240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26280" y="5632704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E31B2F"/>
          </a:solidFill>
          <a:ln w="12700">
            <a:solidFill>
              <a:srgbClr val="E31B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26280" y="5692140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MESSAGE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5943600" y="567842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6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behavior depends on code, the model, and the data.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5C656F"/>
                </a:solidFill>
              </a:rPr>
              <a:t>Source: paper discussion of data-dependent ML component behavior.</a:t>
            </a:r>
            <a:endParaRPr lang="en-US" sz="650" dirty="0"/>
          </a:p>
        </p:txBody>
      </p:sp>
      <p:pic>
        <p:nvPicPr>
          <p:cNvPr id="16" name="Image 0" descr="/mnt/data/them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6483096"/>
            <a:ext cx="1143000" cy="19202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828800" y="6492240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Maryam Hanif &amp; Hani Abushark  ·  Software Architecture Challenges for ML Systems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7187184" y="642823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C858D"/>
                </a:solidFill>
              </a:rPr>
              <a:t>Paper Review</a:t>
            </a:r>
            <a:endParaRPr lang="en-US" sz="640" dirty="0"/>
          </a:p>
        </p:txBody>
      </p:sp>
      <p:sp>
        <p:nvSpPr>
          <p:cNvPr id="19" name="Shape 16"/>
          <p:cNvSpPr/>
          <p:nvPr/>
        </p:nvSpPr>
        <p:spPr>
          <a:xfrm>
            <a:off x="726948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741121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7552944" y="6620256"/>
            <a:ext cx="91440" cy="54864"/>
          </a:xfrm>
          <a:prstGeom prst="rect">
            <a:avLst/>
          </a:prstGeom>
          <a:solidFill>
            <a:srgbClr val="E31B2F"/>
          </a:solidFill>
          <a:ln w="5715">
            <a:solidFill>
              <a:srgbClr val="E31B2F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69467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783640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797814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811987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826160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840333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854506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868680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882853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897026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70">
                <a:solidFill>
                  <a:srgbClr val="6E747A"/>
                </a:solidFill>
                <a:latin typeface="Aptos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B2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ML MODEL LIFECYCLE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is not the 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075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and maintenance are part of the lifecycle, not optional add-ons.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49808" cy="749808"/>
          </a:xfrm>
          <a:prstGeom prst="ellipse">
            <a:avLst/>
          </a:prstGeom>
          <a:solidFill>
            <a:srgbClr val="DCE8F2"/>
          </a:solidFill>
          <a:ln w="12700">
            <a:solidFill>
              <a:srgbClr val="315E7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78408" y="213969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5E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96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2240280" y="1920240"/>
            <a:ext cx="749808" cy="749808"/>
          </a:xfrm>
          <a:prstGeom prst="ellipse">
            <a:avLst/>
          </a:prstGeom>
          <a:solidFill>
            <a:srgbClr val="DCE8F2"/>
          </a:solidFill>
          <a:ln w="12700">
            <a:solidFill>
              <a:srgbClr val="315E7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487168" y="213969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5E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278892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96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preparation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3749040" y="1920240"/>
            <a:ext cx="749808" cy="749808"/>
          </a:xfrm>
          <a:prstGeom prst="ellipse">
            <a:avLst/>
          </a:prstGeom>
          <a:solidFill>
            <a:srgbClr val="DCE8F2"/>
          </a:solidFill>
          <a:ln w="12700">
            <a:solidFill>
              <a:srgbClr val="315E7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995928" y="213969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5E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78892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96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257800" y="1920240"/>
            <a:ext cx="749808" cy="749808"/>
          </a:xfrm>
          <a:prstGeom prst="ellipse">
            <a:avLst/>
          </a:prstGeom>
          <a:solidFill>
            <a:srgbClr val="DCE8F2"/>
          </a:solidFill>
          <a:ln w="12700">
            <a:solidFill>
              <a:srgbClr val="315E7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504688" y="213969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5E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78892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96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766560" y="1920240"/>
            <a:ext cx="749808" cy="749808"/>
          </a:xfrm>
          <a:prstGeom prst="ellipse">
            <a:avLst/>
          </a:prstGeom>
          <a:solidFill>
            <a:srgbClr val="DCE8F2"/>
          </a:solidFill>
          <a:ln w="12700">
            <a:solidFill>
              <a:srgbClr val="315E7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013448" y="213969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5E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78892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96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8275320" y="1920240"/>
            <a:ext cx="749808" cy="749808"/>
          </a:xfrm>
          <a:prstGeom prst="ellipse">
            <a:avLst/>
          </a:prstGeom>
          <a:solidFill>
            <a:srgbClr val="DCE8F2"/>
          </a:solidFill>
          <a:ln w="12700">
            <a:solidFill>
              <a:srgbClr val="315E7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522208" y="213969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5E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278892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96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9784080" y="1920240"/>
            <a:ext cx="749808" cy="749808"/>
          </a:xfrm>
          <a:prstGeom prst="ellipse">
            <a:avLst/>
          </a:prstGeom>
          <a:solidFill>
            <a:srgbClr val="DCE8F2"/>
          </a:solidFill>
          <a:ln w="12700">
            <a:solidFill>
              <a:srgbClr val="315E7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030968" y="213969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5E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55480" y="278892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96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5257800" y="3657600"/>
            <a:ext cx="749808" cy="749808"/>
          </a:xfrm>
          <a:prstGeom prst="ellipse">
            <a:avLst/>
          </a:prstGeom>
          <a:solidFill>
            <a:srgbClr val="F7DDE1"/>
          </a:solidFill>
          <a:ln w="12700">
            <a:solidFill>
              <a:srgbClr val="AF162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504688" y="387705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F1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452628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</a:t>
            </a:r>
            <a:endParaRPr lang="en-US" sz="96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evolution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1536192" y="2295144"/>
            <a:ext cx="658368" cy="0"/>
          </a:xfrm>
          <a:prstGeom prst="line">
            <a:avLst/>
          </a:prstGeom>
          <a:noFill/>
          <a:ln w="15240">
            <a:solidFill>
              <a:srgbClr val="315E7E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044952" y="2295144"/>
            <a:ext cx="658368" cy="0"/>
          </a:xfrm>
          <a:prstGeom prst="line">
            <a:avLst/>
          </a:prstGeom>
          <a:noFill/>
          <a:ln w="15240">
            <a:solidFill>
              <a:srgbClr val="315E7E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53712" y="2295144"/>
            <a:ext cx="658368" cy="0"/>
          </a:xfrm>
          <a:prstGeom prst="line">
            <a:avLst/>
          </a:prstGeom>
          <a:noFill/>
          <a:ln w="15240">
            <a:solidFill>
              <a:srgbClr val="315E7E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062472" y="2295144"/>
            <a:ext cx="658368" cy="0"/>
          </a:xfrm>
          <a:prstGeom prst="line">
            <a:avLst/>
          </a:prstGeom>
          <a:noFill/>
          <a:ln w="15240">
            <a:solidFill>
              <a:srgbClr val="315E7E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571232" y="2295144"/>
            <a:ext cx="658368" cy="0"/>
          </a:xfrm>
          <a:prstGeom prst="line">
            <a:avLst/>
          </a:prstGeom>
          <a:noFill/>
          <a:ln w="15240">
            <a:solidFill>
              <a:srgbClr val="315E7E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079992" y="2295144"/>
            <a:ext cx="658368" cy="0"/>
          </a:xfrm>
          <a:prstGeom prst="line">
            <a:avLst/>
          </a:prstGeom>
          <a:noFill/>
          <a:ln w="15240">
            <a:solidFill>
              <a:srgbClr val="315E7E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149840" y="3035808"/>
            <a:ext cx="-4343400" cy="667512"/>
          </a:xfrm>
          <a:prstGeom prst="line">
            <a:avLst/>
          </a:prstGeom>
          <a:noFill/>
          <a:ln w="15240">
            <a:solidFill>
              <a:srgbClr val="AF162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257800" y="3904488"/>
            <a:ext cx="-4389120" cy="-749808"/>
          </a:xfrm>
          <a:prstGeom prst="line">
            <a:avLst/>
          </a:prstGeom>
          <a:noFill/>
          <a:ln w="15240">
            <a:solidFill>
              <a:srgbClr val="AF162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7280" y="5257800"/>
            <a:ext cx="9921240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9525">
            <a:solidFill>
              <a:srgbClr val="D8DEE4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325880" y="5458968"/>
            <a:ext cx="9464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architecture must support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1325880" y="5879592"/>
            <a:ext cx="9464040" cy="-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runtime logs, metrics, feedback, and ground truth; detect drift; retrain or revisit model requirements.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5C656F"/>
                </a:solidFill>
              </a:rPr>
              <a:t>Source: paper Figure 1, adapted from Amershi et al.</a:t>
            </a:r>
            <a:endParaRPr lang="en-US" sz="650" dirty="0"/>
          </a:p>
        </p:txBody>
      </p:sp>
      <p:pic>
        <p:nvPicPr>
          <p:cNvPr id="41" name="Image 0" descr="/mnt/data/them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6483096"/>
            <a:ext cx="1143000" cy="19202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828800" y="6492240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Maryam Hanif &amp; Hani Abushark  ·  Software Architecture Challenges for ML Systems</a:t>
            </a:r>
            <a:endParaRPr lang="en-US" sz="680" dirty="0"/>
          </a:p>
        </p:txBody>
      </p:sp>
      <p:sp>
        <p:nvSpPr>
          <p:cNvPr id="43" name="Text 40"/>
          <p:cNvSpPr/>
          <p:nvPr/>
        </p:nvSpPr>
        <p:spPr>
          <a:xfrm>
            <a:off x="7187184" y="642823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C858D"/>
                </a:solidFill>
              </a:rPr>
              <a:t>Paper Review</a:t>
            </a:r>
            <a:endParaRPr lang="en-US" sz="640" dirty="0"/>
          </a:p>
        </p:txBody>
      </p:sp>
      <p:sp>
        <p:nvSpPr>
          <p:cNvPr id="44" name="Shape 41"/>
          <p:cNvSpPr/>
          <p:nvPr/>
        </p:nvSpPr>
        <p:spPr>
          <a:xfrm>
            <a:off x="726948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741121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Shape 43"/>
          <p:cNvSpPr/>
          <p:nvPr/>
        </p:nvSpPr>
        <p:spPr>
          <a:xfrm>
            <a:off x="755294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Shape 44"/>
          <p:cNvSpPr/>
          <p:nvPr/>
        </p:nvSpPr>
        <p:spPr>
          <a:xfrm>
            <a:off x="7694676" y="6620256"/>
            <a:ext cx="91440" cy="54864"/>
          </a:xfrm>
          <a:prstGeom prst="rect">
            <a:avLst/>
          </a:prstGeom>
          <a:solidFill>
            <a:srgbClr val="E31B2F"/>
          </a:solidFill>
          <a:ln w="5715">
            <a:solidFill>
              <a:srgbClr val="E31B2F"/>
            </a:solidFill>
            <a:prstDash val="solid"/>
          </a:ln>
        </p:spPr>
        <p:txBody>
          <a:bodyPr/>
          <a:p/>
        </p:txBody>
      </p:sp>
      <p:sp>
        <p:nvSpPr>
          <p:cNvPr id="48" name="Shape 45"/>
          <p:cNvSpPr/>
          <p:nvPr/>
        </p:nvSpPr>
        <p:spPr>
          <a:xfrm>
            <a:off x="783640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797814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>
            <a:off x="811987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826160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Shape 49"/>
          <p:cNvSpPr/>
          <p:nvPr/>
        </p:nvSpPr>
        <p:spPr>
          <a:xfrm>
            <a:off x="840333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Shape 50"/>
          <p:cNvSpPr/>
          <p:nvPr/>
        </p:nvSpPr>
        <p:spPr>
          <a:xfrm>
            <a:off x="854506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Shape 51"/>
          <p:cNvSpPr/>
          <p:nvPr/>
        </p:nvSpPr>
        <p:spPr>
          <a:xfrm>
            <a:off x="868680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Shape 52"/>
          <p:cNvSpPr/>
          <p:nvPr/>
        </p:nvSpPr>
        <p:spPr>
          <a:xfrm>
            <a:off x="882853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Shape 53"/>
          <p:cNvSpPr/>
          <p:nvPr/>
        </p:nvSpPr>
        <p:spPr>
          <a:xfrm>
            <a:off x="897026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70">
                <a:solidFill>
                  <a:srgbClr val="6E747A"/>
                </a:solidFill>
                <a:latin typeface="Aptos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B2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PAPER FIGURE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2: Role of software architecture for ML systems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075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paper’s central architecture view.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7452360" cy="4407408"/>
          </a:xfrm>
          <a:prstGeom prst="roundRect">
            <a:avLst>
              <a:gd name="adj" fmla="val 1245"/>
            </a:avLst>
          </a:prstGeom>
          <a:solidFill>
            <a:srgbClr val="FFFFFF"/>
          </a:solidFill>
          <a:ln w="9525">
            <a:solidFill>
              <a:srgbClr val="D8DEE4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A0A0A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6" name="Image 0" descr="/mnt/data/fig2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960" y="1783080"/>
            <a:ext cx="6600577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75320" y="1572768"/>
            <a:ext cx="3246120" cy="1051560"/>
          </a:xfrm>
          <a:prstGeom prst="roundRect">
            <a:avLst>
              <a:gd name="adj" fmla="val 5217"/>
            </a:avLst>
          </a:prstGeom>
          <a:solidFill>
            <a:srgbClr val="DCE8F2"/>
          </a:solidFill>
          <a:ln w="9525">
            <a:solidFill>
              <a:srgbClr val="D8DEE4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503920" y="17739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Three development streams</a:t>
            </a:r>
            <a:endParaRPr lang="en-US" sz="1230" dirty="0"/>
          </a:p>
        </p:txBody>
      </p:sp>
      <p:sp>
        <p:nvSpPr>
          <p:cNvPr id="9" name="Text 6"/>
          <p:cNvSpPr/>
          <p:nvPr/>
        </p:nvSpPr>
        <p:spPr>
          <a:xfrm>
            <a:off x="8503920" y="2194560"/>
            <a:ext cx="278892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software, ML components, and infrastructure/platform development must be designed together.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8275320" y="2788920"/>
            <a:ext cx="3246120" cy="1051560"/>
          </a:xfrm>
          <a:prstGeom prst="roundRect">
            <a:avLst>
              <a:gd name="adj" fmla="val 5217"/>
            </a:avLst>
          </a:prstGeom>
          <a:solidFill>
            <a:srgbClr val="F7DDE1"/>
          </a:solidFill>
          <a:ln w="9525">
            <a:solidFill>
              <a:srgbClr val="D8DEE4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503920" y="299008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Central coordination</a:t>
            </a:r>
            <a:endParaRPr lang="en-US" sz="1230" dirty="0"/>
          </a:p>
        </p:txBody>
      </p:sp>
      <p:sp>
        <p:nvSpPr>
          <p:cNvPr id="12" name="Text 9"/>
          <p:cNvSpPr/>
          <p:nvPr/>
        </p:nvSpPr>
        <p:spPr>
          <a:xfrm>
            <a:off x="8503920" y="3410712"/>
            <a:ext cx="278892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and software architecture connect data science, software engineering, and operations.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8275320" y="4005072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F2E7CD"/>
          </a:solidFill>
          <a:ln w="9525">
            <a:solidFill>
              <a:srgbClr val="D8DEE4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503920" y="42062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Production readiness</a:t>
            </a:r>
            <a:endParaRPr lang="en-US" sz="1230" dirty="0"/>
          </a:p>
        </p:txBody>
      </p:sp>
      <p:sp>
        <p:nvSpPr>
          <p:cNvPr id="15" name="Text 12"/>
          <p:cNvSpPr/>
          <p:nvPr/>
        </p:nvSpPr>
        <p:spPr>
          <a:xfrm>
            <a:off x="8503920" y="4626864"/>
            <a:ext cx="27889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brings together model, data pipeline, software component, platform, governance, and monitoring.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275320" y="5532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AF1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show the original contribution before simplifying it.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5C656F"/>
                </a:solidFill>
              </a:rPr>
              <a:t>Source: Lewis, Ozkaya &amp; Xu (2021), Figure 2.</a:t>
            </a:r>
            <a:endParaRPr lang="en-US" sz="650" dirty="0"/>
          </a:p>
        </p:txBody>
      </p:sp>
      <p:pic>
        <p:nvPicPr>
          <p:cNvPr id="18" name="Image 1" descr="/mnt/data/theme_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6483096"/>
            <a:ext cx="1143000" cy="1920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828800" y="6492240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Maryam Hanif &amp; Hani Abushark  ·  Software Architecture Challenges for ML Systems</a:t>
            </a:r>
            <a:endParaRPr lang="en-US" sz="680" dirty="0"/>
          </a:p>
        </p:txBody>
      </p:sp>
      <p:sp>
        <p:nvSpPr>
          <p:cNvPr id="20" name="Text 16"/>
          <p:cNvSpPr/>
          <p:nvPr/>
        </p:nvSpPr>
        <p:spPr>
          <a:xfrm>
            <a:off x="7187184" y="642823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C858D"/>
                </a:solidFill>
              </a:rPr>
              <a:t>Paper Review</a:t>
            </a:r>
            <a:endParaRPr lang="en-US" sz="640" dirty="0"/>
          </a:p>
        </p:txBody>
      </p:sp>
      <p:sp>
        <p:nvSpPr>
          <p:cNvPr id="21" name="Shape 17"/>
          <p:cNvSpPr/>
          <p:nvPr/>
        </p:nvSpPr>
        <p:spPr>
          <a:xfrm>
            <a:off x="726948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741121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755294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769467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7836408" y="6620256"/>
            <a:ext cx="91440" cy="54864"/>
          </a:xfrm>
          <a:prstGeom prst="rect">
            <a:avLst/>
          </a:prstGeom>
          <a:solidFill>
            <a:srgbClr val="E31B2F"/>
          </a:solidFill>
          <a:ln w="5715">
            <a:solidFill>
              <a:srgbClr val="E31B2F"/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797814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811987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826160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840333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854506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868680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882853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897026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70">
                <a:solidFill>
                  <a:srgbClr val="6E747A"/>
                </a:solidFill>
                <a:latin typeface="Aptos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B2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 SIMPLIFIED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architecture connects three communities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075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simplified version of Figure 2 for discussion.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2743200" cy="2057400"/>
          </a:xfrm>
          <a:prstGeom prst="roundRect">
            <a:avLst>
              <a:gd name="adj" fmla="val 2667"/>
            </a:avLst>
          </a:prstGeom>
          <a:solidFill>
            <a:srgbClr val="DCE8F2"/>
          </a:solidFill>
          <a:ln w="9525">
            <a:solidFill>
              <a:srgbClr val="D8DEE4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A0A0A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938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Engineering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914400" y="2359152"/>
            <a:ext cx="228600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60520" y="1737360"/>
            <a:ext cx="2743200" cy="2057400"/>
          </a:xfrm>
          <a:prstGeom prst="roundRect">
            <a:avLst>
              <a:gd name="adj" fmla="val 2667"/>
            </a:avLst>
          </a:prstGeom>
          <a:solidFill>
            <a:srgbClr val="F7DDE1"/>
          </a:solidFill>
          <a:ln w="9525">
            <a:solidFill>
              <a:srgbClr val="D8DEE4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A0A0A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89120" y="1938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Science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4389120" y="2359152"/>
            <a:ext cx="228600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35240" y="1737360"/>
            <a:ext cx="2743200" cy="2057400"/>
          </a:xfrm>
          <a:prstGeom prst="roundRect">
            <a:avLst>
              <a:gd name="adj" fmla="val 2667"/>
            </a:avLst>
          </a:prstGeom>
          <a:solidFill>
            <a:srgbClr val="F2E7CD"/>
          </a:solidFill>
          <a:ln w="9525">
            <a:solidFill>
              <a:srgbClr val="D8DEE4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A0A0A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863840" y="1938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7863840" y="2359152"/>
            <a:ext cx="228600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0" y="4297680"/>
            <a:ext cx="4873752" cy="82296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9525">
            <a:solidFill>
              <a:srgbClr val="D8DEE4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A0A0A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886200" y="4553712"/>
            <a:ext cx="4416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Architecture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95928" y="5605272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E31B2F"/>
          </a:solidFill>
          <a:ln w="12700">
            <a:solidFill>
              <a:srgbClr val="E31B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995928" y="5715000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Production-ready ML system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9AA0A6"/>
                </a:solidFill>
              </a:rPr>
              <a:t>Interpretation of the paper’s Figure 2.</a:t>
            </a:r>
            <a:endParaRPr lang="en-US" sz="650" dirty="0"/>
          </a:p>
        </p:txBody>
      </p:sp>
      <p:pic>
        <p:nvPicPr>
          <p:cNvPr id="19" name="Image 0" descr="/mnt/data/them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6483096"/>
            <a:ext cx="1143000" cy="1920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828800" y="6492240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Maryam Hanif &amp; Hani Abushark  ·  Software Architecture Challenges for ML Systems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7187184" y="642823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C858D"/>
                </a:solidFill>
              </a:rPr>
              <a:t>Paper Review</a:t>
            </a:r>
            <a:endParaRPr lang="en-US" sz="640" dirty="0"/>
          </a:p>
        </p:txBody>
      </p:sp>
      <p:sp>
        <p:nvSpPr>
          <p:cNvPr id="22" name="Shape 19"/>
          <p:cNvSpPr/>
          <p:nvPr/>
        </p:nvSpPr>
        <p:spPr>
          <a:xfrm>
            <a:off x="726948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741121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755294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769467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783640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7978140" y="6620256"/>
            <a:ext cx="91440" cy="54864"/>
          </a:xfrm>
          <a:prstGeom prst="rect">
            <a:avLst/>
          </a:prstGeom>
          <a:solidFill>
            <a:srgbClr val="E31B2F"/>
          </a:solidFill>
          <a:ln w="5715">
            <a:solidFill>
              <a:srgbClr val="E31B2F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811987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826160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840333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854506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868680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882853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897026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70">
                <a:solidFill>
                  <a:srgbClr val="6E747A"/>
                </a:solidFill>
                <a:latin typeface="Aptos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B2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ARCHITECTURE CHALLENGES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paper organizes the gap into four challenge areas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075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algn="l">
              <a:buNone/>
            </a:pPr>
            <a:r>
              <a:rPr sz="1450" b="0" i="0">
                <a:solidFill>
                  <a:srgbClr val="505860"/>
                </a:solidFill>
              </a:rPr>
              <a:t>The next slides explain each challenge with: meaning → practical example → what the paper suggests.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DCE8F2"/>
          </a:solidFill>
          <a:ln w="9525">
            <a:solidFill>
              <a:srgbClr val="D8DEE4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A0A0A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86384" y="203911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15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203911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practices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54480" y="244144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 existing practices to ML’s experimental and data-dependent development.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7DDE1"/>
          </a:solidFill>
          <a:ln w="9525">
            <a:solidFill>
              <a:srgbClr val="D8DEE4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A0A0A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01384" y="203911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F16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269480" y="203911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quality attributes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269480" y="244144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patterns and tactics for explainability, fairness, privacy, data quality, and more.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2E7CD"/>
          </a:solidFill>
          <a:ln w="9525">
            <a:solidFill>
              <a:srgbClr val="D8DEE4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A0A0A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86384" y="405079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79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405079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Monitorability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554480" y="445312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continuous monitoring as a core architecture requirement.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79476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9525">
            <a:solidFill>
              <a:srgbClr val="D8DEE4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A0A0A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01384" y="405079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269480" y="405079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Co-architecting &amp; co-versioning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269480" y="445312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Evolve application, model pipeline, data, and versions together.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57150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F1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four slides add practical examples for each challenge.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5C656F"/>
                </a:solidFill>
              </a:rPr>
              <a:t>Source: paper Section III.</a:t>
            </a:r>
            <a:endParaRPr lang="en-US" sz="650" dirty="0"/>
          </a:p>
        </p:txBody>
      </p:sp>
      <p:pic>
        <p:nvPicPr>
          <p:cNvPr id="23" name="Image 0" descr="/mnt/data/them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6483096"/>
            <a:ext cx="1143000" cy="19202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828800" y="6492240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Maryam Hanif &amp; Hani Abushark  ·  Software Architecture Challenges for ML Systems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7187184" y="642823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C858D"/>
                </a:solidFill>
              </a:rPr>
              <a:t>Paper Review</a:t>
            </a:r>
            <a:endParaRPr lang="en-US" sz="640" dirty="0"/>
          </a:p>
        </p:txBody>
      </p:sp>
      <p:sp>
        <p:nvSpPr>
          <p:cNvPr id="26" name="Shape 23"/>
          <p:cNvSpPr/>
          <p:nvPr/>
        </p:nvSpPr>
        <p:spPr>
          <a:xfrm>
            <a:off x="726948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741121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755294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769467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783640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797814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8119872" y="6620256"/>
            <a:ext cx="91440" cy="54864"/>
          </a:xfrm>
          <a:prstGeom prst="rect">
            <a:avLst/>
          </a:prstGeom>
          <a:solidFill>
            <a:srgbClr val="E31B2F"/>
          </a:solidFill>
          <a:ln w="5715">
            <a:solidFill>
              <a:srgbClr val="E31B2F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826160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840333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854506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868680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882853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897026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70">
                <a:solidFill>
                  <a:srgbClr val="6E747A"/>
                </a:solidFill>
                <a:latin typeface="Aptos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B2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 1 · ARCHITECTURE PRACTICES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550" b="1">
                <a:solidFill>
                  <a:srgbClr val="22262A"/>
                </a:solidFill>
                <a:latin typeface="Georgia"/>
              </a:rPr>
              <a:t>Challenge 1: Architecture practices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075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20">
                <a:solidFill>
                  <a:srgbClr val="444A50"/>
                </a:solidFill>
                <a:latin typeface="Aptos"/>
              </a:rPr>
              <a:t>Existing architecture and agile practices need adjustment because ML work is data-dependent and experimental.</a:t>
            </a:r>
          </a:p>
        </p:txBody>
      </p:sp>
      <p:sp>
        <p:nvSpPr>
          <p:cNvPr id="13" name="Text 11"/>
          <p:cNvSpPr/>
          <p:nvPr/>
        </p:nvSpPr>
        <p:spPr>
          <a:xfrm>
            <a:off x="548640" y="505663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5C656F"/>
                </a:solidFill>
              </a:rPr>
              <a:t>Source: paper discussion of architecture practices and sprint boundaries.</a:t>
            </a:r>
            <a:endParaRPr lang="en-US" sz="650" dirty="0"/>
          </a:p>
        </p:txBody>
      </p:sp>
      <p:pic>
        <p:nvPicPr>
          <p:cNvPr id="14" name="Image 0" descr="/mnt/data/them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6483096"/>
            <a:ext cx="1143000" cy="1920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828800" y="6492240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Maryam Hanif &amp; Hani Abushark  ·  Software Architecture Challenges for ML Systems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7187184" y="642823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C858D"/>
                </a:solidFill>
              </a:rPr>
              <a:t>Paper Review</a:t>
            </a:r>
            <a:endParaRPr lang="en-US" sz="640" dirty="0"/>
          </a:p>
        </p:txBody>
      </p:sp>
      <p:sp>
        <p:nvSpPr>
          <p:cNvPr id="17" name="Shape 14"/>
          <p:cNvSpPr/>
          <p:nvPr/>
        </p:nvSpPr>
        <p:spPr>
          <a:xfrm>
            <a:off x="726948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741121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755294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769467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783640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97814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11987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8261604" y="6620256"/>
            <a:ext cx="91440" cy="54864"/>
          </a:xfrm>
          <a:prstGeom prst="rect">
            <a:avLst/>
          </a:prstGeom>
          <a:solidFill>
            <a:srgbClr val="E31B2F"/>
          </a:solidFill>
          <a:ln w="5715">
            <a:solidFill>
              <a:srgbClr val="E31B2F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840333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854506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868680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882853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897026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70">
                <a:solidFill>
                  <a:srgbClr val="6E747A"/>
                </a:solidFill>
                <a:latin typeface="Aptos"/>
              </a:rPr>
              <a:t>9 / 14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1755648"/>
            <a:ext cx="5074920" cy="3246120"/>
          </a:xfrm>
          <a:prstGeom prst="roundRect">
            <a:avLst/>
          </a:prstGeom>
          <a:solidFill>
            <a:srgbClr val="F6F7F9"/>
          </a:solidFill>
          <a:ln w="889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1901952"/>
            <a:ext cx="4617720" cy="32004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/>
            <a:r>
              <a:rPr sz="1800" b="1" i="0">
                <a:solidFill>
                  <a:srgbClr val="212429"/>
                </a:solidFill>
                <a:latin typeface="Georgia"/>
              </a:rPr>
              <a:t>What the challenge means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2331720"/>
            <a:ext cx="4617720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Traditional software behavior is mainly defined by code.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ML behavior also depends on training data, features, and evaluation choices.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Architecture must now include data quality, model accuracy, interpretability, and retraining.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ML experiments make sprint boundaries and “done” criteria harder to define.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755648"/>
            <a:ext cx="5166360" cy="3246120"/>
          </a:xfrm>
          <a:prstGeom prst="roundRect">
            <a:avLst/>
          </a:prstGeom>
          <a:solidFill>
            <a:srgbClr val="E5EFF8"/>
          </a:solidFill>
          <a:ln w="889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1901952"/>
            <a:ext cx="4709160" cy="32004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/>
            <a:r>
              <a:rPr sz="1800" b="1" i="0">
                <a:solidFill>
                  <a:srgbClr val="212429"/>
                </a:solidFill>
                <a:latin typeface="Georgia"/>
              </a:rPr>
              <a:t>Practical example: student-risk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2331720"/>
            <a:ext cx="4709160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1" i="0">
                <a:solidFill>
                  <a:srgbClr val="212429"/>
                </a:solidFill>
                <a:latin typeface="Aptos"/>
              </a:rPr>
              <a:t>Sprint goal: “predict students at risk of failing.”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Random Forest → 78%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XGBoost → 82%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New features → 86%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1" i="0">
                <a:solidFill>
                  <a:srgbClr val="2E5C7C"/>
                </a:solidFill>
                <a:latin typeface="Aptos"/>
              </a:rPr>
              <a:t>Question: is the work done, or should the team keep experimenting?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230368"/>
            <a:ext cx="10680192" cy="576072"/>
          </a:xfrm>
          <a:prstGeom prst="roundRect">
            <a:avLst/>
          </a:prstGeom>
          <a:solidFill>
            <a:srgbClr val="FAE0E2"/>
          </a:solidFill>
          <a:ln w="889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257800"/>
            <a:ext cx="1874519" cy="27432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/>
            <a:r>
              <a:rPr sz="1250" b="1" i="0">
                <a:solidFill>
                  <a:srgbClr val="CD242C"/>
                </a:solidFill>
              </a:rPr>
              <a:t>PAPER SUGGESTS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5157216"/>
            <a:ext cx="8046720" cy="566928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/>
            <a:r>
              <a:rPr sz="1450" b="0" i="0">
                <a:solidFill>
                  <a:srgbClr val="23272D"/>
                </a:solidFill>
              </a:rPr>
              <a:t>Adapt existing architecture and agile practices so they explicitly handle data quality, model uncertainty, experimentation, retraining, and changing “done” criteria.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B2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 2 · ML QUALITY ATTRIBUTES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550" b="1">
                <a:solidFill>
                  <a:srgbClr val="22262A"/>
                </a:solidFill>
                <a:latin typeface="Georgia"/>
              </a:rPr>
              <a:t>Challenge 2: ML quality attributes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075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20">
                <a:solidFill>
                  <a:srgbClr val="444A50"/>
                </a:solidFill>
                <a:latin typeface="Aptos"/>
              </a:rPr>
              <a:t>Accuracy is only one metric; trustworthy ML systems need additional quality attributes designed into the architecture.</a:t>
            </a:r>
          </a:p>
        </p:txBody>
      </p:sp>
      <p:sp>
        <p:nvSpPr>
          <p:cNvPr id="27" name="Text 25"/>
          <p:cNvSpPr/>
          <p:nvPr/>
        </p:nvSpPr>
        <p:spPr>
          <a:xfrm>
            <a:off x="548640" y="505663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5C656F"/>
                </a:solidFill>
              </a:rPr>
              <a:t>Source: paper discussion of ML-important quality attributes.</a:t>
            </a:r>
            <a:endParaRPr lang="en-US" sz="650" dirty="0"/>
          </a:p>
        </p:txBody>
      </p:sp>
      <p:pic>
        <p:nvPicPr>
          <p:cNvPr id="28" name="Image 0" descr="/mnt/data/them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6483096"/>
            <a:ext cx="1143000" cy="19202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828800" y="6492240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Maryam Hanif &amp; Hani Abushark  ·  Software Architecture Challenges for ML Systems</a:t>
            </a:r>
            <a:endParaRPr lang="en-US" sz="680" dirty="0"/>
          </a:p>
        </p:txBody>
      </p:sp>
      <p:sp>
        <p:nvSpPr>
          <p:cNvPr id="30" name="Text 27"/>
          <p:cNvSpPr/>
          <p:nvPr/>
        </p:nvSpPr>
        <p:spPr>
          <a:xfrm>
            <a:off x="7187184" y="642823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C858D"/>
                </a:solidFill>
              </a:rPr>
              <a:t>Paper Review</a:t>
            </a:r>
            <a:endParaRPr lang="en-US" sz="640" dirty="0"/>
          </a:p>
        </p:txBody>
      </p:sp>
      <p:sp>
        <p:nvSpPr>
          <p:cNvPr id="31" name="Shape 28"/>
          <p:cNvSpPr/>
          <p:nvPr/>
        </p:nvSpPr>
        <p:spPr>
          <a:xfrm>
            <a:off x="726948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741121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755294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769467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783640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797814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811987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826160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8403336" y="6620256"/>
            <a:ext cx="91440" cy="54864"/>
          </a:xfrm>
          <a:prstGeom prst="rect">
            <a:avLst/>
          </a:prstGeom>
          <a:solidFill>
            <a:srgbClr val="E31B2F"/>
          </a:solidFill>
          <a:ln w="5715">
            <a:solidFill>
              <a:srgbClr val="E31B2F"/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854506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868680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882853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897026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70">
                <a:solidFill>
                  <a:srgbClr val="6E747A"/>
                </a:solidFill>
                <a:latin typeface="Aptos"/>
              </a:rPr>
              <a:t>10 / 14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1755648"/>
            <a:ext cx="5074920" cy="3246120"/>
          </a:xfrm>
          <a:prstGeom prst="roundRect">
            <a:avLst/>
          </a:prstGeom>
          <a:solidFill>
            <a:srgbClr val="F6F7F9"/>
          </a:solidFill>
          <a:ln w="889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1901952"/>
            <a:ext cx="4617720" cy="32004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/>
            <a:r>
              <a:rPr sz="1800" b="1" i="0">
                <a:solidFill>
                  <a:srgbClr val="212429"/>
                </a:solidFill>
                <a:latin typeface="Georgia"/>
              </a:rPr>
              <a:t>What the challenge means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2331720"/>
            <a:ext cx="4617720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Architecture is driven by quality attributes, not only features.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In ML, accuracy alone is not enough to judge the system.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Important attributes include explainability, data quality, fairness, privacy, security, and monitorability.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The gap: we still need proven architectural patterns and tactics for these ML-specific qualities.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1755648"/>
            <a:ext cx="5166360" cy="3246120"/>
          </a:xfrm>
          <a:prstGeom prst="roundRect">
            <a:avLst/>
          </a:prstGeom>
          <a:solidFill>
            <a:srgbClr val="F8EFDB"/>
          </a:solidFill>
          <a:ln w="889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1901952"/>
            <a:ext cx="4709160" cy="32004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/>
            <a:r>
              <a:rPr sz="1800" b="1" i="0">
                <a:solidFill>
                  <a:srgbClr val="212429"/>
                </a:solidFill>
                <a:latin typeface="Georgia"/>
              </a:rPr>
              <a:t>Practical example: bank loan approval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2331720"/>
            <a:ext cx="470916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/>
            <a:r>
              <a:rPr sz="1270" b="0" i="0">
                <a:solidFill>
                  <a:srgbClr val="212429"/>
                </a:solidFill>
                <a:latin typeface="Aptos"/>
              </a:rPr>
              <a:t>The model reports high accuracy, but the system may still be unacceptable.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82512" y="2944368"/>
            <a:ext cx="4617720" cy="3291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6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10528" y="3008376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70" b="1" i="0">
                <a:solidFill>
                  <a:srgbClr val="212429"/>
                </a:solidFill>
                <a:latin typeface="Aptos"/>
              </a:rPr>
              <a:t>Accuracy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74152" y="3008376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70" b="1" i="0">
                <a:solidFill>
                  <a:srgbClr val="2E5C7C"/>
                </a:solidFill>
                <a:latin typeface="Aptos"/>
              </a:rPr>
              <a:t>94%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68512" y="3008376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30" b="0" i="0">
                <a:solidFill>
                  <a:srgbClr val="212429"/>
                </a:solidFill>
                <a:latin typeface="Aptos"/>
              </a:rPr>
              <a:t>Looks strong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82512" y="3374136"/>
            <a:ext cx="4617720" cy="329184"/>
          </a:xfrm>
          <a:prstGeom prst="roundRect">
            <a:avLst/>
          </a:prstGeom>
          <a:solidFill>
            <a:srgbClr val="FBF8F1"/>
          </a:solidFill>
          <a:ln w="8890">
            <a:solidFill>
              <a:srgbClr val="E6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10528" y="343814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70" b="1" i="0">
                <a:solidFill>
                  <a:srgbClr val="212429"/>
                </a:solidFill>
                <a:latin typeface="Aptos"/>
              </a:rPr>
              <a:t>Fairness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74152" y="343814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70" b="1" i="0">
                <a:solidFill>
                  <a:srgbClr val="E61226"/>
                </a:solidFill>
                <a:latin typeface="Aptos"/>
              </a:rPr>
              <a:t>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68512" y="3438144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30" b="0" i="0">
                <a:solidFill>
                  <a:srgbClr val="212429"/>
                </a:solidFill>
                <a:latin typeface="Aptos"/>
              </a:rPr>
              <a:t>May reject one group more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82512" y="3803904"/>
            <a:ext cx="4617720" cy="3291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6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10528" y="3867912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70" b="1" i="0">
                <a:solidFill>
                  <a:srgbClr val="212429"/>
                </a:solidFill>
                <a:latin typeface="Aptos"/>
              </a:rPr>
              <a:t>Explainability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74152" y="386791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70" b="1" i="0">
                <a:solidFill>
                  <a:srgbClr val="E61226"/>
                </a:solidFill>
                <a:latin typeface="Aptos"/>
              </a:rPr>
              <a:t>?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68512" y="386791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30" b="0" i="0">
                <a:solidFill>
                  <a:srgbClr val="212429"/>
                </a:solidFill>
                <a:latin typeface="Aptos"/>
              </a:rPr>
              <a:t>Customer needs a reason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82512" y="4233672"/>
            <a:ext cx="4617720" cy="329184"/>
          </a:xfrm>
          <a:prstGeom prst="roundRect">
            <a:avLst/>
          </a:prstGeom>
          <a:solidFill>
            <a:srgbClr val="FBF8F1"/>
          </a:solidFill>
          <a:ln w="8890">
            <a:solidFill>
              <a:srgbClr val="E6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10528" y="42976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70" b="1" i="0">
                <a:solidFill>
                  <a:srgbClr val="212429"/>
                </a:solidFill>
                <a:latin typeface="Aptos"/>
              </a:rPr>
              <a:t>Privacy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74152" y="429768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70" b="1" i="0">
                <a:solidFill>
                  <a:srgbClr val="E61226"/>
                </a:solidFill>
                <a:latin typeface="Aptos"/>
              </a:rPr>
              <a:t>?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68512" y="4297680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30" b="0" i="0">
                <a:solidFill>
                  <a:srgbClr val="212429"/>
                </a:solidFill>
                <a:latin typeface="Aptos"/>
              </a:rPr>
              <a:t>Sensitive financial data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8368" y="5230368"/>
            <a:ext cx="10680192" cy="576072"/>
          </a:xfrm>
          <a:prstGeom prst="roundRect">
            <a:avLst/>
          </a:prstGeom>
          <a:solidFill>
            <a:srgbClr val="FAE0E2"/>
          </a:solidFill>
          <a:ln w="889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5257800"/>
            <a:ext cx="1874519" cy="27432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/>
            <a:r>
              <a:rPr sz="1250" b="1" i="0">
                <a:solidFill>
                  <a:srgbClr val="CD242C"/>
                </a:solidFill>
              </a:rPr>
              <a:t>PAPER SUGGESTS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80360" y="5157216"/>
            <a:ext cx="8046720" cy="566928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/>
            <a:r>
              <a:rPr sz="1450" b="0" i="0">
                <a:solidFill>
                  <a:srgbClr val="23272D"/>
                </a:solidFill>
              </a:rPr>
              <a:t>Develop and validate architecture patterns/tactics for ML-specific qualities: explainability, data quality, fairness, privacy, monitorability, and fault tolerance.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B2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 3 · MONITORABILITY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550" b="1">
                <a:solidFill>
                  <a:srgbClr val="22262A"/>
                </a:solidFill>
                <a:latin typeface="Georgia"/>
              </a:rPr>
              <a:t>Challenge 3: Monitorability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075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20">
                <a:solidFill>
                  <a:srgbClr val="444A50"/>
                </a:solidFill>
                <a:latin typeface="Aptos"/>
              </a:rPr>
              <a:t>The system may be technically healthy while the ML model quietly becomes unreliable.</a:t>
            </a:r>
          </a:p>
        </p:txBody>
      </p:sp>
      <p:sp>
        <p:nvSpPr>
          <p:cNvPr id="30" name="Text 28"/>
          <p:cNvSpPr/>
          <p:nvPr/>
        </p:nvSpPr>
        <p:spPr>
          <a:xfrm>
            <a:off x="548640" y="505663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5C656F"/>
                </a:solidFill>
              </a:rPr>
              <a:t>Source: paper discussion of monitorability as a driving quality attribute.</a:t>
            </a:r>
            <a:endParaRPr lang="en-US" sz="650" dirty="0"/>
          </a:p>
        </p:txBody>
      </p:sp>
      <p:pic>
        <p:nvPicPr>
          <p:cNvPr id="31" name="Image 0" descr="/mnt/data/them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6483096"/>
            <a:ext cx="1143000" cy="19202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828800" y="6492240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Maryam Hanif &amp; Hani Abushark  ·  Software Architecture Challenges for ML Systems</a:t>
            </a:r>
            <a:endParaRPr lang="en-US" sz="680" dirty="0"/>
          </a:p>
        </p:txBody>
      </p:sp>
      <p:sp>
        <p:nvSpPr>
          <p:cNvPr id="33" name="Text 30"/>
          <p:cNvSpPr/>
          <p:nvPr/>
        </p:nvSpPr>
        <p:spPr>
          <a:xfrm>
            <a:off x="7187184" y="642823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C858D"/>
                </a:solidFill>
              </a:rPr>
              <a:t>Paper Review</a:t>
            </a:r>
            <a:endParaRPr lang="en-US" sz="640" dirty="0"/>
          </a:p>
        </p:txBody>
      </p:sp>
      <p:sp>
        <p:nvSpPr>
          <p:cNvPr id="34" name="Shape 31"/>
          <p:cNvSpPr/>
          <p:nvPr/>
        </p:nvSpPr>
        <p:spPr>
          <a:xfrm>
            <a:off x="726948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741121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755294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769467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783640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797814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811987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826160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840333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8545068" y="6620256"/>
            <a:ext cx="91440" cy="54864"/>
          </a:xfrm>
          <a:prstGeom prst="rect">
            <a:avLst/>
          </a:prstGeom>
          <a:solidFill>
            <a:srgbClr val="E31B2F"/>
          </a:solidFill>
          <a:ln w="5715">
            <a:solidFill>
              <a:srgbClr val="E31B2F"/>
            </a:solidFill>
            <a:prstDash val="solid"/>
          </a:ln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868680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882853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Shape 43"/>
          <p:cNvSpPr/>
          <p:nvPr/>
        </p:nvSpPr>
        <p:spPr>
          <a:xfrm>
            <a:off x="897026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70">
                <a:solidFill>
                  <a:srgbClr val="6E747A"/>
                </a:solidFill>
                <a:latin typeface="Aptos"/>
              </a:rPr>
              <a:t>11 / 14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1755648"/>
            <a:ext cx="5074920" cy="3246120"/>
          </a:xfrm>
          <a:prstGeom prst="roundRect">
            <a:avLst/>
          </a:prstGeom>
          <a:solidFill>
            <a:srgbClr val="F6F7F9"/>
          </a:solidFill>
          <a:ln w="889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1901952"/>
            <a:ext cx="4617720" cy="32004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/>
            <a:r>
              <a:rPr sz="1800" b="1" i="0">
                <a:solidFill>
                  <a:srgbClr val="212429"/>
                </a:solidFill>
                <a:latin typeface="Georgia"/>
              </a:rPr>
              <a:t>What must be monitored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2331720"/>
            <a:ext cx="4617720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Software quality: server, API, database, latency, errors.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Data quality: missing values, schema changes, new distributions.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Model quality: accuracy, drift, calibration, false positives/negatives.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Service quality: whether users still receive reliable decisions.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1755648"/>
            <a:ext cx="5166360" cy="3246120"/>
          </a:xfrm>
          <a:prstGeom prst="roundRect">
            <a:avLst/>
          </a:prstGeom>
          <a:solidFill>
            <a:srgbClr val="E5EFF8"/>
          </a:solidFill>
          <a:ln w="889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82512" y="1901952"/>
            <a:ext cx="4709160" cy="32004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/>
            <a:r>
              <a:rPr sz="1800" b="1" i="0">
                <a:solidFill>
                  <a:srgbClr val="212429"/>
                </a:solidFill>
                <a:latin typeface="Georgia"/>
              </a:rPr>
              <a:t>Practical example: fraud detection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2512" y="2331720"/>
            <a:ext cx="470916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/>
            <a:r>
              <a:rPr sz="1240" b="0" i="0">
                <a:solidFill>
                  <a:srgbClr val="212429"/>
                </a:solidFill>
                <a:latin typeface="Aptos"/>
              </a:rPr>
              <a:t>A new scam appears. The application still runs, but the model misses many fraud cases.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82512" y="2990088"/>
            <a:ext cx="2514600" cy="3291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3054096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80" b="0" i="0">
                <a:solidFill>
                  <a:srgbClr val="212429"/>
                </a:solidFill>
                <a:latin typeface="Aptos"/>
              </a:rPr>
              <a:t>Server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30540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80" b="1" i="0">
                <a:solidFill>
                  <a:srgbClr val="2E5C7C"/>
                </a:solidFill>
                <a:latin typeface="Aptos"/>
              </a:rPr>
              <a:t>OK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82512" y="3401568"/>
            <a:ext cx="2514600" cy="3291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37960" y="3465576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80" b="0" i="0">
                <a:solidFill>
                  <a:srgbClr val="212429"/>
                </a:solidFill>
                <a:latin typeface="Aptos"/>
              </a:rPr>
              <a:t>API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346557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80" b="1" i="0">
                <a:solidFill>
                  <a:srgbClr val="2E5C7C"/>
                </a:solidFill>
                <a:latin typeface="Aptos"/>
              </a:rPr>
              <a:t>OK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82512" y="3813048"/>
            <a:ext cx="2514600" cy="3291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37960" y="3877056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80" b="0" i="0">
                <a:solidFill>
                  <a:srgbClr val="212429"/>
                </a:solidFill>
                <a:latin typeface="Aptos"/>
              </a:rPr>
              <a:t>Database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387705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80" b="1" i="0">
                <a:solidFill>
                  <a:srgbClr val="2E5C7C"/>
                </a:solidFill>
                <a:latin typeface="Aptos"/>
              </a:rPr>
              <a:t>OK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82512" y="4224528"/>
            <a:ext cx="2514600" cy="3291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37960" y="4288536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80" b="0" i="0">
                <a:solidFill>
                  <a:srgbClr val="212429"/>
                </a:solidFill>
                <a:latin typeface="Aptos"/>
              </a:rPr>
              <a:t>Infrastructure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428853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80" b="1" i="0">
                <a:solidFill>
                  <a:srgbClr val="2E5C7C"/>
                </a:solidFill>
                <a:latin typeface="Aptos"/>
              </a:rPr>
              <a:t>OK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281160" y="2990088"/>
            <a:ext cx="1691640" cy="1417320"/>
          </a:xfrm>
          <a:prstGeom prst="roundRect">
            <a:avLst/>
          </a:prstGeom>
          <a:solidFill>
            <a:srgbClr val="FAE0E2"/>
          </a:solidFill>
          <a:ln w="8890">
            <a:solidFill>
              <a:srgbClr val="EB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00032" y="3145536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80" b="1" i="0">
                <a:solidFill>
                  <a:srgbClr val="212429"/>
                </a:solidFill>
                <a:latin typeface="Aptos"/>
              </a:rPr>
              <a:t>Model quality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00032" y="3575304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700" b="1" i="0">
                <a:solidFill>
                  <a:srgbClr val="E61226"/>
                </a:solidFill>
                <a:latin typeface="Georgia"/>
              </a:rPr>
              <a:t>92% → 74%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00032" y="404164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20" b="1" i="0">
                <a:solidFill>
                  <a:srgbClr val="E61226"/>
                </a:solidFill>
                <a:latin typeface="Aptos"/>
              </a:rPr>
              <a:t>drift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82512" y="4498848"/>
            <a:ext cx="4617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/>
            <a:r>
              <a:rPr sz="1190" b="1" i="0">
                <a:solidFill>
                  <a:srgbClr val="2E5C7C"/>
                </a:solidFill>
                <a:latin typeface="Aptos"/>
              </a:rPr>
              <a:t>The alert should come from model/data monitoring, not only server monitoring.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8368" y="5230368"/>
            <a:ext cx="10680192" cy="576072"/>
          </a:xfrm>
          <a:prstGeom prst="roundRect">
            <a:avLst/>
          </a:prstGeom>
          <a:solidFill>
            <a:srgbClr val="FAE0E2"/>
          </a:solidFill>
          <a:ln w="889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8680" y="5257800"/>
            <a:ext cx="1874519" cy="27432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/>
            <a:r>
              <a:rPr sz="1250" b="1" i="0">
                <a:solidFill>
                  <a:srgbClr val="CD242C"/>
                </a:solidFill>
              </a:rPr>
              <a:t>PAPER SUGGESTS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80360" y="5157216"/>
            <a:ext cx="8046720" cy="566928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/>
            <a:r>
              <a:rPr sz="1450" b="0" i="0">
                <a:solidFill>
                  <a:srgbClr val="23272D"/>
                </a:solidFill>
              </a:rPr>
              <a:t>Design monitoring components into the architecture from the start: monitor data quality, model quality, software quality, and service quality, then connect alerts to retraining/adaptation.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B2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 4 · CO-ARCHITECTING &amp; CO-VERSIONING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550" b="1">
                <a:solidFill>
                  <a:srgbClr val="22262A"/>
                </a:solidFill>
                <a:latin typeface="Georgia"/>
              </a:rPr>
              <a:t>Challenge 4: Co-architecting and co-versioning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075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20">
                <a:solidFill>
                  <a:srgbClr val="444A50"/>
                </a:solidFill>
                <a:latin typeface="Aptos"/>
              </a:rPr>
              <a:t>The application architecture and the model-development pipeline must be designed and versioned together.</a:t>
            </a:r>
          </a:p>
        </p:txBody>
      </p:sp>
      <p:sp>
        <p:nvSpPr>
          <p:cNvPr id="33" name="Text 31"/>
          <p:cNvSpPr/>
          <p:nvPr/>
        </p:nvSpPr>
        <p:spPr>
          <a:xfrm>
            <a:off x="548640" y="505663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5C656F"/>
                </a:solidFill>
              </a:rPr>
              <a:t>Source: paper discussion of co-architecting and co-versioning.</a:t>
            </a:r>
            <a:endParaRPr lang="en-US" sz="650" dirty="0"/>
          </a:p>
        </p:txBody>
      </p:sp>
      <p:pic>
        <p:nvPicPr>
          <p:cNvPr id="34" name="Image 0" descr="/mnt/data/them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6483096"/>
            <a:ext cx="1143000" cy="192024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828800" y="6492240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Maryam Hanif &amp; Hani Abushark  ·  Software Architecture Challenges for ML Systems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7187184" y="642823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C858D"/>
                </a:solidFill>
              </a:rPr>
              <a:t>Paper Review</a:t>
            </a:r>
            <a:endParaRPr lang="en-US" sz="640" dirty="0"/>
          </a:p>
        </p:txBody>
      </p:sp>
      <p:sp>
        <p:nvSpPr>
          <p:cNvPr id="37" name="Shape 34"/>
          <p:cNvSpPr/>
          <p:nvPr/>
        </p:nvSpPr>
        <p:spPr>
          <a:xfrm>
            <a:off x="726948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741121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755294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769467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783640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797814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811987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826160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840333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Shape 43"/>
          <p:cNvSpPr/>
          <p:nvPr/>
        </p:nvSpPr>
        <p:spPr>
          <a:xfrm>
            <a:off x="854506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Shape 44"/>
          <p:cNvSpPr/>
          <p:nvPr/>
        </p:nvSpPr>
        <p:spPr>
          <a:xfrm>
            <a:off x="8686800" y="6620256"/>
            <a:ext cx="91440" cy="54864"/>
          </a:xfrm>
          <a:prstGeom prst="rect">
            <a:avLst/>
          </a:prstGeom>
          <a:solidFill>
            <a:srgbClr val="E31B2F"/>
          </a:solidFill>
          <a:ln w="5715">
            <a:solidFill>
              <a:srgbClr val="E31B2F"/>
            </a:solidFill>
            <a:prstDash val="solid"/>
          </a:ln>
        </p:spPr>
        <p:txBody>
          <a:bodyPr/>
          <a:p/>
        </p:txBody>
      </p:sp>
      <p:sp>
        <p:nvSpPr>
          <p:cNvPr id="48" name="Shape 45"/>
          <p:cNvSpPr/>
          <p:nvPr/>
        </p:nvSpPr>
        <p:spPr>
          <a:xfrm>
            <a:off x="882853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897026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70">
                <a:solidFill>
                  <a:srgbClr val="6E747A"/>
                </a:solidFill>
                <a:latin typeface="Aptos"/>
              </a:rPr>
              <a:t>12 / 14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1755648"/>
            <a:ext cx="5074920" cy="3246120"/>
          </a:xfrm>
          <a:prstGeom prst="roundRect">
            <a:avLst/>
          </a:prstGeom>
          <a:solidFill>
            <a:srgbClr val="F6F7F9"/>
          </a:solidFill>
          <a:ln w="889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1901952"/>
            <a:ext cx="4617720" cy="32004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/>
            <a:r>
              <a:rPr sz="1800" b="1" i="0">
                <a:solidFill>
                  <a:srgbClr val="212429"/>
                </a:solidFill>
                <a:latin typeface="Georgia"/>
              </a:rPr>
              <a:t>Co-architecting: design together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2331720"/>
            <a:ext cx="4617720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Architecture A: the ML-enabled application used by people.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Architecture B: the pipeline that creates the model from data.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Both must evolve together: data, features, model, API, deployment, monitoring.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80" b="0" i="0">
                <a:solidFill>
                  <a:srgbClr val="212429"/>
                </a:solidFill>
                <a:latin typeface="Aptos"/>
              </a:rPr>
              <a:t>•  Example: if the app changes input format, the model pipeline may need new preprocessing and tests.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2200" y="1755648"/>
            <a:ext cx="5166360" cy="3246120"/>
          </a:xfrm>
          <a:prstGeom prst="roundRect">
            <a:avLst/>
          </a:prstGeom>
          <a:solidFill>
            <a:srgbClr val="F8EFDB"/>
          </a:solidFill>
          <a:ln w="889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82512" y="1901952"/>
            <a:ext cx="4709160" cy="32004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/>
            <a:r>
              <a:rPr sz="1800" b="1" i="0">
                <a:solidFill>
                  <a:srgbClr val="212429"/>
                </a:solidFill>
                <a:latin typeface="Georgia"/>
              </a:rPr>
              <a:t>Co-versioning: trace everything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82512" y="2331720"/>
            <a:ext cx="47091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/>
            <a:r>
              <a:rPr sz="1220" b="0" i="0">
                <a:solidFill>
                  <a:srgbClr val="212429"/>
                </a:solidFill>
                <a:latin typeface="Aptos"/>
              </a:rPr>
              <a:t>If Model v12 gives bad predictions, the team must reproduce exactly how it was created.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82512" y="2953512"/>
            <a:ext cx="141732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6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19088" y="3017520"/>
            <a:ext cx="1344168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60" b="1" i="0">
                <a:solidFill>
                  <a:srgbClr val="212429"/>
                </a:solidFill>
                <a:latin typeface="Aptos"/>
              </a:rPr>
              <a:t>Application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19088" y="3236976"/>
            <a:ext cx="1344168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 i="0">
                <a:solidFill>
                  <a:srgbClr val="2E5C7C"/>
                </a:solidFill>
                <a:latin typeface="Aptos"/>
              </a:rPr>
              <a:t>v9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64424" y="2953512"/>
            <a:ext cx="141732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6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01000" y="3017520"/>
            <a:ext cx="1344168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60" b="1" i="0">
                <a:solidFill>
                  <a:srgbClr val="212429"/>
                </a:solidFill>
                <a:latin typeface="Aptos"/>
              </a:rPr>
              <a:t>Training data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01000" y="3236976"/>
            <a:ext cx="1344168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 i="0">
                <a:solidFill>
                  <a:srgbClr val="2E5C7C"/>
                </a:solidFill>
                <a:latin typeface="Aptos"/>
              </a:rPr>
              <a:t>v7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546336" y="2953512"/>
            <a:ext cx="141732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6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82912" y="3017520"/>
            <a:ext cx="1344168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60" b="1" i="0">
                <a:solidFill>
                  <a:srgbClr val="212429"/>
                </a:solidFill>
                <a:latin typeface="Aptos"/>
              </a:rPr>
              <a:t>Features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82912" y="3236976"/>
            <a:ext cx="1344168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 i="0">
                <a:solidFill>
                  <a:srgbClr val="2E5C7C"/>
                </a:solidFill>
                <a:latin typeface="Aptos"/>
              </a:rPr>
              <a:t>v4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82512" y="3685032"/>
            <a:ext cx="141732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6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19088" y="3749040"/>
            <a:ext cx="1344168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60" b="1" i="0">
                <a:solidFill>
                  <a:srgbClr val="212429"/>
                </a:solidFill>
                <a:latin typeface="Aptos"/>
              </a:rPr>
              <a:t>Parameters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19088" y="3968496"/>
            <a:ext cx="1344168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 i="0">
                <a:solidFill>
                  <a:srgbClr val="2E5C7C"/>
                </a:solidFill>
                <a:latin typeface="Aptos"/>
              </a:rPr>
              <a:t>v3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964424" y="3685032"/>
            <a:ext cx="141732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6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01000" y="3749040"/>
            <a:ext cx="1344168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60" b="1" i="0">
                <a:solidFill>
                  <a:srgbClr val="212429"/>
                </a:solidFill>
                <a:latin typeface="Aptos"/>
              </a:rPr>
              <a:t>Evaluation data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01000" y="3968496"/>
            <a:ext cx="1344168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 i="0">
                <a:solidFill>
                  <a:srgbClr val="2E5C7C"/>
                </a:solidFill>
                <a:latin typeface="Aptos"/>
              </a:rPr>
              <a:t>v5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546336" y="3685032"/>
            <a:ext cx="141732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6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82912" y="3749040"/>
            <a:ext cx="1344168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60" b="1" i="0">
                <a:solidFill>
                  <a:srgbClr val="212429"/>
                </a:solidFill>
                <a:latin typeface="Aptos"/>
              </a:rPr>
              <a:t>Model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82912" y="3968496"/>
            <a:ext cx="1344168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 i="0">
                <a:solidFill>
                  <a:srgbClr val="2E5C7C"/>
                </a:solidFill>
                <a:latin typeface="Aptos"/>
              </a:rPr>
              <a:t>v12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82512" y="4517136"/>
            <a:ext cx="4617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2E5C7C"/>
                </a:solidFill>
                <a:latin typeface="Aptos"/>
              </a:rPr>
              <a:t>Traceability makes troubleshooting, auditing, and safe retraining possible.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58368" y="5230368"/>
            <a:ext cx="10680192" cy="576072"/>
          </a:xfrm>
          <a:prstGeom prst="roundRect">
            <a:avLst/>
          </a:prstGeom>
          <a:solidFill>
            <a:srgbClr val="FAE0E2"/>
          </a:solidFill>
          <a:ln w="889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8680" y="5257800"/>
            <a:ext cx="1874519" cy="27432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/>
            <a:r>
              <a:rPr sz="1250" b="1" i="0">
                <a:solidFill>
                  <a:srgbClr val="CD242C"/>
                </a:solidFill>
              </a:rPr>
              <a:t>PAPER SUGGESTS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80360" y="5157216"/>
            <a:ext cx="8046720" cy="566928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/>
            <a:r>
              <a:rPr sz="1450" b="0" i="0">
                <a:solidFill>
                  <a:srgbClr val="23272D"/>
                </a:solidFill>
              </a:rPr>
              <a:t>Co-architect the application and model-development pipeline, and co-version the application, data, features, parameters, evaluation results, and deployed model together.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sz="1350" b="1" i="0">
                <a:solidFill>
                  <a:srgbClr val="CD242C"/>
                </a:solidFill>
              </a:rPr>
              <a:t>EVIDENCE · CONTRIBUTION · SOLUTION STATUS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algn="l">
              <a:buNone/>
            </a:pPr>
            <a:r>
              <a:rPr sz="2700" b="1" i="0">
                <a:solidFill>
                  <a:srgbClr val="23272D"/>
                </a:solidFill>
              </a:rPr>
              <a:t>This is a challenge paper, not a complete solution paper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075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algn="l">
              <a:buNone/>
            </a:pPr>
            <a:r>
              <a:rPr sz="1450" b="0" i="0">
                <a:solidFill>
                  <a:srgbClr val="505860"/>
                </a:solidFill>
              </a:rPr>
              <a:t>It identifies problems and suggests research/practice directions, but does not validate a finished framework.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4983480" cy="3246120"/>
          </a:xfrm>
          <a:prstGeom prst="roundRect">
            <a:avLst>
              <a:gd name="adj" fmla="val 1690"/>
            </a:avLst>
          </a:prstGeom>
          <a:solidFill>
            <a:srgbClr val="F7DDE1"/>
          </a:solidFill>
          <a:ln w="9525">
            <a:solidFill>
              <a:srgbClr val="D8DEE4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A0A0A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9280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AF16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paper does NOT provide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2313432"/>
            <a:ext cx="4526280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dataset experiment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ML algorithm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accuracy/AUC comparison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statistical testing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controlled evaluation of one architecture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4983480" cy="3246120"/>
          </a:xfrm>
          <a:prstGeom prst="roundRect">
            <a:avLst>
              <a:gd name="adj" fmla="val 1690"/>
            </a:avLst>
          </a:prstGeom>
          <a:solidFill>
            <a:srgbClr val="DCE8F2"/>
          </a:solidFill>
          <a:ln w="9525">
            <a:solidFill>
              <a:srgbClr val="D8DEE4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A0A0A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0" y="189280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315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paper DOES provide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0" y="2313432"/>
            <a:ext cx="4526280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Qualitative evidence from targeted workshops, practitioner interviews, industry engagements, and an ICSA 2021 working session.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organizes the problems into four architecture challenge areas.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1371600" y="5440680"/>
            <a:ext cx="9445752" cy="566928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 w="8890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600200" y="5632704"/>
            <a:ext cx="9006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450" b="0" i="0">
                <a:solidFill>
                  <a:srgbClr val="23272D"/>
                </a:solidFill>
              </a:rPr>
              <a:t>Solution status: the paper proposes directions to be developed and empirically validated; it does not present a complete tested architecture solution.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5C656F"/>
                </a:solidFill>
              </a:rPr>
              <a:t>Source: paper abstract, introduction, and conclusion.</a:t>
            </a:r>
            <a:endParaRPr lang="en-US" sz="650" dirty="0"/>
          </a:p>
        </p:txBody>
      </p:sp>
      <p:pic>
        <p:nvPicPr>
          <p:cNvPr id="14" name="Image 0" descr="/mnt/data/them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6483096"/>
            <a:ext cx="1143000" cy="1920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828800" y="6492240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Maryam Hanif &amp; Hani Abushark  ·  Software Architecture Challenges for ML Systems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7187184" y="642823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C858D"/>
                </a:solidFill>
              </a:rPr>
              <a:t>Paper Review</a:t>
            </a:r>
            <a:endParaRPr lang="en-US" sz="640" dirty="0"/>
          </a:p>
        </p:txBody>
      </p:sp>
      <p:sp>
        <p:nvSpPr>
          <p:cNvPr id="17" name="Shape 14"/>
          <p:cNvSpPr/>
          <p:nvPr/>
        </p:nvSpPr>
        <p:spPr>
          <a:xfrm>
            <a:off x="726948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741121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755294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769467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783640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97814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11987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826160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840333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854506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868680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8828532" y="6620256"/>
            <a:ext cx="91440" cy="54864"/>
          </a:xfrm>
          <a:prstGeom prst="rect">
            <a:avLst/>
          </a:prstGeom>
          <a:solidFill>
            <a:srgbClr val="E31B2F"/>
          </a:solidFill>
          <a:ln w="5715">
            <a:solidFill>
              <a:srgbClr val="E31B2F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897026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70">
                <a:solidFill>
                  <a:srgbClr val="6E747A"/>
                </a:solidFill>
                <a:latin typeface="Aptos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hem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488"/>
            <a:ext cx="2743200" cy="4663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057400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22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500" dirty="0"/>
          </a:p>
        </p:txBody>
      </p:sp>
      <p:sp>
        <p:nvSpPr>
          <p:cNvPr id="4" name="Shape 1"/>
          <p:cNvSpPr/>
          <p:nvPr/>
        </p:nvSpPr>
        <p:spPr>
          <a:xfrm>
            <a:off x="5074920" y="2980944"/>
            <a:ext cx="2057400" cy="0"/>
          </a:xfrm>
          <a:prstGeom prst="line">
            <a:avLst/>
          </a:prstGeom>
          <a:noFill/>
          <a:ln w="26670">
            <a:solidFill>
              <a:srgbClr val="AF1625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C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3886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4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Maryam Hanif and Hani Abushark</a:t>
            </a:r>
            <a:endParaRPr lang="en-US" sz="1250" dirty="0"/>
          </a:p>
        </p:txBody>
      </p:sp>
      <p:pic>
        <p:nvPicPr>
          <p:cNvPr id="7" name="Image 1" descr="/mnt/data/theme_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6483096"/>
            <a:ext cx="1143000" cy="192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6492240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Maryam Hanif &amp; Hani Abushark  ·  Software Architecture Challenges for ML Systems</a:t>
            </a:r>
            <a:endParaRPr lang="en-US" sz="680" dirty="0"/>
          </a:p>
        </p:txBody>
      </p:sp>
      <p:sp>
        <p:nvSpPr>
          <p:cNvPr id="9" name="Text 5"/>
          <p:cNvSpPr/>
          <p:nvPr/>
        </p:nvSpPr>
        <p:spPr>
          <a:xfrm>
            <a:off x="7187184" y="642823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C858D"/>
                </a:solidFill>
              </a:rPr>
              <a:t>Paper Review</a:t>
            </a:r>
            <a:endParaRPr lang="en-US" sz="640" dirty="0"/>
          </a:p>
        </p:txBody>
      </p:sp>
      <p:sp>
        <p:nvSpPr>
          <p:cNvPr id="10" name="Shape 6"/>
          <p:cNvSpPr/>
          <p:nvPr/>
        </p:nvSpPr>
        <p:spPr>
          <a:xfrm>
            <a:off x="726948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741121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755294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69467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783640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97814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11987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8261604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8403336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8545068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8686800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8828532" y="6620256"/>
            <a:ext cx="91440" cy="54864"/>
          </a:xfrm>
          <a:prstGeom prst="rect">
            <a:avLst/>
          </a:prstGeom>
          <a:solidFill>
            <a:srgbClr val="FFFFFF"/>
          </a:solidFill>
          <a:ln w="5715">
            <a:solidFill>
              <a:srgbClr val="22262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8970264" y="6620256"/>
            <a:ext cx="91440" cy="54864"/>
          </a:xfrm>
          <a:prstGeom prst="rect">
            <a:avLst/>
          </a:prstGeom>
          <a:solidFill>
            <a:srgbClr val="E31B2F"/>
          </a:solidFill>
          <a:ln w="5715">
            <a:solidFill>
              <a:srgbClr val="E31B2F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70">
                <a:solidFill>
                  <a:srgbClr val="6E747A"/>
                </a:solidFill>
                <a:latin typeface="Aptos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Architecture Challenges for ML Systems</dc:title>
  <dc:subject>Paper review presentation in UAEU theme</dc:subject>
  <dc:creator>OpenAI</dc:creator>
  <cp:lastModifiedBy>OpenAI</cp:lastModifiedBy>
  <cp:revision>1</cp:revision>
  <dcterms:created xsi:type="dcterms:W3CDTF">2026-09-22T12:06:01Z</dcterms:created>
  <dcterms:modified xsi:type="dcterms:W3CDTF">2026-09-22T12:06:01Z</dcterms:modified>
</cp:coreProperties>
</file>